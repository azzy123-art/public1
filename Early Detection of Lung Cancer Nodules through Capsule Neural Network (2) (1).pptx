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64" r:id="rId2"/>
    <p:sldId id="265" r:id="rId3"/>
    <p:sldId id="266" r:id="rId4"/>
    <p:sldId id="258" r:id="rId5"/>
    <p:sldId id="268" r:id="rId6"/>
    <p:sldId id="257" r:id="rId7"/>
    <p:sldId id="261" r:id="rId8"/>
    <p:sldId id="270" r:id="rId9"/>
    <p:sldId id="271" r:id="rId10"/>
    <p:sldId id="272" r:id="rId11"/>
    <p:sldId id="273" r:id="rId12"/>
    <p:sldId id="260" r:id="rId13"/>
    <p:sldId id="269"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8D6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754" y="10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027B0B-E4EC-4817-B8AE-E1F5A0E43040}" type="datetimeFigureOut">
              <a:rPr lang="en-US" smtClean="0"/>
              <a:t>11/18/2025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E520FC-3B90-4124-8796-CB932A69E063}" type="slidenum">
              <a:rPr lang="en-US" smtClean="0"/>
              <a:t>‹#›</a:t>
            </a:fld>
            <a:endParaRPr lang="en-US" dirty="0"/>
          </a:p>
        </p:txBody>
      </p:sp>
    </p:spTree>
    <p:extLst>
      <p:ext uri="{BB962C8B-B14F-4D97-AF65-F5344CB8AC3E}">
        <p14:creationId xmlns:p14="http://schemas.microsoft.com/office/powerpoint/2010/main" val="25934161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43113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458033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908428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a:t>
            </a:r>
          </a:p>
          <a:p>
            <a:endParaRPr lang="en-US" dirty="0"/>
          </a:p>
        </p:txBody>
      </p:sp>
      <p:sp>
        <p:nvSpPr>
          <p:cNvPr id="4" name="Slide Number Placeholder 3"/>
          <p:cNvSpPr>
            <a:spLocks noGrp="1"/>
          </p:cNvSpPr>
          <p:nvPr>
            <p:ph type="sldNum" sz="quarter" idx="5"/>
          </p:nvPr>
        </p:nvSpPr>
        <p:spPr/>
        <p:txBody>
          <a:bodyPr/>
          <a:lstStyle/>
          <a:p>
            <a:fld id="{F6E520FC-3B90-4124-8796-CB932A69E063}" type="slidenum">
              <a:rPr lang="en-US" smtClean="0"/>
              <a:t>4</a:t>
            </a:fld>
            <a:endParaRPr lang="en-US" dirty="0"/>
          </a:p>
        </p:txBody>
      </p:sp>
    </p:spTree>
    <p:extLst>
      <p:ext uri="{BB962C8B-B14F-4D97-AF65-F5344CB8AC3E}">
        <p14:creationId xmlns:p14="http://schemas.microsoft.com/office/powerpoint/2010/main" val="489552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4846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25540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47F8-47A1-43AE-A916-799AED0D7A2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62E9550-45DA-4166-B8C4-C7BF1533429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71DDCFE-5733-432D-BE51-120638223BC9}"/>
              </a:ext>
            </a:extLst>
          </p:cNvPr>
          <p:cNvSpPr>
            <a:spLocks noGrp="1"/>
          </p:cNvSpPr>
          <p:nvPr>
            <p:ph type="dt" sz="half" idx="10"/>
          </p:nvPr>
        </p:nvSpPr>
        <p:spPr/>
        <p:txBody>
          <a:bodyPr/>
          <a:lstStyle/>
          <a:p>
            <a:fld id="{2021EB0C-0560-453E-ACFF-9C455F55CF40}" type="datetimeFigureOut">
              <a:rPr lang="en-US" smtClean="0"/>
              <a:t>11/18/2025</a:t>
            </a:fld>
            <a:endParaRPr lang="en-US" dirty="0"/>
          </a:p>
        </p:txBody>
      </p:sp>
      <p:sp>
        <p:nvSpPr>
          <p:cNvPr id="5" name="Footer Placeholder 4">
            <a:extLst>
              <a:ext uri="{FF2B5EF4-FFF2-40B4-BE49-F238E27FC236}">
                <a16:creationId xmlns:a16="http://schemas.microsoft.com/office/drawing/2014/main" id="{54E7A594-90B2-4AA6-88DC-620DE17E76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D79200C-3E7B-4AC9-A819-9E3A4AE4352D}"/>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7095895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1FB53-2F98-4D04-B473-5CE4B794CA5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E3793B2-3231-4E95-BE1F-3642D81ED1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EBFF75-3F06-4341-8697-A20D93F168C9}"/>
              </a:ext>
            </a:extLst>
          </p:cNvPr>
          <p:cNvSpPr>
            <a:spLocks noGrp="1"/>
          </p:cNvSpPr>
          <p:nvPr>
            <p:ph type="dt" sz="half" idx="10"/>
          </p:nvPr>
        </p:nvSpPr>
        <p:spPr/>
        <p:txBody>
          <a:bodyPr/>
          <a:lstStyle/>
          <a:p>
            <a:fld id="{2021EB0C-0560-453E-ACFF-9C455F55CF40}" type="datetimeFigureOut">
              <a:rPr lang="en-US" smtClean="0"/>
              <a:t>11/18/2025</a:t>
            </a:fld>
            <a:endParaRPr lang="en-US" dirty="0"/>
          </a:p>
        </p:txBody>
      </p:sp>
      <p:sp>
        <p:nvSpPr>
          <p:cNvPr id="5" name="Footer Placeholder 4">
            <a:extLst>
              <a:ext uri="{FF2B5EF4-FFF2-40B4-BE49-F238E27FC236}">
                <a16:creationId xmlns:a16="http://schemas.microsoft.com/office/drawing/2014/main" id="{14831169-A9FD-42DE-A182-1EB935AC08A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6005D29-539F-4FAD-BA08-304CF44E2371}"/>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084137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71666-46A9-407B-B0D0-9C2A01FAD15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C29DBC5-E69A-4FBE-9DF4-49C48F9CCC0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5FD6E5-36E4-44B1-B9C6-316B15BC3BB6}"/>
              </a:ext>
            </a:extLst>
          </p:cNvPr>
          <p:cNvSpPr>
            <a:spLocks noGrp="1"/>
          </p:cNvSpPr>
          <p:nvPr>
            <p:ph type="dt" sz="half" idx="10"/>
          </p:nvPr>
        </p:nvSpPr>
        <p:spPr/>
        <p:txBody>
          <a:bodyPr/>
          <a:lstStyle/>
          <a:p>
            <a:fld id="{2021EB0C-0560-453E-ACFF-9C455F55CF40}" type="datetimeFigureOut">
              <a:rPr lang="en-US" smtClean="0"/>
              <a:t>11/18/2025</a:t>
            </a:fld>
            <a:endParaRPr lang="en-US" dirty="0"/>
          </a:p>
        </p:txBody>
      </p:sp>
      <p:sp>
        <p:nvSpPr>
          <p:cNvPr id="5" name="Footer Placeholder 4">
            <a:extLst>
              <a:ext uri="{FF2B5EF4-FFF2-40B4-BE49-F238E27FC236}">
                <a16:creationId xmlns:a16="http://schemas.microsoft.com/office/drawing/2014/main" id="{CFFE9845-54E3-4F90-A792-E577A689756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E8C5761-4797-46A1-9B71-8B5C1A3220C4}"/>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335065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A0C3D-F198-4849-8A5F-9820406756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BFADC11-3E1D-429B-8B72-78D1C857CA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BB467AF-29DA-4E11-AEDB-38D7695E1F1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AEB01A2-C52E-4254-9974-6AE4D8131C30}"/>
              </a:ext>
            </a:extLst>
          </p:cNvPr>
          <p:cNvSpPr>
            <a:spLocks noGrp="1"/>
          </p:cNvSpPr>
          <p:nvPr>
            <p:ph type="dt" sz="half" idx="10"/>
          </p:nvPr>
        </p:nvSpPr>
        <p:spPr/>
        <p:txBody>
          <a:bodyPr/>
          <a:lstStyle/>
          <a:p>
            <a:fld id="{2021EB0C-0560-453E-ACFF-9C455F55CF40}" type="datetimeFigureOut">
              <a:rPr lang="en-US" smtClean="0"/>
              <a:t>11/18/2025</a:t>
            </a:fld>
            <a:endParaRPr lang="en-US" dirty="0"/>
          </a:p>
        </p:txBody>
      </p:sp>
      <p:sp>
        <p:nvSpPr>
          <p:cNvPr id="6" name="Footer Placeholder 5">
            <a:extLst>
              <a:ext uri="{FF2B5EF4-FFF2-40B4-BE49-F238E27FC236}">
                <a16:creationId xmlns:a16="http://schemas.microsoft.com/office/drawing/2014/main" id="{E27AE094-3D28-4933-A095-6BD1AE1FA828}"/>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80D6B5A1-AE76-40A3-8BF4-327E7FF09265}"/>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280475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DAD18-1551-4DAA-AE95-4E5BC9584E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B65E4E5-02F6-4FD7-9DD1-FC54FDDE7A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94F9154-37A3-40C1-AD74-2CFF3D307A6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957BAE-1764-4C05-918C-8286D920AC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1AE16A-648D-4FF8-B160-0D4B7A643AF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F42620-BB01-4D86-A364-1E5EA0E560F9}"/>
              </a:ext>
            </a:extLst>
          </p:cNvPr>
          <p:cNvSpPr>
            <a:spLocks noGrp="1"/>
          </p:cNvSpPr>
          <p:nvPr>
            <p:ph type="dt" sz="half" idx="10"/>
          </p:nvPr>
        </p:nvSpPr>
        <p:spPr/>
        <p:txBody>
          <a:bodyPr/>
          <a:lstStyle/>
          <a:p>
            <a:fld id="{2021EB0C-0560-453E-ACFF-9C455F55CF40}" type="datetimeFigureOut">
              <a:rPr lang="en-US" smtClean="0"/>
              <a:t>11/18/2025</a:t>
            </a:fld>
            <a:endParaRPr lang="en-US" dirty="0"/>
          </a:p>
        </p:txBody>
      </p:sp>
      <p:sp>
        <p:nvSpPr>
          <p:cNvPr id="8" name="Footer Placeholder 7">
            <a:extLst>
              <a:ext uri="{FF2B5EF4-FFF2-40B4-BE49-F238E27FC236}">
                <a16:creationId xmlns:a16="http://schemas.microsoft.com/office/drawing/2014/main" id="{357C10F5-C01F-412B-B6F9-77B0A890D25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563403B-AB18-4576-AD2C-8DDEDA018901}"/>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7709384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19DA0-7655-48E7-AE87-507AD6B0D4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B6B8F39-DC97-4401-A1DE-4F5FD105E5FD}"/>
              </a:ext>
            </a:extLst>
          </p:cNvPr>
          <p:cNvSpPr>
            <a:spLocks noGrp="1"/>
          </p:cNvSpPr>
          <p:nvPr>
            <p:ph type="dt" sz="half" idx="10"/>
          </p:nvPr>
        </p:nvSpPr>
        <p:spPr/>
        <p:txBody>
          <a:bodyPr/>
          <a:lstStyle/>
          <a:p>
            <a:fld id="{2021EB0C-0560-453E-ACFF-9C455F55CF40}" type="datetimeFigureOut">
              <a:rPr lang="en-US" smtClean="0"/>
              <a:t>11/18/2025</a:t>
            </a:fld>
            <a:endParaRPr lang="en-US" dirty="0"/>
          </a:p>
        </p:txBody>
      </p:sp>
      <p:sp>
        <p:nvSpPr>
          <p:cNvPr id="4" name="Footer Placeholder 3">
            <a:extLst>
              <a:ext uri="{FF2B5EF4-FFF2-40B4-BE49-F238E27FC236}">
                <a16:creationId xmlns:a16="http://schemas.microsoft.com/office/drawing/2014/main" id="{507E76C5-1FFB-4F6F-9DA8-57E6B7B0B8FE}"/>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26B347B-9307-4A85-B2EC-1E6A583A6412}"/>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244930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1454E6C-EAD1-470B-8EBF-8F5112C59C7C}"/>
              </a:ext>
            </a:extLst>
          </p:cNvPr>
          <p:cNvSpPr>
            <a:spLocks noGrp="1"/>
          </p:cNvSpPr>
          <p:nvPr>
            <p:ph type="dt" sz="half" idx="10"/>
          </p:nvPr>
        </p:nvSpPr>
        <p:spPr/>
        <p:txBody>
          <a:bodyPr/>
          <a:lstStyle/>
          <a:p>
            <a:fld id="{2021EB0C-0560-453E-ACFF-9C455F55CF40}" type="datetimeFigureOut">
              <a:rPr lang="en-US" smtClean="0"/>
              <a:t>11/18/2025</a:t>
            </a:fld>
            <a:endParaRPr lang="en-US" dirty="0"/>
          </a:p>
        </p:txBody>
      </p:sp>
      <p:sp>
        <p:nvSpPr>
          <p:cNvPr id="3" name="Footer Placeholder 2">
            <a:extLst>
              <a:ext uri="{FF2B5EF4-FFF2-40B4-BE49-F238E27FC236}">
                <a16:creationId xmlns:a16="http://schemas.microsoft.com/office/drawing/2014/main" id="{42FD6D14-590F-4EEF-955B-8B22E701A748}"/>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6E7D1CA8-D762-42FB-908B-3FCA85EE731F}"/>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8912326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27C062-EF5A-490F-8A8A-27498C6C0E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A011F4B-0BD4-4BF7-910C-A436D89192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4D3AA5B-3B98-42F2-BF7D-7F025FDED8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61DB644-595D-49EF-B104-6C4CF30863C8}"/>
              </a:ext>
            </a:extLst>
          </p:cNvPr>
          <p:cNvSpPr>
            <a:spLocks noGrp="1"/>
          </p:cNvSpPr>
          <p:nvPr>
            <p:ph type="dt" sz="half" idx="10"/>
          </p:nvPr>
        </p:nvSpPr>
        <p:spPr/>
        <p:txBody>
          <a:bodyPr/>
          <a:lstStyle/>
          <a:p>
            <a:fld id="{2021EB0C-0560-453E-ACFF-9C455F55CF40}" type="datetimeFigureOut">
              <a:rPr lang="en-US" smtClean="0"/>
              <a:t>11/18/2025</a:t>
            </a:fld>
            <a:endParaRPr lang="en-US" dirty="0"/>
          </a:p>
        </p:txBody>
      </p:sp>
      <p:sp>
        <p:nvSpPr>
          <p:cNvPr id="6" name="Footer Placeholder 5">
            <a:extLst>
              <a:ext uri="{FF2B5EF4-FFF2-40B4-BE49-F238E27FC236}">
                <a16:creationId xmlns:a16="http://schemas.microsoft.com/office/drawing/2014/main" id="{E0567536-2E4F-456F-93B5-263AF309B67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E3E668FE-A85A-4752-8177-4A18378B8AB4}"/>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732601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CCF7A-9E38-404C-8434-F138C883FC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14AE22-D8A8-45FF-90F6-77E017B7FF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C768EF8-CB3B-467C-A2D2-70BB959918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E3B65B-660A-448C-825F-754459A21E52}"/>
              </a:ext>
            </a:extLst>
          </p:cNvPr>
          <p:cNvSpPr>
            <a:spLocks noGrp="1"/>
          </p:cNvSpPr>
          <p:nvPr>
            <p:ph type="dt" sz="half" idx="10"/>
          </p:nvPr>
        </p:nvSpPr>
        <p:spPr/>
        <p:txBody>
          <a:bodyPr/>
          <a:lstStyle/>
          <a:p>
            <a:fld id="{2021EB0C-0560-453E-ACFF-9C455F55CF40}" type="datetimeFigureOut">
              <a:rPr lang="en-US" smtClean="0"/>
              <a:t>11/18/2025</a:t>
            </a:fld>
            <a:endParaRPr lang="en-US" dirty="0"/>
          </a:p>
        </p:txBody>
      </p:sp>
      <p:sp>
        <p:nvSpPr>
          <p:cNvPr id="6" name="Footer Placeholder 5">
            <a:extLst>
              <a:ext uri="{FF2B5EF4-FFF2-40B4-BE49-F238E27FC236}">
                <a16:creationId xmlns:a16="http://schemas.microsoft.com/office/drawing/2014/main" id="{92B96A0E-EEBB-45BF-B978-1832B5DF46A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08B318A-6F45-467B-B0E5-17050FC806AB}"/>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20872422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BE968-9FB2-4CE9-A9AD-06C0B0412D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5A0F5-2ACA-4151-9A1F-597FF31E838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594761-FD1C-4C6E-91E1-7AB0BBABF79A}"/>
              </a:ext>
            </a:extLst>
          </p:cNvPr>
          <p:cNvSpPr>
            <a:spLocks noGrp="1"/>
          </p:cNvSpPr>
          <p:nvPr>
            <p:ph type="dt" sz="half" idx="10"/>
          </p:nvPr>
        </p:nvSpPr>
        <p:spPr/>
        <p:txBody>
          <a:bodyPr/>
          <a:lstStyle/>
          <a:p>
            <a:fld id="{2021EB0C-0560-453E-ACFF-9C455F55CF40}" type="datetimeFigureOut">
              <a:rPr lang="en-US" smtClean="0"/>
              <a:t>11/18/2025</a:t>
            </a:fld>
            <a:endParaRPr lang="en-US" dirty="0"/>
          </a:p>
        </p:txBody>
      </p:sp>
      <p:sp>
        <p:nvSpPr>
          <p:cNvPr id="5" name="Footer Placeholder 4">
            <a:extLst>
              <a:ext uri="{FF2B5EF4-FFF2-40B4-BE49-F238E27FC236}">
                <a16:creationId xmlns:a16="http://schemas.microsoft.com/office/drawing/2014/main" id="{128431B6-6185-4B17-86B2-CAAED10005A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2CDDB71-31C6-4379-AE03-36E47D94A290}"/>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42727178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3800D7-9E06-4138-9024-59D22A96124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CBCC190-08B8-402B-BFCA-6A881480F4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3CE924-8957-417E-A994-4496DD28951D}"/>
              </a:ext>
            </a:extLst>
          </p:cNvPr>
          <p:cNvSpPr>
            <a:spLocks noGrp="1"/>
          </p:cNvSpPr>
          <p:nvPr>
            <p:ph type="dt" sz="half" idx="10"/>
          </p:nvPr>
        </p:nvSpPr>
        <p:spPr/>
        <p:txBody>
          <a:bodyPr/>
          <a:lstStyle/>
          <a:p>
            <a:fld id="{2021EB0C-0560-453E-ACFF-9C455F55CF40}" type="datetimeFigureOut">
              <a:rPr lang="en-US" smtClean="0"/>
              <a:t>11/18/2025</a:t>
            </a:fld>
            <a:endParaRPr lang="en-US" dirty="0"/>
          </a:p>
        </p:txBody>
      </p:sp>
      <p:sp>
        <p:nvSpPr>
          <p:cNvPr id="5" name="Footer Placeholder 4">
            <a:extLst>
              <a:ext uri="{FF2B5EF4-FFF2-40B4-BE49-F238E27FC236}">
                <a16:creationId xmlns:a16="http://schemas.microsoft.com/office/drawing/2014/main" id="{265F1D80-38D3-4E16-98CC-09347BD4042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00D78F2-3A06-49EF-9176-F4C234A20031}"/>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1964925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AF4F5B6-5D4D-42C3-A877-E18C8E4B93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07817C-06E4-4192-BDA1-9E7FA553469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0D6375-2C88-4CB9-8D1C-D271C5F2F5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21EB0C-0560-453E-ACFF-9C455F55CF40}" type="datetimeFigureOut">
              <a:rPr lang="en-US" smtClean="0"/>
              <a:t>11/18/2025</a:t>
            </a:fld>
            <a:endParaRPr lang="en-US" dirty="0"/>
          </a:p>
        </p:txBody>
      </p:sp>
      <p:sp>
        <p:nvSpPr>
          <p:cNvPr id="5" name="Footer Placeholder 4">
            <a:extLst>
              <a:ext uri="{FF2B5EF4-FFF2-40B4-BE49-F238E27FC236}">
                <a16:creationId xmlns:a16="http://schemas.microsoft.com/office/drawing/2014/main" id="{EFBDD0A1-E867-43BB-8F46-D0D8558635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7005230B-1ABF-4B97-9308-86EF7FB5337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487429-652D-4B59-B9B7-161A8A66FB8A}" type="slidenum">
              <a:rPr lang="en-US" smtClean="0"/>
              <a:t>‹#›</a:t>
            </a:fld>
            <a:endParaRPr lang="en-US" dirty="0"/>
          </a:p>
        </p:txBody>
      </p:sp>
    </p:spTree>
    <p:extLst>
      <p:ext uri="{BB962C8B-B14F-4D97-AF65-F5344CB8AC3E}">
        <p14:creationId xmlns:p14="http://schemas.microsoft.com/office/powerpoint/2010/main" val="5037983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7"/>
          <p:cNvSpPr txBox="1"/>
          <p:nvPr/>
        </p:nvSpPr>
        <p:spPr>
          <a:xfrm>
            <a:off x="1879540" y="3352092"/>
            <a:ext cx="8544297" cy="2051114"/>
          </a:xfrm>
          <a:prstGeom prst="rect">
            <a:avLst/>
          </a:prstGeom>
          <a:noFill/>
          <a:ln>
            <a:noFill/>
          </a:ln>
        </p:spPr>
        <p:txBody>
          <a:bodyPr spcFirstLastPara="1" wrap="square" lIns="90000" tIns="46800" rIns="90000" bIns="46800" anchor="ctr" anchorCtr="0">
            <a:noAutofit/>
          </a:bodyPr>
          <a:lstStyle/>
          <a:p>
            <a:pPr algn="ctr">
              <a:buClr>
                <a:schemeClr val="dk1"/>
              </a:buClr>
              <a:buSzPts val="3200"/>
            </a:pPr>
            <a:r>
              <a:rPr lang="en-US" sz="2800" dirty="0">
                <a:solidFill>
                  <a:schemeClr val="dk1"/>
                </a:solidFill>
                <a:latin typeface="Cambria"/>
                <a:ea typeface="Cambria"/>
                <a:cs typeface="Gill Sans"/>
                <a:sym typeface="Gill Sans"/>
              </a:rPr>
              <a:t>Presented By: </a:t>
            </a:r>
            <a:r>
              <a:rPr lang="en-US" sz="2800" dirty="0">
                <a:solidFill>
                  <a:schemeClr val="dk1"/>
                </a:solidFill>
                <a:latin typeface="Cambria"/>
                <a:ea typeface="Cambria"/>
              </a:rPr>
              <a:t>Aizaz Shabber Khan</a:t>
            </a:r>
          </a:p>
          <a:p>
            <a:pPr algn="ctr">
              <a:buClr>
                <a:schemeClr val="dk1"/>
              </a:buClr>
              <a:buSzPts val="3200"/>
            </a:pPr>
            <a:r>
              <a:rPr lang="en-US" sz="2800" dirty="0">
                <a:solidFill>
                  <a:schemeClr val="dk1"/>
                </a:solidFill>
                <a:latin typeface="Cambria"/>
                <a:ea typeface="Cambria"/>
              </a:rPr>
              <a:t>2024(S)-MS-DS-06</a:t>
            </a:r>
          </a:p>
          <a:p>
            <a:pPr algn="ctr"/>
            <a:r>
              <a:rPr lang="en-US" sz="2800" dirty="0">
                <a:solidFill>
                  <a:schemeClr val="dk1"/>
                </a:solidFill>
                <a:latin typeface="Cambria"/>
                <a:ea typeface="Cambria"/>
                <a:cs typeface="Gill Sans"/>
                <a:sym typeface="Gill Sans"/>
              </a:rPr>
              <a:t>Supervisor: </a:t>
            </a:r>
            <a:r>
              <a:rPr lang="en-US" sz="2800" dirty="0">
                <a:solidFill>
                  <a:schemeClr val="dk1"/>
                </a:solidFill>
                <a:latin typeface="Cambria"/>
                <a:ea typeface="Cambria"/>
                <a:sym typeface="Gill Sans"/>
              </a:rPr>
              <a:t>Dr. Ayesha Altaf</a:t>
            </a:r>
            <a:br>
              <a:rPr lang="en-US" sz="2800" dirty="0">
                <a:solidFill>
                  <a:schemeClr val="dk1"/>
                </a:solidFill>
                <a:latin typeface="Cambria"/>
                <a:ea typeface="Cambria"/>
                <a:sym typeface="Gill Sans"/>
              </a:rPr>
            </a:br>
            <a:r>
              <a:rPr lang="en-US" sz="2800" dirty="0">
                <a:solidFill>
                  <a:schemeClr val="dk1"/>
                </a:solidFill>
                <a:latin typeface="Cambria"/>
                <a:ea typeface="Cambria"/>
                <a:sym typeface="Gill Sans"/>
              </a:rPr>
              <a:t>Co-Supervisor</a:t>
            </a:r>
            <a:r>
              <a:rPr lang="en-US" sz="2800" dirty="0">
                <a:solidFill>
                  <a:schemeClr val="dk1"/>
                </a:solidFill>
                <a:latin typeface="Cambria"/>
                <a:ea typeface="Cambria"/>
                <a:cs typeface="Gill Sans"/>
                <a:sym typeface="Gill Sans"/>
              </a:rPr>
              <a:t>: Prof. Dr. Muhammad Shoaib</a:t>
            </a:r>
            <a:br>
              <a:rPr lang="en-US" sz="2800" dirty="0">
                <a:solidFill>
                  <a:schemeClr val="dk1"/>
                </a:solidFill>
                <a:latin typeface="Cambria"/>
                <a:ea typeface="Cambria"/>
                <a:cs typeface="Gill Sans"/>
                <a:sym typeface="Gill Sans"/>
              </a:rPr>
            </a:br>
            <a:r>
              <a:rPr lang="en-US" sz="2800" dirty="0">
                <a:solidFill>
                  <a:schemeClr val="dk1"/>
                </a:solidFill>
                <a:latin typeface="Cambria"/>
                <a:ea typeface="Cambria"/>
                <a:cs typeface="Gill Sans"/>
                <a:sym typeface="Gill Sans"/>
              </a:rPr>
              <a:t>Department of Computer Science</a:t>
            </a:r>
            <a:endParaRPr lang="en-US" sz="2800" dirty="0">
              <a:solidFill>
                <a:schemeClr val="dk1"/>
              </a:solidFill>
              <a:latin typeface="Cambria"/>
              <a:ea typeface="Cambria"/>
              <a:cs typeface="Calibri"/>
            </a:endParaRPr>
          </a:p>
        </p:txBody>
      </p:sp>
      <p:sp>
        <p:nvSpPr>
          <p:cNvPr id="2" name="TextBox 1"/>
          <p:cNvSpPr txBox="1"/>
          <p:nvPr/>
        </p:nvSpPr>
        <p:spPr>
          <a:xfrm>
            <a:off x="1524001" y="558642"/>
            <a:ext cx="9143999" cy="646331"/>
          </a:xfrm>
          <a:prstGeom prst="rect">
            <a:avLst/>
          </a:prstGeom>
          <a:noFill/>
        </p:spPr>
        <p:txBody>
          <a:bodyPr wrap="square" rtlCol="0">
            <a:spAutoFit/>
          </a:bodyPr>
          <a:lstStyle/>
          <a:p>
            <a:pPr algn="ctr"/>
            <a:r>
              <a:rPr lang="en-US" sz="3600" b="1" dirty="0">
                <a:solidFill>
                  <a:srgbClr val="002060"/>
                </a:solidFill>
                <a:latin typeface="Cambria" panose="02040503050406030204" pitchFamily="18" charset="0"/>
                <a:ea typeface="Cambria" panose="02040503050406030204" pitchFamily="18" charset="0"/>
                <a:cs typeface="Cambria"/>
                <a:sym typeface="Cambria"/>
              </a:rPr>
              <a:t>Department of Computer Science  </a:t>
            </a:r>
            <a:endParaRPr lang="en-US" sz="4000" dirty="0">
              <a:solidFill>
                <a:srgbClr val="002060"/>
              </a:solidFill>
            </a:endParaRPr>
          </a:p>
        </p:txBody>
      </p:sp>
      <p:pic>
        <p:nvPicPr>
          <p:cNvPr id="6" name="Google Shape;171;p28"/>
          <p:cNvPicPr preferRelativeResize="0"/>
          <p:nvPr/>
        </p:nvPicPr>
        <p:blipFill rotWithShape="1">
          <a:blip r:embed="rId3" cstate="email">
            <a:alphaModFix/>
            <a:extLst>
              <a:ext uri="{28A0092B-C50C-407E-A947-70E740481C1C}">
                <a14:useLocalDpi xmlns:a14="http://schemas.microsoft.com/office/drawing/2010/main"/>
              </a:ext>
            </a:extLst>
          </a:blip>
          <a:srcRect l="1" t="6761" r="6238" b="8561"/>
          <a:stretch/>
        </p:blipFill>
        <p:spPr>
          <a:xfrm>
            <a:off x="1330900" y="309715"/>
            <a:ext cx="1097280" cy="1097280"/>
          </a:xfrm>
          <a:prstGeom prst="rect">
            <a:avLst/>
          </a:prstGeom>
          <a:noFill/>
          <a:ln>
            <a:noFill/>
          </a:ln>
        </p:spPr>
      </p:pic>
      <p:pic>
        <p:nvPicPr>
          <p:cNvPr id="7" name="Picture 6" descr="cs final logo with color trnasparent.png"/>
          <p:cNvPicPr>
            <a:picLocks/>
          </p:cNvPicPr>
          <p:nvPr/>
        </p:nvPicPr>
        <p:blipFill>
          <a:blip r:embed="rId4"/>
          <a:stretch>
            <a:fillRect/>
          </a:stretch>
        </p:blipFill>
        <p:spPr>
          <a:xfrm>
            <a:off x="9745663" y="306646"/>
            <a:ext cx="1097280" cy="1097280"/>
          </a:xfrm>
          <a:prstGeom prst="rect">
            <a:avLst/>
          </a:prstGeom>
        </p:spPr>
      </p:pic>
      <p:sp>
        <p:nvSpPr>
          <p:cNvPr id="8" name="Google Shape;169;p28"/>
          <p:cNvSpPr txBox="1"/>
          <p:nvPr/>
        </p:nvSpPr>
        <p:spPr>
          <a:xfrm>
            <a:off x="1420678" y="5461565"/>
            <a:ext cx="9143999" cy="755844"/>
          </a:xfrm>
          <a:prstGeom prst="rect">
            <a:avLst/>
          </a:prstGeom>
          <a:noFill/>
          <a:ln>
            <a:noFill/>
          </a:ln>
        </p:spPr>
        <p:txBody>
          <a:bodyPr spcFirstLastPara="1" wrap="square" lIns="83114" tIns="41545" rIns="83114" bIns="41545" anchor="t" anchorCtr="0">
            <a:noAutofit/>
          </a:bodyPr>
          <a:lstStyle/>
          <a:p>
            <a:pPr marL="331935" indent="-255446" algn="ctr">
              <a:lnSpc>
                <a:spcPct val="80000"/>
              </a:lnSpc>
              <a:buClr>
                <a:srgbClr val="FFFFFF"/>
              </a:buClr>
              <a:buSzPts val="2080"/>
            </a:pPr>
            <a:endParaRPr sz="3200" b="1" dirty="0">
              <a:latin typeface="Cambria" panose="02040503050406030204" pitchFamily="18" charset="0"/>
              <a:ea typeface="Cambria" panose="02040503050406030204" pitchFamily="18" charset="0"/>
              <a:cs typeface="Gill Sans"/>
              <a:sym typeface="Gill Sans"/>
            </a:endParaRPr>
          </a:p>
          <a:p>
            <a:pPr marL="59172" indent="-18762" algn="ctr">
              <a:lnSpc>
                <a:spcPct val="80000"/>
              </a:lnSpc>
              <a:spcBef>
                <a:spcPts val="636"/>
              </a:spcBef>
              <a:buSzPts val="2240"/>
            </a:pPr>
            <a:r>
              <a:rPr lang="en-US" sz="3200" b="1" dirty="0">
                <a:latin typeface="Cambria" panose="02040503050406030204" pitchFamily="18" charset="0"/>
                <a:ea typeface="Cambria" panose="02040503050406030204" pitchFamily="18" charset="0"/>
                <a:cs typeface="Cambria"/>
                <a:sym typeface="Cambria"/>
              </a:rPr>
              <a:t>University of Engineering and Technology, Lahore</a:t>
            </a:r>
            <a:endParaRPr sz="3200" b="1" dirty="0">
              <a:latin typeface="Cambria" panose="02040503050406030204" pitchFamily="18" charset="0"/>
              <a:ea typeface="Cambria" panose="02040503050406030204" pitchFamily="18" charset="0"/>
            </a:endParaRPr>
          </a:p>
        </p:txBody>
      </p:sp>
      <p:sp>
        <p:nvSpPr>
          <p:cNvPr id="9" name="Slide Number Placeholder 8"/>
          <p:cNvSpPr>
            <a:spLocks noGrp="1"/>
          </p:cNvSpPr>
          <p:nvPr>
            <p:ph type="sldNum" idx="12"/>
          </p:nvPr>
        </p:nvSpPr>
        <p:spPr/>
        <p:txBody>
          <a:bodyPr/>
          <a:lstStyle/>
          <a:p>
            <a:fld id="{00000000-1234-1234-1234-123412341234}" type="slidenum">
              <a:rPr lang="en-US" smtClean="0"/>
              <a:pPr/>
              <a:t>1</a:t>
            </a:fld>
            <a:endParaRPr lang="en-US" dirty="0"/>
          </a:p>
        </p:txBody>
      </p:sp>
      <p:sp>
        <p:nvSpPr>
          <p:cNvPr id="10" name="TextBox 9">
            <a:extLst>
              <a:ext uri="{FF2B5EF4-FFF2-40B4-BE49-F238E27FC236}">
                <a16:creationId xmlns:a16="http://schemas.microsoft.com/office/drawing/2014/main" id="{CED174CA-70CB-400A-BCEC-4AAADF418BB7}"/>
              </a:ext>
            </a:extLst>
          </p:cNvPr>
          <p:cNvSpPr txBox="1"/>
          <p:nvPr/>
        </p:nvSpPr>
        <p:spPr>
          <a:xfrm>
            <a:off x="1544235" y="1487360"/>
            <a:ext cx="9021170" cy="1565493"/>
          </a:xfrm>
          <a:prstGeom prst="rect">
            <a:avLst/>
          </a:prstGeom>
          <a:noFill/>
        </p:spPr>
        <p:txBody>
          <a:bodyPr wrap="square" lIns="91440" tIns="45720" rIns="91440" bIns="45720" anchor="t">
            <a:spAutoFit/>
          </a:bodyPr>
          <a:lstStyle/>
          <a:p>
            <a:pPr algn="ctr">
              <a:lnSpc>
                <a:spcPts val="6160"/>
              </a:lnSpc>
            </a:pPr>
            <a:r>
              <a:rPr lang="en-US" sz="2800" b="1" dirty="0">
                <a:latin typeface="Roca Two Bold"/>
                <a:ea typeface="Roca Two Bold"/>
                <a:cs typeface="Roca Two Bold"/>
                <a:sym typeface="Roca Two Bold"/>
              </a:rPr>
              <a:t>EARLY DETECTION OF LUNG CANCER NODULES THROUGH CAPSULE NEURAL NETWORK</a:t>
            </a:r>
          </a:p>
        </p:txBody>
      </p:sp>
    </p:spTree>
    <p:extLst>
      <p:ext uri="{BB962C8B-B14F-4D97-AF65-F5344CB8AC3E}">
        <p14:creationId xmlns:p14="http://schemas.microsoft.com/office/powerpoint/2010/main" val="18956617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7"/>
          <p:cNvSpPr txBox="1"/>
          <p:nvPr/>
        </p:nvSpPr>
        <p:spPr>
          <a:xfrm>
            <a:off x="604433" y="962377"/>
            <a:ext cx="8544297" cy="5181599"/>
          </a:xfrm>
          <a:prstGeom prst="rect">
            <a:avLst/>
          </a:prstGeom>
          <a:noFill/>
          <a:ln>
            <a:noFill/>
          </a:ln>
        </p:spPr>
        <p:txBody>
          <a:bodyPr spcFirstLastPara="1" wrap="square" lIns="90000" tIns="46800" rIns="90000" bIns="46800" anchor="ctr" anchorCtr="0">
            <a:noAutofit/>
          </a:bodyPr>
          <a:lstStyle>
            <a:defPPr>
              <a:defRPr lang="en-US"/>
            </a:defPPr>
            <a:lvl1pPr marL="228600" marR="0" lvl="0" indent="-228600" fontAlgn="auto">
              <a:lnSpc>
                <a:spcPct val="90000"/>
              </a:lnSpc>
              <a:spcBef>
                <a:spcPts val="1000"/>
              </a:spcBef>
              <a:spcAft>
                <a:spcPts val="0"/>
              </a:spcAft>
              <a:buClrTx/>
              <a:buSzTx/>
              <a:buFont typeface="Arial" panose="020B0604020202020204" pitchFamily="34" charset="0"/>
              <a:buChar char="•"/>
              <a:tabLst/>
              <a:defRPr kumimoji="0" sz="2800" b="0" i="0" u="none" strike="noStrike" cap="none" spc="0" normalizeH="0" baseline="0">
                <a:ln>
                  <a:noFill/>
                </a:ln>
                <a:solidFill>
                  <a:prstClr val="black"/>
                </a:solidFill>
                <a:effectLst/>
                <a:uLnTx/>
                <a:uFillTx/>
                <a:latin typeface="Times New Roman" panose="02020603050405020304" pitchFamily="18" charset="0"/>
                <a:cs typeface="Times New Roman" panose="02020603050405020304" pitchFamily="18" charset="0"/>
              </a:defRPr>
            </a:lvl1pPr>
          </a:lstStyle>
          <a:p>
            <a:r>
              <a:rPr lang="en-US" dirty="0"/>
              <a:t>Introduction</a:t>
            </a:r>
          </a:p>
          <a:p>
            <a:r>
              <a:rPr lang="en-US" dirty="0"/>
              <a:t>Literature Review</a:t>
            </a:r>
          </a:p>
          <a:p>
            <a:r>
              <a:rPr lang="en-US" dirty="0"/>
              <a:t>Research Gap</a:t>
            </a:r>
          </a:p>
          <a:p>
            <a:r>
              <a:rPr lang="en-US" dirty="0"/>
              <a:t>Problem Statement</a:t>
            </a:r>
          </a:p>
          <a:p>
            <a:r>
              <a:rPr lang="en-US" dirty="0"/>
              <a:t>Methodology</a:t>
            </a:r>
          </a:p>
          <a:p>
            <a:r>
              <a:rPr lang="en-US" dirty="0"/>
              <a:t>Model Evaluation</a:t>
            </a:r>
          </a:p>
          <a:p>
            <a:r>
              <a:rPr lang="en-US" dirty="0">
                <a:latin typeface="Times New Roman" panose="02020603050405020304" charset="0"/>
                <a:cs typeface="Times New Roman" panose="02020603050405020304" charset="0"/>
                <a:sym typeface="+mn-ea"/>
              </a:rPr>
              <a:t>Research Objective</a:t>
            </a:r>
            <a:endParaRPr lang="en-US" dirty="0"/>
          </a:p>
          <a:p>
            <a:r>
              <a:rPr lang="en-US" dirty="0"/>
              <a:t>References</a:t>
            </a:r>
          </a:p>
        </p:txBody>
      </p:sp>
      <p:sp>
        <p:nvSpPr>
          <p:cNvPr id="2" name="TextBox 1"/>
          <p:cNvSpPr txBox="1"/>
          <p:nvPr/>
        </p:nvSpPr>
        <p:spPr>
          <a:xfrm>
            <a:off x="838201" y="639211"/>
            <a:ext cx="9143999" cy="646331"/>
          </a:xfrm>
          <a:prstGeom prst="rect">
            <a:avLst/>
          </a:prstGeom>
          <a:noFill/>
        </p:spPr>
        <p:txBody>
          <a:bodyPr wrap="square" rtlCol="0">
            <a:spAutoFit/>
          </a:bodyPr>
          <a:lstStyle/>
          <a:p>
            <a:r>
              <a:rPr lang="en-US" sz="3600" b="1" dirty="0">
                <a:solidFill>
                  <a:srgbClr val="002060"/>
                </a:solidFill>
                <a:latin typeface="Cambria" panose="02040503050406030204" pitchFamily="18" charset="0"/>
                <a:ea typeface="Cambria" panose="02040503050406030204" pitchFamily="18" charset="0"/>
                <a:cs typeface="Cambria"/>
                <a:sym typeface="Cambria"/>
              </a:rPr>
              <a:t>Agenda </a:t>
            </a:r>
            <a:endParaRPr lang="en-US" sz="4000" dirty="0">
              <a:solidFill>
                <a:srgbClr val="002060"/>
              </a:solidFill>
            </a:endParaRPr>
          </a:p>
        </p:txBody>
      </p:sp>
      <p:sp>
        <p:nvSpPr>
          <p:cNvPr id="9" name="Slide Number Placeholder 8"/>
          <p:cNvSpPr>
            <a:spLocks noGrp="1"/>
          </p:cNvSpPr>
          <p:nvPr>
            <p:ph type="sldNum" idx="12"/>
          </p:nvPr>
        </p:nvSpPr>
        <p:spPr/>
        <p:txBody>
          <a:bodyPr/>
          <a:lstStyle/>
          <a:p>
            <a:fld id="{00000000-1234-1234-1234-123412341234}" type="slidenum">
              <a:rPr lang="en-US" smtClean="0"/>
              <a:pPr/>
              <a:t>2</a:t>
            </a:fld>
            <a:endParaRPr lang="en-US" dirty="0"/>
          </a:p>
        </p:txBody>
      </p:sp>
    </p:spTree>
    <p:extLst>
      <p:ext uri="{BB962C8B-B14F-4D97-AF65-F5344CB8AC3E}">
        <p14:creationId xmlns:p14="http://schemas.microsoft.com/office/powerpoint/2010/main" val="17708236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2" name="TextBox 1"/>
          <p:cNvSpPr txBox="1"/>
          <p:nvPr/>
        </p:nvSpPr>
        <p:spPr>
          <a:xfrm>
            <a:off x="206485" y="136330"/>
            <a:ext cx="9143999" cy="646331"/>
          </a:xfrm>
          <a:prstGeom prst="rect">
            <a:avLst/>
          </a:prstGeom>
          <a:noFill/>
        </p:spPr>
        <p:txBody>
          <a:bodyPr wrap="square" rtlCol="0">
            <a:spAutoFit/>
          </a:bodyPr>
          <a:lstStyle/>
          <a:p>
            <a:r>
              <a:rPr lang="en-US" sz="3600" b="1" dirty="0">
                <a:solidFill>
                  <a:srgbClr val="002060"/>
                </a:solidFill>
                <a:latin typeface="Cambria" panose="02040503050406030204" pitchFamily="18" charset="0"/>
                <a:ea typeface="Cambria" panose="02040503050406030204" pitchFamily="18" charset="0"/>
                <a:cs typeface="Cambria"/>
                <a:sym typeface="Cambria"/>
              </a:rPr>
              <a:t>Introduction </a:t>
            </a:r>
            <a:endParaRPr lang="en-US" sz="4000" dirty="0">
              <a:solidFill>
                <a:srgbClr val="002060"/>
              </a:solidFill>
            </a:endParaRPr>
          </a:p>
        </p:txBody>
      </p:sp>
      <p:sp>
        <p:nvSpPr>
          <p:cNvPr id="9" name="Slide Number Placeholder 8"/>
          <p:cNvSpPr>
            <a:spLocks noGrp="1"/>
          </p:cNvSpPr>
          <p:nvPr>
            <p:ph type="sldNum" idx="12"/>
          </p:nvPr>
        </p:nvSpPr>
        <p:spPr/>
        <p:txBody>
          <a:bodyPr/>
          <a:lstStyle/>
          <a:p>
            <a:fld id="{00000000-1234-1234-1234-123412341234}" type="slidenum">
              <a:rPr lang="en-US" smtClean="0"/>
              <a:pPr/>
              <a:t>3</a:t>
            </a:fld>
            <a:endParaRPr lang="en-US" dirty="0"/>
          </a:p>
        </p:txBody>
      </p:sp>
      <p:sp>
        <p:nvSpPr>
          <p:cNvPr id="3" name="TextBox 2">
            <a:extLst>
              <a:ext uri="{FF2B5EF4-FFF2-40B4-BE49-F238E27FC236}">
                <a16:creationId xmlns:a16="http://schemas.microsoft.com/office/drawing/2014/main" id="{42FB3555-6CA8-CA83-65DD-012BD281C7C3}"/>
              </a:ext>
            </a:extLst>
          </p:cNvPr>
          <p:cNvSpPr txBox="1"/>
          <p:nvPr/>
        </p:nvSpPr>
        <p:spPr>
          <a:xfrm>
            <a:off x="420832" y="689263"/>
            <a:ext cx="11255085" cy="57116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Low"/>
            <a:r>
              <a:rPr lang="en-US" sz="2000" dirty="0">
                <a:latin typeface="Times New Roman" panose="02020603050405020304" pitchFamily="18" charset="0"/>
                <a:cs typeface="Times New Roman" panose="02020603050405020304" pitchFamily="18" charset="0"/>
              </a:rPr>
              <a:t>Lung cancer continues to be one of the most serious health challenges worldwide, contributing heavily to global cancer-related deaths. Although advances in medical imaging have made early detection possible through CT scans, achieving accurate and consistent diagnosis remains a persistent challenge. Computer-Assisted Diagnosis (CAD) systems have emerged as valuable tools for improving both the efficiency and precision of lung cancer detection by automating nodule identification, measuring size and location, and assisting in follow-up evaluations.</a:t>
            </a:r>
          </a:p>
          <a:p>
            <a:pPr algn="justLow"/>
            <a:r>
              <a:rPr lang="en-US" sz="2000" dirty="0">
                <a:latin typeface="Times New Roman" panose="02020603050405020304" pitchFamily="18" charset="0"/>
                <a:cs typeface="Times New Roman" panose="02020603050405020304" pitchFamily="18" charset="0"/>
              </a:rPr>
              <a:t>Despite these advancements, traditional deep learning approaches such as Convolutional Neural Networks (CNNs) have inherent weaknesses. The pooling layers in CNNs, while reducing computational load, often lead to a loss of critical spatial information that is essential in medical imaging. Capsule Neural Networks (CapsNets) were developed to address this issue by maintaining spatial hierarchies and improving object recognition irrespective of position or orientation. This characteristic makes CapsNets a strong candidate for enhancing lung nodule detection accuracy, reducing false positives, and achieving reliable results even with limited datasets.</a:t>
            </a:r>
          </a:p>
          <a:p>
            <a:pPr algn="justLow"/>
            <a:r>
              <a:rPr lang="en-US" sz="2000" dirty="0">
                <a:latin typeface="Times New Roman" panose="02020603050405020304" pitchFamily="18" charset="0"/>
                <a:cs typeface="Times New Roman" panose="02020603050405020304" pitchFamily="18" charset="0"/>
              </a:rPr>
              <a:t>However, research applying CapsNets to lung cancer detection remains limited. There is a clear need for comparative studies that evaluate their performance against CNN models, validate their spatial awareness advantages in medical imaging, and assess their feasibility for integration into real-world healthcare screening systems.</a:t>
            </a:r>
          </a:p>
          <a:p>
            <a:pPr algn="justLow">
              <a:lnSpc>
                <a:spcPts val="3359"/>
              </a:lnSpc>
            </a:pPr>
            <a:endParaRPr lang="en-US" sz="2000" dirty="0">
              <a:solidFill>
                <a:srgbClr val="031862"/>
              </a:solidFill>
              <a:latin typeface="Times New Roman" panose="02020603050405020304" pitchFamily="18" charset="0"/>
              <a:ea typeface="Gordita"/>
              <a:cs typeface="Times New Roman" panose="02020603050405020304" pitchFamily="18" charset="0"/>
              <a:sym typeface="Gordita"/>
            </a:endParaRPr>
          </a:p>
        </p:txBody>
      </p:sp>
    </p:spTree>
    <p:extLst>
      <p:ext uri="{BB962C8B-B14F-4D97-AF65-F5344CB8AC3E}">
        <p14:creationId xmlns:p14="http://schemas.microsoft.com/office/powerpoint/2010/main" val="17721347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28657-BC7D-4FE9-863C-176539E54D54}"/>
              </a:ext>
            </a:extLst>
          </p:cNvPr>
          <p:cNvSpPr>
            <a:spLocks noGrp="1"/>
          </p:cNvSpPr>
          <p:nvPr>
            <p:ph type="title"/>
          </p:nvPr>
        </p:nvSpPr>
        <p:spPr>
          <a:xfrm>
            <a:off x="132013" y="-148354"/>
            <a:ext cx="11218683" cy="1325563"/>
          </a:xfrm>
        </p:spPr>
        <p:txBody>
          <a:bodyPr/>
          <a:lstStyle/>
          <a:p>
            <a:r>
              <a:rPr lang="en-US" sz="3600" b="1" dirty="0">
                <a:solidFill>
                  <a:srgbClr val="002060"/>
                </a:solidFill>
                <a:latin typeface="Cambria" panose="02040503050406030204" pitchFamily="18" charset="0"/>
                <a:ea typeface="Cambria" panose="02040503050406030204" pitchFamily="18" charset="0"/>
                <a:cs typeface="Cambria"/>
              </a:rPr>
              <a:t>Literature</a:t>
            </a:r>
            <a:r>
              <a:rPr lang="en-US" dirty="0"/>
              <a:t> </a:t>
            </a:r>
            <a:r>
              <a:rPr lang="en-US" sz="3600" b="1" dirty="0">
                <a:solidFill>
                  <a:srgbClr val="002060"/>
                </a:solidFill>
                <a:latin typeface="Cambria" panose="02040503050406030204" pitchFamily="18" charset="0"/>
                <a:ea typeface="Cambria" panose="02040503050406030204" pitchFamily="18" charset="0"/>
                <a:cs typeface="Cambria"/>
              </a:rPr>
              <a:t>review</a:t>
            </a:r>
          </a:p>
        </p:txBody>
      </p:sp>
      <p:graphicFrame>
        <p:nvGraphicFramePr>
          <p:cNvPr id="3" name="Table 2">
            <a:extLst>
              <a:ext uri="{FF2B5EF4-FFF2-40B4-BE49-F238E27FC236}">
                <a16:creationId xmlns:a16="http://schemas.microsoft.com/office/drawing/2014/main" id="{1E9D7C87-15E7-CC48-233A-0811B5846FE7}"/>
              </a:ext>
            </a:extLst>
          </p:cNvPr>
          <p:cNvGraphicFramePr>
            <a:graphicFrameLocks noGrp="1"/>
          </p:cNvGraphicFramePr>
          <p:nvPr>
            <p:extLst>
              <p:ext uri="{D42A27DB-BD31-4B8C-83A1-F6EECF244321}">
                <p14:modId xmlns:p14="http://schemas.microsoft.com/office/powerpoint/2010/main" val="2831369312"/>
              </p:ext>
            </p:extLst>
          </p:nvPr>
        </p:nvGraphicFramePr>
        <p:xfrm>
          <a:off x="530578" y="1254125"/>
          <a:ext cx="10972800" cy="5157967"/>
        </p:xfrm>
        <a:graphic>
          <a:graphicData uri="http://schemas.openxmlformats.org/drawingml/2006/table">
            <a:tbl>
              <a:tblPr>
                <a:tableStyleId>{5C22544A-7EE6-4342-B048-85BDC9FD1C3A}</a:tableStyleId>
              </a:tblPr>
              <a:tblGrid>
                <a:gridCol w="680600">
                  <a:extLst>
                    <a:ext uri="{9D8B030D-6E8A-4147-A177-3AD203B41FA5}">
                      <a16:colId xmlns:a16="http://schemas.microsoft.com/office/drawing/2014/main" val="2598778696"/>
                    </a:ext>
                  </a:extLst>
                </a:gridCol>
                <a:gridCol w="1259112">
                  <a:extLst>
                    <a:ext uri="{9D8B030D-6E8A-4147-A177-3AD203B41FA5}">
                      <a16:colId xmlns:a16="http://schemas.microsoft.com/office/drawing/2014/main" val="2474146060"/>
                    </a:ext>
                  </a:extLst>
                </a:gridCol>
                <a:gridCol w="2586283">
                  <a:extLst>
                    <a:ext uri="{9D8B030D-6E8A-4147-A177-3AD203B41FA5}">
                      <a16:colId xmlns:a16="http://schemas.microsoft.com/office/drawing/2014/main" val="3897993131"/>
                    </a:ext>
                  </a:extLst>
                </a:gridCol>
                <a:gridCol w="1915727">
                  <a:extLst>
                    <a:ext uri="{9D8B030D-6E8A-4147-A177-3AD203B41FA5}">
                      <a16:colId xmlns:a16="http://schemas.microsoft.com/office/drawing/2014/main" val="433622196"/>
                    </a:ext>
                  </a:extLst>
                </a:gridCol>
                <a:gridCol w="2096039">
                  <a:extLst>
                    <a:ext uri="{9D8B030D-6E8A-4147-A177-3AD203B41FA5}">
                      <a16:colId xmlns:a16="http://schemas.microsoft.com/office/drawing/2014/main" val="2766659498"/>
                    </a:ext>
                  </a:extLst>
                </a:gridCol>
                <a:gridCol w="2435039">
                  <a:extLst>
                    <a:ext uri="{9D8B030D-6E8A-4147-A177-3AD203B41FA5}">
                      <a16:colId xmlns:a16="http://schemas.microsoft.com/office/drawing/2014/main" val="24794697"/>
                    </a:ext>
                  </a:extLst>
                </a:gridCol>
              </a:tblGrid>
              <a:tr h="410293">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Year</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Authors</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Model / Approach</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Dataset</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Key Findings</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Limitations / Gap</a:t>
                      </a:r>
                    </a:p>
                  </a:txBody>
                  <a:tcPr marL="8241" marR="8241" marT="8241" marB="0" anchor="ctr">
                    <a:solidFill>
                      <a:schemeClr val="accent1">
                        <a:lumMod val="75000"/>
                      </a:schemeClr>
                    </a:solidFill>
                  </a:tcPr>
                </a:tc>
                <a:extLst>
                  <a:ext uri="{0D108BD9-81ED-4DB2-BD59-A6C34878D82A}">
                    <a16:rowId xmlns:a16="http://schemas.microsoft.com/office/drawing/2014/main" val="2107825316"/>
                  </a:ext>
                </a:extLst>
              </a:tr>
              <a:tr h="791279">
                <a:tc>
                  <a:txBody>
                    <a:bodyPr/>
                    <a:lstStyle/>
                    <a:p>
                      <a:pPr algn="ctr" fontAlgn="ctr">
                        <a:buNone/>
                      </a:pPr>
                      <a:r>
                        <a:rPr lang="en-US" sz="1200" u="none" strike="noStrike" dirty="0">
                          <a:effectLst/>
                        </a:rPr>
                        <a:t>2025</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Xue et al</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Squeeze-and-Excitation Vision Transformer (SEViT)</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LIDC-IDRI</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Enhanced feature extraction with SE blocks integrated into ViT architecture for improved nodule classification</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High computational complexity; may struggle with very small nodules</a:t>
                      </a:r>
                      <a:endParaRPr lang="en-US" sz="1200" b="0" i="0" u="none" strike="noStrike" dirty="0">
                        <a:solidFill>
                          <a:srgbClr val="000000"/>
                        </a:solidFill>
                        <a:effectLst/>
                        <a:latin typeface="Times New Roman" panose="02020603050405020304" pitchFamily="18" charset="0"/>
                      </a:endParaRPr>
                    </a:p>
                  </a:txBody>
                  <a:tcPr marL="8241" marR="8241" marT="8241" marB="0" anchor="ctr"/>
                </a:tc>
                <a:extLst>
                  <a:ext uri="{0D108BD9-81ED-4DB2-BD59-A6C34878D82A}">
                    <a16:rowId xmlns:a16="http://schemas.microsoft.com/office/drawing/2014/main" val="2520088001"/>
                  </a:ext>
                </a:extLst>
              </a:tr>
              <a:tr h="791279">
                <a:tc>
                  <a:txBody>
                    <a:bodyPr/>
                    <a:lstStyle/>
                    <a:p>
                      <a:pPr algn="ctr" fontAlgn="ctr">
                        <a:buNone/>
                      </a:pPr>
                      <a:r>
                        <a:rPr lang="en-US" sz="1200" dirty="0"/>
                        <a:t>2024</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Hendrix et al</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Deep Learning AI System (non-screening setting)</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Dutch hospitals (internal + external validation)</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94.3% sensitivity for benign, 96.9% for primary lung cancer at 1 FP/scan</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Slightly higher false positives than radiologists; limited to non-screening CT scans</a:t>
                      </a:r>
                      <a:endParaRPr lang="en-US" sz="1200" b="0" i="0" u="none" strike="noStrike" dirty="0">
                        <a:solidFill>
                          <a:srgbClr val="000000"/>
                        </a:solidFill>
                        <a:effectLst/>
                        <a:latin typeface="Times New Roman" panose="02020603050405020304" pitchFamily="18" charset="0"/>
                      </a:endParaRPr>
                    </a:p>
                  </a:txBody>
                  <a:tcPr marL="8241" marR="8241" marT="8241" marB="0" anchor="ctr"/>
                </a:tc>
                <a:extLst>
                  <a:ext uri="{0D108BD9-81ED-4DB2-BD59-A6C34878D82A}">
                    <a16:rowId xmlns:a16="http://schemas.microsoft.com/office/drawing/2014/main" val="1195973410"/>
                  </a:ext>
                </a:extLst>
              </a:tr>
              <a:tr h="791279">
                <a:tc>
                  <a:txBody>
                    <a:bodyPr/>
                    <a:lstStyle/>
                    <a:p>
                      <a:pPr algn="ctr" fontAlgn="ctr">
                        <a:buNone/>
                      </a:pPr>
                      <a:r>
                        <a:rPr lang="en-US" sz="1200" dirty="0"/>
                        <a:t>2024</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Ma et al</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Sequential CNN (SCNN) with FPSO optimization</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Real-time hospital data + public datasets</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Reduced computational complexity and inference time; 91% accuracy</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dirty="0"/>
                        <a:t>Traditional models struggle with false positives and noise</a:t>
                      </a:r>
                      <a:endParaRPr lang="en-US" sz="1200" b="0" i="0" u="none" strike="noStrike" dirty="0">
                        <a:solidFill>
                          <a:srgbClr val="000000"/>
                        </a:solidFill>
                        <a:effectLst/>
                        <a:latin typeface="Times New Roman" panose="02020603050405020304" pitchFamily="18" charset="0"/>
                      </a:endParaRPr>
                    </a:p>
                  </a:txBody>
                  <a:tcPr marL="8241" marR="8241" marT="8241" marB="0" anchor="ctr"/>
                </a:tc>
                <a:extLst>
                  <a:ext uri="{0D108BD9-81ED-4DB2-BD59-A6C34878D82A}">
                    <a16:rowId xmlns:a16="http://schemas.microsoft.com/office/drawing/2014/main" val="3248747422"/>
                  </a:ext>
                </a:extLst>
              </a:tr>
              <a:tr h="791279">
                <a:tc>
                  <a:txBody>
                    <a:bodyPr/>
                    <a:lstStyle/>
                    <a:p>
                      <a:pPr algn="ctr" fontAlgn="ctr">
                        <a:buNone/>
                      </a:pPr>
                      <a:r>
                        <a:rPr lang="en-US" sz="1200" u="none" strike="noStrike" dirty="0">
                          <a:effectLst/>
                        </a:rPr>
                        <a:t>2016</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Shin et al</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Deep CNN</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Thoraco-abdominal CT</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85% sensitivity, strong feature learning</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Poor generalization, needs fine-tuning</a:t>
                      </a:r>
                      <a:endParaRPr lang="en-US" sz="1200" b="0" i="0" u="none" strike="noStrike" dirty="0">
                        <a:solidFill>
                          <a:srgbClr val="000000"/>
                        </a:solidFill>
                        <a:effectLst/>
                        <a:latin typeface="Times New Roman" panose="02020603050405020304" pitchFamily="18" charset="0"/>
                      </a:endParaRPr>
                    </a:p>
                  </a:txBody>
                  <a:tcPr marL="8241" marR="8241" marT="8241" marB="0" anchor="ctr"/>
                </a:tc>
                <a:extLst>
                  <a:ext uri="{0D108BD9-81ED-4DB2-BD59-A6C34878D82A}">
                    <a16:rowId xmlns:a16="http://schemas.microsoft.com/office/drawing/2014/main" val="2635676632"/>
                  </a:ext>
                </a:extLst>
              </a:tr>
              <a:tr h="791279">
                <a:tc>
                  <a:txBody>
                    <a:bodyPr/>
                    <a:lstStyle/>
                    <a:p>
                      <a:pPr algn="ctr" fontAlgn="ctr">
                        <a:buNone/>
                      </a:pPr>
                      <a:r>
                        <a:rPr lang="en-US" sz="1200" u="none" strike="noStrike" dirty="0">
                          <a:effectLst/>
                        </a:rPr>
                        <a:t>2015</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Kumar et al</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Autoencoder-based CNN</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LIDC Dataset</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75% accuracy; used deep features</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Overfitting due to limited data</a:t>
                      </a:r>
                      <a:endParaRPr lang="en-US" sz="1200" b="0" i="0" u="none" strike="noStrike" dirty="0">
                        <a:solidFill>
                          <a:srgbClr val="000000"/>
                        </a:solidFill>
                        <a:effectLst/>
                        <a:latin typeface="Times New Roman" panose="02020603050405020304" pitchFamily="18" charset="0"/>
                      </a:endParaRPr>
                    </a:p>
                  </a:txBody>
                  <a:tcPr marL="8241" marR="8241" marT="8241" marB="0" anchor="ctr"/>
                </a:tc>
                <a:extLst>
                  <a:ext uri="{0D108BD9-81ED-4DB2-BD59-A6C34878D82A}">
                    <a16:rowId xmlns:a16="http://schemas.microsoft.com/office/drawing/2014/main" val="1513327536"/>
                  </a:ext>
                </a:extLst>
              </a:tr>
              <a:tr h="791279">
                <a:tc>
                  <a:txBody>
                    <a:bodyPr/>
                    <a:lstStyle/>
                    <a:p>
                      <a:pPr algn="ctr" fontAlgn="ctr">
                        <a:buNone/>
                      </a:pPr>
                      <a:r>
                        <a:rPr lang="en-US" sz="1200" u="none" strike="noStrike" dirty="0">
                          <a:effectLst/>
                        </a:rPr>
                        <a:t>2014</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Stewart &amp; Wild</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Statistical Study</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Global Dataset</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Global cancer mortality trends</a:t>
                      </a:r>
                      <a:endParaRPr lang="en-US" sz="1200" b="0" i="0" u="none" strike="noStrike" dirty="0">
                        <a:solidFill>
                          <a:srgbClr val="000000"/>
                        </a:solidFill>
                        <a:effectLst/>
                        <a:latin typeface="Times New Roman" panose="02020603050405020304" pitchFamily="18" charset="0"/>
                      </a:endParaRPr>
                    </a:p>
                  </a:txBody>
                  <a:tcPr marL="8241" marR="8241" marT="8241" marB="0" anchor="ctr"/>
                </a:tc>
                <a:tc>
                  <a:txBody>
                    <a:bodyPr/>
                    <a:lstStyle/>
                    <a:p>
                      <a:pPr algn="ctr" fontAlgn="ctr">
                        <a:buNone/>
                      </a:pPr>
                      <a:r>
                        <a:rPr lang="en-US" sz="1200" u="none" strike="noStrike" dirty="0">
                          <a:effectLst/>
                        </a:rPr>
                        <a:t>No automation; manual analysis</a:t>
                      </a:r>
                      <a:endParaRPr lang="en-US" sz="1200" b="0" i="0" u="none" strike="noStrike" dirty="0">
                        <a:solidFill>
                          <a:srgbClr val="000000"/>
                        </a:solidFill>
                        <a:effectLst/>
                        <a:latin typeface="Times New Roman" panose="02020603050405020304" pitchFamily="18" charset="0"/>
                      </a:endParaRPr>
                    </a:p>
                  </a:txBody>
                  <a:tcPr marL="8241" marR="8241" marT="8241" marB="0" anchor="ctr"/>
                </a:tc>
                <a:extLst>
                  <a:ext uri="{0D108BD9-81ED-4DB2-BD59-A6C34878D82A}">
                    <a16:rowId xmlns:a16="http://schemas.microsoft.com/office/drawing/2014/main" val="1950943027"/>
                  </a:ext>
                </a:extLst>
              </a:tr>
            </a:tbl>
          </a:graphicData>
        </a:graphic>
      </p:graphicFrame>
    </p:spTree>
    <p:extLst>
      <p:ext uri="{BB962C8B-B14F-4D97-AF65-F5344CB8AC3E}">
        <p14:creationId xmlns:p14="http://schemas.microsoft.com/office/powerpoint/2010/main" val="35615410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2" name="TextBox 1"/>
          <p:cNvSpPr txBox="1"/>
          <p:nvPr/>
        </p:nvSpPr>
        <p:spPr>
          <a:xfrm>
            <a:off x="530578" y="393152"/>
            <a:ext cx="9143999" cy="646331"/>
          </a:xfrm>
          <a:prstGeom prst="rect">
            <a:avLst/>
          </a:prstGeom>
          <a:noFill/>
        </p:spPr>
        <p:txBody>
          <a:bodyPr wrap="square" rtlCol="0">
            <a:spAutoFit/>
          </a:bodyPr>
          <a:lstStyle/>
          <a:p>
            <a:r>
              <a:rPr lang="en-US" sz="3600" b="1" dirty="0">
                <a:solidFill>
                  <a:srgbClr val="002060"/>
                </a:solidFill>
                <a:latin typeface="Cambria" panose="02040503050406030204" pitchFamily="18" charset="0"/>
                <a:ea typeface="Cambria" panose="02040503050406030204" pitchFamily="18" charset="0"/>
              </a:rPr>
              <a:t>Research Gap</a:t>
            </a:r>
          </a:p>
        </p:txBody>
      </p:sp>
      <p:sp>
        <p:nvSpPr>
          <p:cNvPr id="9" name="Slide Number Placeholder 8"/>
          <p:cNvSpPr>
            <a:spLocks noGrp="1"/>
          </p:cNvSpPr>
          <p:nvPr>
            <p:ph type="sldNum" idx="12"/>
          </p:nvPr>
        </p:nvSpPr>
        <p:spPr/>
        <p:txBody>
          <a:bodyPr/>
          <a:lstStyle/>
          <a:p>
            <a:fld id="{00000000-1234-1234-1234-123412341234}" type="slidenum">
              <a:rPr lang="en-US" smtClean="0"/>
              <a:pPr/>
              <a:t>5</a:t>
            </a:fld>
            <a:endParaRPr lang="en-US" dirty="0"/>
          </a:p>
        </p:txBody>
      </p:sp>
      <p:sp>
        <p:nvSpPr>
          <p:cNvPr id="4" name="Rectangle 2">
            <a:extLst>
              <a:ext uri="{FF2B5EF4-FFF2-40B4-BE49-F238E27FC236}">
                <a16:creationId xmlns:a16="http://schemas.microsoft.com/office/drawing/2014/main" id="{ED514870-6126-C71B-96A0-8B70CCD56A10}"/>
              </a:ext>
            </a:extLst>
          </p:cNvPr>
          <p:cNvSpPr>
            <a:spLocks noChangeArrowheads="1"/>
          </p:cNvSpPr>
          <p:nvPr/>
        </p:nvSpPr>
        <p:spPr bwMode="auto">
          <a:xfrm rot="10800000" flipV="1">
            <a:off x="530578" y="1460599"/>
            <a:ext cx="11218406"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lvl="0" indent="-342900" algn="just" eaLnBrk="0" fontAlgn="base" hangingPunct="0">
              <a:spcBef>
                <a:spcPct val="0"/>
              </a:spcBef>
              <a:spcAft>
                <a:spcPct val="0"/>
              </a:spcAft>
              <a:buFont typeface="Arial" panose="020B0604020202020204" pitchFamily="34" charset="0"/>
              <a:buChar char="•"/>
            </a:pPr>
            <a:r>
              <a:rPr lang="en-US" sz="2400" dirty="0"/>
              <a:t>Existing CNN-based methods fail to preserve spatial relationships, leading to reduced diagnostic precision, as noted by </a:t>
            </a:r>
            <a:r>
              <a:rPr lang="en-US" sz="2400" b="1" dirty="0"/>
              <a:t>Scherer et al. (2010)</a:t>
            </a:r>
            <a:r>
              <a:rPr lang="en-US" sz="2400" dirty="0"/>
              <a:t> and </a:t>
            </a:r>
            <a:r>
              <a:rPr lang="en-US" sz="2400" b="1" dirty="0"/>
              <a:t>Shin et al. (2016)</a:t>
            </a:r>
            <a:r>
              <a:rPr lang="en-US" sz="2400" dirty="0"/>
              <a:t> [5][7].</a:t>
            </a: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lvl="0" indent="-342900" algn="just" eaLnBrk="0" fontAlgn="base" hangingPunct="0">
              <a:spcBef>
                <a:spcPct val="0"/>
              </a:spcBef>
              <a:spcAft>
                <a:spcPct val="0"/>
              </a:spcAft>
              <a:buFont typeface="Arial" panose="020B0604020202020204" pitchFamily="34" charset="0"/>
              <a:buChar char="•"/>
            </a:pPr>
            <a:r>
              <a:rPr lang="en-US" sz="2400" dirty="0"/>
              <a:t>Few studies, such as that by </a:t>
            </a:r>
            <a:r>
              <a:rPr lang="en-US" sz="2400" b="1" dirty="0"/>
              <a:t>Sabour et al. (2017)</a:t>
            </a:r>
            <a:r>
              <a:rPr lang="en-US" sz="2400" dirty="0"/>
              <a:t>, have explored the potential of Capsule Neural Networks (CapsNets) in lung nodule detection [4].</a:t>
            </a: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lvl="0" indent="-342900" algn="just" eaLnBrk="0" fontAlgn="base" hangingPunct="0">
              <a:spcBef>
                <a:spcPct val="0"/>
              </a:spcBef>
              <a:spcAft>
                <a:spcPct val="0"/>
              </a:spcAft>
              <a:buFont typeface="Arial" panose="020B0604020202020204" pitchFamily="34" charset="0"/>
              <a:buChar char="•"/>
            </a:pPr>
            <a:r>
              <a:rPr lang="en-US" sz="2400" dirty="0"/>
              <a:t>Comparative performance between CNN and CapsNet architectures remains largely untested in medical imaging, despite the foundational work by </a:t>
            </a:r>
            <a:r>
              <a:rPr lang="en-US" sz="2400" b="1" dirty="0"/>
              <a:t>Sabour et al. (2017)</a:t>
            </a:r>
            <a:r>
              <a:rPr lang="en-US" sz="2400" dirty="0"/>
              <a:t> and </a:t>
            </a:r>
            <a:r>
              <a:rPr lang="en-US" sz="2400" b="1" dirty="0"/>
              <a:t>Scherer et al. (2010)</a:t>
            </a:r>
            <a:r>
              <a:rPr lang="en-US" sz="2400" dirty="0"/>
              <a:t> [4][5].</a:t>
            </a:r>
          </a:p>
          <a:p>
            <a:pPr marL="342900" lvl="0" indent="-342900" algn="just" eaLnBrk="0" fontAlgn="base" hangingPunct="0">
              <a:spcBef>
                <a:spcPct val="0"/>
              </a:spcBef>
              <a:spcAft>
                <a:spcPct val="0"/>
              </a:spcAft>
              <a:buFont typeface="Arial" panose="020B0604020202020204" pitchFamily="34" charset="0"/>
              <a:buChar char="•"/>
            </a:pPr>
            <a:r>
              <a:rPr lang="en-US" sz="2400" dirty="0"/>
              <a:t>The real-world feasibility and computational efficiency of CapsNet-based models are still under-researched, as suggested by </a:t>
            </a:r>
            <a:r>
              <a:rPr lang="en-US" sz="2400" b="1" dirty="0"/>
              <a:t>Sabour et al. (2017)</a:t>
            </a:r>
            <a:r>
              <a:rPr lang="en-US" sz="2400" dirty="0"/>
              <a:t> [4].</a:t>
            </a:r>
          </a:p>
          <a:p>
            <a:pPr marL="342900" lvl="0" indent="-342900" algn="just" eaLnBrk="0" fontAlgn="base" hangingPunct="0">
              <a:spcBef>
                <a:spcPct val="0"/>
              </a:spcBef>
              <a:spcAft>
                <a:spcPct val="0"/>
              </a:spcAft>
              <a:buFont typeface="Arial" panose="020B0604020202020204" pitchFamily="34" charset="0"/>
              <a:buChar char="•"/>
            </a:pPr>
            <a:r>
              <a:rPr lang="en-US" sz="2400" dirty="0"/>
              <a:t>There is a lack of standardized evaluation frameworks combining accuracy, sensitivity, and false-positive reduction in CapsNet studies, as highlighted by </a:t>
            </a:r>
            <a:r>
              <a:rPr lang="en-US" sz="2400" b="1" dirty="0"/>
              <a:t>Sabour et al. (2017)</a:t>
            </a:r>
            <a:r>
              <a:rPr lang="en-US" sz="2400" dirty="0"/>
              <a:t> and </a:t>
            </a:r>
            <a:r>
              <a:rPr lang="en-US" sz="2400" b="1" dirty="0"/>
              <a:t>Setio et al. (2016)</a:t>
            </a:r>
            <a:r>
              <a:rPr lang="en-US" sz="2400" dirty="0"/>
              <a:t> [4][6].</a:t>
            </a:r>
          </a:p>
        </p:txBody>
      </p:sp>
    </p:spTree>
    <p:extLst>
      <p:ext uri="{BB962C8B-B14F-4D97-AF65-F5344CB8AC3E}">
        <p14:creationId xmlns:p14="http://schemas.microsoft.com/office/powerpoint/2010/main" val="38704806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1FD28-8C5B-42D2-ADB1-B86DECB7BC0C}"/>
              </a:ext>
            </a:extLst>
          </p:cNvPr>
          <p:cNvSpPr>
            <a:spLocks noGrp="1"/>
          </p:cNvSpPr>
          <p:nvPr>
            <p:ph type="title"/>
          </p:nvPr>
        </p:nvSpPr>
        <p:spPr>
          <a:xfrm>
            <a:off x="170035" y="131622"/>
            <a:ext cx="10515600" cy="1325563"/>
          </a:xfrm>
        </p:spPr>
        <p:txBody>
          <a:bodyPr>
            <a:normAutofit/>
          </a:bodyPr>
          <a:lstStyle/>
          <a:p>
            <a:r>
              <a:rPr lang="en-US" sz="3600" b="1" dirty="0">
                <a:solidFill>
                  <a:srgbClr val="002060"/>
                </a:solidFill>
                <a:latin typeface="Cambria" panose="02040503050406030204" pitchFamily="18" charset="0"/>
                <a:ea typeface="Cambria" panose="02040503050406030204" pitchFamily="18" charset="0"/>
                <a:cs typeface="+mn-cs"/>
              </a:rPr>
              <a:t>Problem Statement</a:t>
            </a:r>
          </a:p>
        </p:txBody>
      </p:sp>
      <p:sp>
        <p:nvSpPr>
          <p:cNvPr id="3" name="Content Placeholder 2">
            <a:extLst>
              <a:ext uri="{FF2B5EF4-FFF2-40B4-BE49-F238E27FC236}">
                <a16:creationId xmlns:a16="http://schemas.microsoft.com/office/drawing/2014/main" id="{7BA73B1F-AFEA-430E-BB57-D7216D6F03CE}"/>
              </a:ext>
            </a:extLst>
          </p:cNvPr>
          <p:cNvSpPr>
            <a:spLocks noGrp="1"/>
          </p:cNvSpPr>
          <p:nvPr>
            <p:ph idx="1"/>
          </p:nvPr>
        </p:nvSpPr>
        <p:spPr>
          <a:xfrm>
            <a:off x="0" y="1457185"/>
            <a:ext cx="11702432" cy="6101640"/>
          </a:xfrm>
        </p:spPr>
        <p:txBody>
          <a:bodyPr vert="horz" lIns="91440" tIns="45720" rIns="91440" bIns="45720" rtlCol="0" anchor="t">
            <a:noAutofit/>
          </a:bodyPr>
          <a:lstStyle/>
          <a:p>
            <a:pPr lvl="1" algn="just">
              <a:buNone/>
              <a:defRPr/>
            </a:pPr>
            <a:r>
              <a:rPr lang="en-US" dirty="0">
                <a:latin typeface="Times New Roman" panose="02020603050405020304" pitchFamily="18" charset="0"/>
                <a:cs typeface="Times New Roman" panose="02020603050405020304" pitchFamily="18" charset="0"/>
              </a:rPr>
              <a:t>Despite CT screening, CNNs lose important spatial information causing high false positives in lung nodule detection; this study tests whether CapsNets, with dynamic routing, reduce false positives and improve diagnostic precision.</a:t>
            </a:r>
            <a:endParaRPr lang="en-US" dirty="0">
              <a:solidFill>
                <a:srgbClr val="222222"/>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356230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40492-28ED-4D2B-AB01-2FF0B34B10EF}"/>
              </a:ext>
            </a:extLst>
          </p:cNvPr>
          <p:cNvSpPr>
            <a:spLocks noGrp="1"/>
          </p:cNvSpPr>
          <p:nvPr>
            <p:ph type="title"/>
          </p:nvPr>
        </p:nvSpPr>
        <p:spPr>
          <a:xfrm>
            <a:off x="136466" y="0"/>
            <a:ext cx="10515600" cy="1325563"/>
          </a:xfrm>
        </p:spPr>
        <p:txBody>
          <a:bodyPr/>
          <a:lstStyle/>
          <a:p>
            <a:r>
              <a:rPr lang="en-US" sz="3600" b="1" dirty="0">
                <a:solidFill>
                  <a:srgbClr val="002060"/>
                </a:solidFill>
                <a:latin typeface="Cambria"/>
                <a:ea typeface="Cambria"/>
                <a:cs typeface="+mn-cs"/>
              </a:rPr>
              <a:t>Methodology</a:t>
            </a:r>
            <a:br>
              <a:rPr lang="en-US" sz="2000" dirty="0"/>
            </a:br>
            <a:endParaRPr lang="en-US" sz="2000" b="1" dirty="0">
              <a:solidFill>
                <a:srgbClr val="002060"/>
              </a:solidFill>
              <a:latin typeface="Cambria" panose="02040503050406030204" pitchFamily="18" charset="0"/>
              <a:ea typeface="Cambria" panose="02040503050406030204" pitchFamily="18" charset="0"/>
              <a:cs typeface="+mn-cs"/>
            </a:endParaRPr>
          </a:p>
        </p:txBody>
      </p:sp>
      <p:pic>
        <p:nvPicPr>
          <p:cNvPr id="5" name="Picture 4">
            <a:extLst>
              <a:ext uri="{FF2B5EF4-FFF2-40B4-BE49-F238E27FC236}">
                <a16:creationId xmlns:a16="http://schemas.microsoft.com/office/drawing/2014/main" id="{8CCE6CC2-4131-1C73-A84A-92E1BEEDF6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55646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40492-28ED-4D2B-AB01-2FF0B34B10EF}"/>
              </a:ext>
            </a:extLst>
          </p:cNvPr>
          <p:cNvSpPr>
            <a:spLocks noGrp="1"/>
          </p:cNvSpPr>
          <p:nvPr>
            <p:ph type="title"/>
          </p:nvPr>
        </p:nvSpPr>
        <p:spPr>
          <a:xfrm>
            <a:off x="136466" y="0"/>
            <a:ext cx="10515600" cy="1325563"/>
          </a:xfrm>
        </p:spPr>
        <p:txBody>
          <a:bodyPr/>
          <a:lstStyle/>
          <a:p>
            <a:r>
              <a:rPr lang="en-US" sz="3600" b="1" dirty="0">
                <a:solidFill>
                  <a:srgbClr val="002060"/>
                </a:solidFill>
                <a:latin typeface="Cambria"/>
                <a:ea typeface="Cambria"/>
                <a:cs typeface="+mn-cs"/>
              </a:rPr>
              <a:t>Methodology</a:t>
            </a:r>
            <a:br>
              <a:rPr lang="en-US" sz="2000" dirty="0"/>
            </a:br>
            <a:endParaRPr lang="en-US" sz="2000" b="1" dirty="0">
              <a:solidFill>
                <a:srgbClr val="002060"/>
              </a:solidFill>
              <a:latin typeface="Cambria" panose="02040503050406030204" pitchFamily="18" charset="0"/>
              <a:ea typeface="Cambria" panose="02040503050406030204" pitchFamily="18" charset="0"/>
              <a:cs typeface="+mn-cs"/>
            </a:endParaRPr>
          </a:p>
        </p:txBody>
      </p:sp>
      <p:pic>
        <p:nvPicPr>
          <p:cNvPr id="5" name="Picture 4">
            <a:extLst>
              <a:ext uri="{FF2B5EF4-FFF2-40B4-BE49-F238E27FC236}">
                <a16:creationId xmlns:a16="http://schemas.microsoft.com/office/drawing/2014/main" id="{8CCE6CC2-4131-1C73-A84A-92E1BEEDF6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4963785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EC81-9542-3ED9-9709-4282EB15C5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45102-00E6-66CC-8BD6-9F064E625367}"/>
              </a:ext>
            </a:extLst>
          </p:cNvPr>
          <p:cNvSpPr>
            <a:spLocks noGrp="1"/>
          </p:cNvSpPr>
          <p:nvPr>
            <p:ph type="title"/>
          </p:nvPr>
        </p:nvSpPr>
        <p:spPr>
          <a:xfrm>
            <a:off x="136466" y="474133"/>
            <a:ext cx="10515600" cy="1325563"/>
          </a:xfrm>
        </p:spPr>
        <p:txBody>
          <a:bodyPr/>
          <a:lstStyle/>
          <a:p>
            <a:r>
              <a:rPr lang="en-US" sz="3600" b="1" dirty="0">
                <a:solidFill>
                  <a:srgbClr val="002060"/>
                </a:solidFill>
                <a:latin typeface="Cambria"/>
                <a:ea typeface="Cambria"/>
                <a:cs typeface="+mn-cs"/>
              </a:rPr>
              <a:t>Model Evaluation</a:t>
            </a:r>
            <a:br>
              <a:rPr lang="en-US" sz="2000" dirty="0">
                <a:latin typeface="Times New Roman" panose="02020603050405020304" charset="0"/>
                <a:cs typeface="Times New Roman" panose="02020603050405020304" charset="0"/>
                <a:sym typeface="+mn-ea"/>
              </a:rPr>
            </a:br>
            <a:br>
              <a:rPr lang="en-US" sz="2000" dirty="0"/>
            </a:br>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3" name="Title 1">
            <a:extLst>
              <a:ext uri="{FF2B5EF4-FFF2-40B4-BE49-F238E27FC236}">
                <a16:creationId xmlns:a16="http://schemas.microsoft.com/office/drawing/2014/main" id="{CB3033C1-BCB2-BC2C-1CA5-580D1CAE225A}"/>
              </a:ext>
            </a:extLst>
          </p:cNvPr>
          <p:cNvSpPr txBox="1">
            <a:spLocks/>
          </p:cNvSpPr>
          <p:nvPr/>
        </p:nvSpPr>
        <p:spPr>
          <a:xfrm>
            <a:off x="249355" y="371968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6" name="Rectangle 2">
            <a:extLst>
              <a:ext uri="{FF2B5EF4-FFF2-40B4-BE49-F238E27FC236}">
                <a16:creationId xmlns:a16="http://schemas.microsoft.com/office/drawing/2014/main" id="{2243AAA9-295E-CE15-635D-BC24F3FE666F}"/>
              </a:ext>
            </a:extLst>
          </p:cNvPr>
          <p:cNvSpPr>
            <a:spLocks noChangeArrowheads="1"/>
          </p:cNvSpPr>
          <p:nvPr/>
        </p:nvSpPr>
        <p:spPr bwMode="auto">
          <a:xfrm rot="10800000" flipV="1">
            <a:off x="388142" y="1275054"/>
            <a:ext cx="11216836" cy="54425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developed CapsNet models will be evaluated using the </a:t>
            </a:r>
            <a:r>
              <a:rPr kumimoji="0" lang="en-US" altLang="en-US" sz="1800" b="1" i="0" u="none" strike="noStrike" cap="none" normalizeH="0" baseline="0" dirty="0">
                <a:ln>
                  <a:noFill/>
                </a:ln>
                <a:solidFill>
                  <a:schemeClr val="tx1"/>
                </a:solidFill>
                <a:effectLst/>
                <a:latin typeface="Arial" panose="020B0604020202020204" pitchFamily="34" charset="0"/>
              </a:rPr>
              <a:t>LIDC-IDRI dataset</a:t>
            </a:r>
            <a:r>
              <a:rPr kumimoji="0" lang="en-US" altLang="en-US" sz="1800" b="0" i="0" u="none" strike="noStrike" cap="none" normalizeH="0" baseline="0" dirty="0">
                <a:ln>
                  <a:noFill/>
                </a:ln>
                <a:solidFill>
                  <a:schemeClr val="tx1"/>
                </a:solidFill>
                <a:effectLst/>
                <a:latin typeface="Arial" panose="020B0604020202020204" pitchFamily="34" charset="0"/>
              </a:rPr>
              <a:t> containing CT scan images annotated by expert radiologists.</a:t>
            </a:r>
          </a:p>
          <a:p>
            <a:pPr marL="285750" marR="0" lvl="0" indent="-28575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Performance will be measured through standard metrics:</a:t>
            </a:r>
          </a:p>
          <a:p>
            <a:pPr marL="742950" lvl="1" indent="-285750" algn="just" eaLnBrk="0" fontAlgn="base" hangingPunct="0">
              <a:lnSpc>
                <a:spcPct val="150000"/>
              </a:lnSpc>
              <a:spcBef>
                <a:spcPct val="0"/>
              </a:spcBef>
              <a:spcAft>
                <a:spcPct val="0"/>
              </a:spcAft>
              <a:buFont typeface="Arial" panose="020B0604020202020204" pitchFamily="34" charset="0"/>
              <a:buChar char="•"/>
            </a:pPr>
            <a:r>
              <a:rPr kumimoji="0" lang="en-US" altLang="en-US" b="1" i="0" u="none" strike="noStrike" cap="none" normalizeH="0" baseline="0" dirty="0">
                <a:ln>
                  <a:noFill/>
                </a:ln>
                <a:solidFill>
                  <a:schemeClr val="tx1"/>
                </a:solidFill>
                <a:effectLst/>
                <a:latin typeface="Arial" panose="020B0604020202020204" pitchFamily="34" charset="0"/>
              </a:rPr>
              <a:t> Accuracy</a:t>
            </a:r>
            <a:r>
              <a:rPr kumimoji="0" lang="en-US" altLang="en-US" b="0" i="0" u="none" strike="noStrike" cap="none" normalizeH="0" baseline="0" dirty="0">
                <a:ln>
                  <a:noFill/>
                </a:ln>
                <a:solidFill>
                  <a:schemeClr val="tx1"/>
                </a:solidFill>
                <a:effectLst/>
                <a:latin typeface="Arial" panose="020B0604020202020204" pitchFamily="34" charset="0"/>
              </a:rPr>
              <a:t> – Overall model correctness</a:t>
            </a:r>
          </a:p>
          <a:p>
            <a:pPr marL="742950" lvl="1" indent="-285750" algn="just" eaLnBrk="0" fontAlgn="base" hangingPunct="0">
              <a:lnSpc>
                <a:spcPct val="150000"/>
              </a:lnSpc>
              <a:spcBef>
                <a:spcPct val="0"/>
              </a:spcBef>
              <a:spcAft>
                <a:spcPct val="0"/>
              </a:spcAft>
              <a:buFont typeface="Arial" panose="020B0604020202020204" pitchFamily="34" charset="0"/>
              <a:buChar char="•"/>
            </a:pPr>
            <a:r>
              <a:rPr kumimoji="0" lang="en-US" altLang="en-US" b="1" i="0" u="none" strike="noStrike" cap="none" normalizeH="0" baseline="0" dirty="0">
                <a:ln>
                  <a:noFill/>
                </a:ln>
                <a:solidFill>
                  <a:schemeClr val="tx1"/>
                </a:solidFill>
                <a:effectLst/>
                <a:latin typeface="Arial" panose="020B0604020202020204" pitchFamily="34" charset="0"/>
              </a:rPr>
              <a:t> Sensitivity</a:t>
            </a:r>
            <a:r>
              <a:rPr kumimoji="0" lang="en-US" altLang="en-US" b="0" i="0" u="none" strike="noStrike" cap="none" normalizeH="0" baseline="0" dirty="0">
                <a:ln>
                  <a:noFill/>
                </a:ln>
                <a:solidFill>
                  <a:schemeClr val="tx1"/>
                </a:solidFill>
                <a:effectLst/>
                <a:latin typeface="Arial" panose="020B0604020202020204" pitchFamily="34" charset="0"/>
              </a:rPr>
              <a:t> – Ability to detect actual nodules</a:t>
            </a:r>
          </a:p>
          <a:p>
            <a:pPr marL="742950" lvl="1" indent="-285750" algn="just" eaLnBrk="0" fontAlgn="base" hangingPunct="0">
              <a:lnSpc>
                <a:spcPct val="150000"/>
              </a:lnSpc>
              <a:spcBef>
                <a:spcPct val="0"/>
              </a:spcBef>
              <a:spcAft>
                <a:spcPct val="0"/>
              </a:spcAft>
              <a:buFont typeface="Arial" panose="020B0604020202020204" pitchFamily="34" charset="0"/>
              <a:buChar char="•"/>
            </a:pPr>
            <a:r>
              <a:rPr kumimoji="0" lang="en-US" altLang="en-US" b="1" i="0" u="none" strike="noStrike" cap="none" normalizeH="0" baseline="0" dirty="0">
                <a:ln>
                  <a:noFill/>
                </a:ln>
                <a:solidFill>
                  <a:schemeClr val="tx1"/>
                </a:solidFill>
                <a:effectLst/>
                <a:latin typeface="Arial" panose="020B0604020202020204" pitchFamily="34" charset="0"/>
              </a:rPr>
              <a:t>Specificity</a:t>
            </a:r>
            <a:r>
              <a:rPr kumimoji="0" lang="en-US" altLang="en-US" b="0" i="0" u="none" strike="noStrike" cap="none" normalizeH="0" baseline="0" dirty="0">
                <a:ln>
                  <a:noFill/>
                </a:ln>
                <a:solidFill>
                  <a:schemeClr val="tx1"/>
                </a:solidFill>
                <a:effectLst/>
                <a:latin typeface="Arial" panose="020B0604020202020204" pitchFamily="34" charset="0"/>
              </a:rPr>
              <a:t> – Ability to identify non-nodule regions</a:t>
            </a:r>
          </a:p>
          <a:p>
            <a:pPr marL="742950" lvl="1" indent="-285750" algn="just" eaLnBrk="0" fontAlgn="base" hangingPunct="0">
              <a:lnSpc>
                <a:spcPct val="150000"/>
              </a:lnSpc>
              <a:spcBef>
                <a:spcPct val="0"/>
              </a:spcBef>
              <a:spcAft>
                <a:spcPct val="0"/>
              </a:spcAft>
              <a:buFont typeface="Arial" panose="020B0604020202020204" pitchFamily="34" charset="0"/>
              <a:buChar char="•"/>
            </a:pPr>
            <a:r>
              <a:rPr kumimoji="0" lang="en-US" altLang="en-US" b="1" i="0" u="none" strike="noStrike" cap="none" normalizeH="0" baseline="0" dirty="0">
                <a:ln>
                  <a:noFill/>
                </a:ln>
                <a:solidFill>
                  <a:schemeClr val="tx1"/>
                </a:solidFill>
                <a:effectLst/>
                <a:latin typeface="Arial" panose="020B0604020202020204" pitchFamily="34" charset="0"/>
              </a:rPr>
              <a:t>False Positive Rate (FPR)</a:t>
            </a:r>
            <a:r>
              <a:rPr kumimoji="0" lang="en-US" altLang="en-US" b="0" i="0" u="none" strike="noStrike" cap="none" normalizeH="0" baseline="0" dirty="0">
                <a:ln>
                  <a:noFill/>
                </a:ln>
                <a:solidFill>
                  <a:schemeClr val="tx1"/>
                </a:solidFill>
                <a:effectLst/>
                <a:latin typeface="Arial" panose="020B0604020202020204" pitchFamily="34" charset="0"/>
              </a:rPr>
              <a:t> – Measure of incorrect detections</a:t>
            </a:r>
          </a:p>
          <a:p>
            <a:pPr marL="285750" marR="0" lvl="0" indent="-28575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Comparative analysis will be conducted between </a:t>
            </a:r>
            <a:r>
              <a:rPr kumimoji="0" lang="en-US" altLang="en-US" sz="1800" b="1" i="0" u="none" strike="noStrike" cap="none" normalizeH="0" baseline="0" dirty="0">
                <a:ln>
                  <a:noFill/>
                </a:ln>
                <a:solidFill>
                  <a:schemeClr val="tx1"/>
                </a:solidFill>
                <a:effectLst/>
                <a:latin typeface="Arial" panose="020B0604020202020204" pitchFamily="34" charset="0"/>
              </a:rPr>
              <a:t>CNN</a:t>
            </a:r>
            <a:r>
              <a:rPr kumimoji="0" lang="en-US" altLang="en-US" sz="1800" b="0" i="0" u="none" strike="noStrike" cap="none" normalizeH="0" baseline="0" dirty="0">
                <a:ln>
                  <a:noFill/>
                </a:ln>
                <a:solidFill>
                  <a:schemeClr val="tx1"/>
                </a:solidFill>
                <a:effectLst/>
                <a:latin typeface="Arial" panose="020B0604020202020204" pitchFamily="34" charset="0"/>
              </a:rPr>
              <a:t> and </a:t>
            </a:r>
            <a:r>
              <a:rPr kumimoji="0" lang="en-US" altLang="en-US" sz="1800" b="1" i="0" u="none" strike="noStrike" cap="none" normalizeH="0" baseline="0" dirty="0">
                <a:ln>
                  <a:noFill/>
                </a:ln>
                <a:solidFill>
                  <a:schemeClr val="tx1"/>
                </a:solidFill>
                <a:effectLst/>
                <a:latin typeface="Arial" panose="020B0604020202020204" pitchFamily="34" charset="0"/>
              </a:rPr>
              <a:t>CapsNet</a:t>
            </a:r>
            <a:r>
              <a:rPr kumimoji="0" lang="en-US" altLang="en-US" sz="1800" b="0" i="0" u="none" strike="noStrike" cap="none" normalizeH="0" baseline="0" dirty="0">
                <a:ln>
                  <a:noFill/>
                </a:ln>
                <a:solidFill>
                  <a:schemeClr val="tx1"/>
                </a:solidFill>
                <a:effectLst/>
                <a:latin typeface="Arial" panose="020B0604020202020204" pitchFamily="34" charset="0"/>
              </a:rPr>
              <a:t> models using identical datasets and preprocessing parameters.</a:t>
            </a:r>
          </a:p>
          <a:p>
            <a:pPr marL="285750" marR="0" lvl="0" indent="-28575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Statistical validation will confirm improvements achieved through spatial hierarchy preservation in CapsNets.</a:t>
            </a:r>
          </a:p>
          <a:p>
            <a:pPr marL="285750" marR="0" lvl="0" indent="-28575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Visualization tools such as </a:t>
            </a:r>
            <a:r>
              <a:rPr kumimoji="0" lang="en-US" altLang="en-US" sz="1800" b="1" i="0" u="none" strike="noStrike" cap="none" normalizeH="0" baseline="0" dirty="0">
                <a:ln>
                  <a:noFill/>
                </a:ln>
                <a:solidFill>
                  <a:schemeClr val="tx1"/>
                </a:solidFill>
                <a:effectLst/>
                <a:latin typeface="Arial" panose="020B0604020202020204" pitchFamily="34" charset="0"/>
              </a:rPr>
              <a:t>ROC curves</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a:ln>
                  <a:noFill/>
                </a:ln>
                <a:solidFill>
                  <a:schemeClr val="tx1"/>
                </a:solidFill>
                <a:effectLst/>
                <a:latin typeface="Arial" panose="020B0604020202020204" pitchFamily="34" charset="0"/>
              </a:rPr>
              <a:t>confusion matrices</a:t>
            </a:r>
            <a:r>
              <a:rPr kumimoji="0" lang="en-US" altLang="en-US" sz="1800" b="0" i="0" u="none" strike="noStrike" cap="none" normalizeH="0" baseline="0" dirty="0">
                <a:ln>
                  <a:noFill/>
                </a:ln>
                <a:solidFill>
                  <a:schemeClr val="tx1"/>
                </a:solidFill>
                <a:effectLst/>
                <a:latin typeface="Arial" panose="020B0604020202020204" pitchFamily="34" charset="0"/>
              </a:rPr>
              <a:t>, and </a:t>
            </a:r>
            <a:r>
              <a:rPr kumimoji="0" lang="en-US" altLang="en-US" sz="1800" b="1" i="0" u="none" strike="noStrike" cap="none" normalizeH="0" baseline="0" dirty="0">
                <a:ln>
                  <a:noFill/>
                </a:ln>
                <a:solidFill>
                  <a:schemeClr val="tx1"/>
                </a:solidFill>
                <a:effectLst/>
                <a:latin typeface="Arial" panose="020B0604020202020204" pitchFamily="34" charset="0"/>
              </a:rPr>
              <a:t>performance graphs</a:t>
            </a:r>
            <a:r>
              <a:rPr kumimoji="0" lang="en-US" altLang="en-US" sz="1800" b="0" i="0" u="none" strike="noStrike" cap="none" normalizeH="0" baseline="0" dirty="0">
                <a:ln>
                  <a:noFill/>
                </a:ln>
                <a:solidFill>
                  <a:schemeClr val="tx1"/>
                </a:solidFill>
                <a:effectLst/>
                <a:latin typeface="Arial" panose="020B0604020202020204" pitchFamily="34" charset="0"/>
              </a:rPr>
              <a:t> will be used for result interpretation.</a:t>
            </a:r>
          </a:p>
        </p:txBody>
      </p:sp>
    </p:spTree>
    <p:extLst>
      <p:ext uri="{BB962C8B-B14F-4D97-AF65-F5344CB8AC3E}">
        <p14:creationId xmlns:p14="http://schemas.microsoft.com/office/powerpoint/2010/main" val="1562886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7F082-C60F-CABD-C441-78AA571223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BC1B62-95BC-7743-DE86-1CA24AFA83F4}"/>
              </a:ext>
            </a:extLst>
          </p:cNvPr>
          <p:cNvSpPr>
            <a:spLocks noGrp="1"/>
          </p:cNvSpPr>
          <p:nvPr>
            <p:ph type="title"/>
          </p:nvPr>
        </p:nvSpPr>
        <p:spPr>
          <a:xfrm>
            <a:off x="136466" y="474133"/>
            <a:ext cx="10515600" cy="1325563"/>
          </a:xfrm>
        </p:spPr>
        <p:txBody>
          <a:bodyPr/>
          <a:lstStyle/>
          <a:p>
            <a:r>
              <a:rPr lang="en-US" sz="3600" b="1" dirty="0">
                <a:solidFill>
                  <a:srgbClr val="002060"/>
                </a:solidFill>
                <a:latin typeface="Cambria"/>
                <a:ea typeface="Cambria"/>
                <a:cs typeface="+mn-cs"/>
                <a:sym typeface="+mn-ea"/>
              </a:rPr>
              <a:t>Research Objective</a:t>
            </a:r>
            <a:br>
              <a:rPr lang="en-US" sz="2000" dirty="0">
                <a:latin typeface="Times New Roman" panose="02020603050405020304" charset="0"/>
                <a:cs typeface="Times New Roman" panose="02020603050405020304" charset="0"/>
                <a:sym typeface="+mn-ea"/>
              </a:rPr>
            </a:br>
            <a:br>
              <a:rPr lang="en-US" sz="2000" dirty="0"/>
            </a:br>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3" name="Title 1">
            <a:extLst>
              <a:ext uri="{FF2B5EF4-FFF2-40B4-BE49-F238E27FC236}">
                <a16:creationId xmlns:a16="http://schemas.microsoft.com/office/drawing/2014/main" id="{DFD77B06-72E0-C364-360D-D95A1DE31642}"/>
              </a:ext>
            </a:extLst>
          </p:cNvPr>
          <p:cNvSpPr txBox="1">
            <a:spLocks/>
          </p:cNvSpPr>
          <p:nvPr/>
        </p:nvSpPr>
        <p:spPr>
          <a:xfrm>
            <a:off x="249355" y="371968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4" name="Rectangle 1">
            <a:extLst>
              <a:ext uri="{FF2B5EF4-FFF2-40B4-BE49-F238E27FC236}">
                <a16:creationId xmlns:a16="http://schemas.microsoft.com/office/drawing/2014/main" id="{BA6324E0-EDF6-6FBD-B74F-260988BA5BE8}"/>
              </a:ext>
            </a:extLst>
          </p:cNvPr>
          <p:cNvSpPr>
            <a:spLocks noChangeArrowheads="1"/>
          </p:cNvSpPr>
          <p:nvPr/>
        </p:nvSpPr>
        <p:spPr bwMode="auto">
          <a:xfrm>
            <a:off x="616242" y="1333843"/>
            <a:ext cx="10616202" cy="41903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To analyze the limitations of CNN-based approaches in lung nodule detection, particularly spatial information loss and false positives.</a:t>
            </a:r>
          </a:p>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To design and implement Capsule Neural Network (CapsNet) architectures optimized for CT scan image analysis.</a:t>
            </a:r>
          </a:p>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To compare the performance of multiple CapsNet architectures with traditional CNN models.</a:t>
            </a:r>
          </a:p>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To evaluate the models using accuracy, sensitivity, specificity, and false positive rate.</a:t>
            </a:r>
          </a:p>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To assess computational efficiency and propose frameworks for clinical deployment of CapsNet-based systems.</a:t>
            </a:r>
          </a:p>
        </p:txBody>
      </p:sp>
    </p:spTree>
    <p:extLst>
      <p:ext uri="{BB962C8B-B14F-4D97-AF65-F5344CB8AC3E}">
        <p14:creationId xmlns:p14="http://schemas.microsoft.com/office/powerpoint/2010/main" val="17117334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002B2-DF59-638B-59BA-AEE6AB2C38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82AEB6-0594-8F49-2AF2-1FD689BBB1C0}"/>
              </a:ext>
            </a:extLst>
          </p:cNvPr>
          <p:cNvSpPr>
            <a:spLocks noGrp="1"/>
          </p:cNvSpPr>
          <p:nvPr>
            <p:ph type="title"/>
          </p:nvPr>
        </p:nvSpPr>
        <p:spPr>
          <a:xfrm>
            <a:off x="136466" y="474133"/>
            <a:ext cx="10515600" cy="1325563"/>
          </a:xfrm>
        </p:spPr>
        <p:txBody>
          <a:bodyPr>
            <a:normAutofit fontScale="90000"/>
          </a:bodyPr>
          <a:lstStyle/>
          <a:p>
            <a:r>
              <a:rPr lang="en-US" sz="3600" b="1" dirty="0">
                <a:solidFill>
                  <a:srgbClr val="002060"/>
                </a:solidFill>
                <a:latin typeface="Cambria"/>
                <a:ea typeface="Cambria"/>
                <a:cs typeface="+mn-cs"/>
                <a:sym typeface="+mn-ea"/>
              </a:rPr>
              <a:t>Expected Outcome</a:t>
            </a:r>
            <a:br>
              <a:rPr lang="en-US" sz="2000" dirty="0">
                <a:latin typeface="Times New Roman" panose="02020603050405020304" charset="0"/>
                <a:cs typeface="Times New Roman" panose="02020603050405020304" charset="0"/>
              </a:rPr>
            </a:br>
            <a:br>
              <a:rPr lang="en-US" sz="2000" dirty="0">
                <a:latin typeface="Times New Roman" panose="02020603050405020304" charset="0"/>
                <a:cs typeface="Times New Roman" panose="02020603050405020304" charset="0"/>
                <a:sym typeface="+mn-ea"/>
              </a:rPr>
            </a:br>
            <a:br>
              <a:rPr lang="en-US" sz="2000" dirty="0"/>
            </a:br>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3" name="Title 1">
            <a:extLst>
              <a:ext uri="{FF2B5EF4-FFF2-40B4-BE49-F238E27FC236}">
                <a16:creationId xmlns:a16="http://schemas.microsoft.com/office/drawing/2014/main" id="{F450A4CF-51E5-2B69-D531-FDA004CA0F04}"/>
              </a:ext>
            </a:extLst>
          </p:cNvPr>
          <p:cNvSpPr txBox="1">
            <a:spLocks/>
          </p:cNvSpPr>
          <p:nvPr/>
        </p:nvSpPr>
        <p:spPr>
          <a:xfrm>
            <a:off x="249355" y="371968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5" name="Rectangle 1">
            <a:extLst>
              <a:ext uri="{FF2B5EF4-FFF2-40B4-BE49-F238E27FC236}">
                <a16:creationId xmlns:a16="http://schemas.microsoft.com/office/drawing/2014/main" id="{7EECFA0E-CDED-47B4-2AD7-0D6AB896EB28}"/>
              </a:ext>
            </a:extLst>
          </p:cNvPr>
          <p:cNvSpPr>
            <a:spLocks noChangeArrowheads="1"/>
          </p:cNvSpPr>
          <p:nvPr/>
        </p:nvSpPr>
        <p:spPr bwMode="auto">
          <a:xfrm>
            <a:off x="333522" y="991340"/>
            <a:ext cx="11524956" cy="5632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Improved Diagnostic Accuracy:</a:t>
            </a:r>
            <a:b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Capsule Neural Networks are expected to outperform CNNs by preserving spatial hierarchies in CT scan data, leading to more accurate lung nodule classification.</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Reduction in False Positives:</a:t>
            </a:r>
            <a:b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Dynamic routing will help the model distinguish nodules from vessel-like structures, minimizing false alarms that affect screening reliability.</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Enhanced Sensitivity and Specificity:</a:t>
            </a:r>
            <a:b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Expected improvement in sensitivity for true nodules and specificity for normal tissues, strengthening early detection reliability.</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Computational Efficiency Insights:</a:t>
            </a:r>
            <a:b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Performance benchmarks will provide insights into trade-offs between accuracy and computational cost, guiding real-world deployment feasibility.</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Framework for Future Research:</a:t>
            </a:r>
            <a:b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Establishes a validated methodology for applying CapsNets in other medical imaging domains beyond lung cancer detection.</a:t>
            </a:r>
          </a:p>
        </p:txBody>
      </p:sp>
    </p:spTree>
    <p:extLst>
      <p:ext uri="{BB962C8B-B14F-4D97-AF65-F5344CB8AC3E}">
        <p14:creationId xmlns:p14="http://schemas.microsoft.com/office/powerpoint/2010/main" val="21533014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057CC-CD75-4033-AEE4-C9F7A6AE83EF}"/>
              </a:ext>
            </a:extLst>
          </p:cNvPr>
          <p:cNvSpPr>
            <a:spLocks noGrp="1"/>
          </p:cNvSpPr>
          <p:nvPr>
            <p:ph type="title"/>
          </p:nvPr>
        </p:nvSpPr>
        <p:spPr>
          <a:xfrm>
            <a:off x="324543" y="-125326"/>
            <a:ext cx="10515600" cy="1189355"/>
          </a:xfrm>
        </p:spPr>
        <p:txBody>
          <a:bodyPr>
            <a:normAutofit/>
          </a:bodyPr>
          <a:lstStyle/>
          <a:p>
            <a:r>
              <a:rPr lang="en-US" sz="3600" b="1" dirty="0">
                <a:solidFill>
                  <a:srgbClr val="002060"/>
                </a:solidFill>
                <a:latin typeface="Cambria" panose="02040503050406030204" pitchFamily="18" charset="0"/>
                <a:ea typeface="Cambria" panose="02040503050406030204" pitchFamily="18" charset="0"/>
                <a:cs typeface="+mn-cs"/>
              </a:rPr>
              <a:t>References</a:t>
            </a:r>
          </a:p>
        </p:txBody>
      </p:sp>
      <p:sp>
        <p:nvSpPr>
          <p:cNvPr id="6" name="Rectangle 2">
            <a:extLst>
              <a:ext uri="{FF2B5EF4-FFF2-40B4-BE49-F238E27FC236}">
                <a16:creationId xmlns:a16="http://schemas.microsoft.com/office/drawing/2014/main" id="{C76EA7CE-E1FF-3806-FD29-4600B4D9A192}"/>
              </a:ext>
            </a:extLst>
          </p:cNvPr>
          <p:cNvSpPr>
            <a:spLocks noGrp="1" noChangeArrowheads="1"/>
          </p:cNvSpPr>
          <p:nvPr>
            <p:ph idx="1"/>
          </p:nvPr>
        </p:nvSpPr>
        <p:spPr bwMode="auto">
          <a:xfrm>
            <a:off x="474133" y="1064029"/>
            <a:ext cx="10679289"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[1] </a:t>
            </a:r>
            <a:r>
              <a:rPr kumimoji="0" lang="fr-FR"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Xue, X., Ma, Y., Du, W., &amp; Peng, Y. (2025) </a:t>
            </a:r>
            <a:r>
              <a:rPr kumimoji="0" lang="fr-FR" altLang="en-US" sz="1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fr-FR" altLang="en-US" sz="180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Squeeze-and-excitation vision transformer for lung nodule classification. IEEE Access, 13, 24852-24866.</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 Hendrix, W., Vliegenthart, R., Gratama, J. W., et al. (2023) — </a:t>
            </a:r>
            <a:r>
              <a:rPr kumimoji="0" lang="en-US" altLang="en-US" sz="180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Deep learning for the detection of benign and malignant pulmonary nodules in non-screening chest CT scans. Communications Medicine, 3(1), 388.</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 Ma, L., Wu, H., &amp; Samundeeswari, P. (2024) — </a:t>
            </a:r>
            <a:r>
              <a:rPr kumimoji="0" lang="en-US" altLang="en-US" sz="180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Improving lung cancer detection with enhanced convolutional sequential networks. Scientific Reports, 15, Article 06653.</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[4] Sabour, S., Frosst, N., &amp; Hinton, G. E. (2017)</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Dynamic routing between capsules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Problem Statement, Literature Review, Methodology).</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[5] Scherer, D., Müller, A., &amp; Behnke, S. (2010)</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Evaluation of pooling operations in CNNs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 and Research Gap).</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[6] Setio, A. A. A., et al. (2016)</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LUNA16 challenge</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 Methodology).</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[7] Shin, H. C., et al. (2016)</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Deep CNNs for computer-aided detection</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[8] Song, Q., Zhao, L., Luo, X., &amp; Dou, X. (2017)</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Using deep learning for classification of lung nodules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 and Problem Statement).</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[9] Stewart, B. W., &amp; Wild, C. P. (2014)</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World cancer report 2014</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Introduction and Literature Review).</a:t>
            </a:r>
          </a:p>
        </p:txBody>
      </p:sp>
    </p:spTree>
    <p:extLst>
      <p:ext uri="{BB962C8B-B14F-4D97-AF65-F5344CB8AC3E}">
        <p14:creationId xmlns:p14="http://schemas.microsoft.com/office/powerpoint/2010/main" val="18032550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7"/>
          <p:cNvSpPr txBox="1"/>
          <p:nvPr/>
        </p:nvSpPr>
        <p:spPr>
          <a:xfrm>
            <a:off x="940596" y="2020499"/>
            <a:ext cx="10361028" cy="2133600"/>
          </a:xfrm>
          <a:prstGeom prst="rect">
            <a:avLst/>
          </a:prstGeom>
          <a:noFill/>
          <a:ln>
            <a:noFill/>
          </a:ln>
        </p:spPr>
        <p:txBody>
          <a:bodyPr spcFirstLastPara="1" wrap="square" lIns="90000" tIns="46800" rIns="90000" bIns="46800" anchor="ctr" anchorCtr="0">
            <a:noAutofit/>
          </a:bodyPr>
          <a:lstStyle/>
          <a:p>
            <a:pPr marR="0" lvl="0" algn="ctr" defTabSz="914400" rtl="0" eaLnBrk="1" fontAlgn="auto" latinLnBrk="0" hangingPunct="1">
              <a:lnSpc>
                <a:spcPct val="90000"/>
              </a:lnSpc>
              <a:spcBef>
                <a:spcPts val="1000"/>
              </a:spcBef>
              <a:spcAft>
                <a:spcPts val="0"/>
              </a:spcAft>
              <a:buClrTx/>
              <a:buSzTx/>
              <a:tabLst/>
              <a:defRPr/>
            </a:pPr>
            <a:r>
              <a:rPr lang="en-US" sz="5400" b="1" kern="1200" dirty="0">
                <a:solidFill>
                  <a:srgbClr val="222222"/>
                </a:solidFill>
                <a:latin typeface="Cambria" panose="02040503050406030204" pitchFamily="18" charset="0"/>
                <a:ea typeface="Cambria" panose="02040503050406030204" pitchFamily="18" charset="0"/>
                <a:cs typeface="+mn-cs"/>
              </a:rPr>
              <a:t>Thank you</a:t>
            </a:r>
            <a:endParaRPr kumimoji="0" lang="en-US" sz="5400" b="1" i="0" u="none" strike="noStrike" kern="1200" cap="none" spc="0" normalizeH="0" baseline="0" noProof="0" dirty="0">
              <a:ln>
                <a:noFill/>
              </a:ln>
              <a:solidFill>
                <a:srgbClr val="222222"/>
              </a:solidFill>
              <a:effectLst/>
              <a:uLnTx/>
              <a:uFillTx/>
              <a:latin typeface="Cambria" panose="02040503050406030204" pitchFamily="18" charset="0"/>
              <a:ea typeface="Cambria" panose="02040503050406030204" pitchFamily="18" charset="0"/>
              <a:cs typeface="+mn-cs"/>
            </a:endParaRPr>
          </a:p>
        </p:txBody>
      </p:sp>
      <p:sp>
        <p:nvSpPr>
          <p:cNvPr id="9" name="Slide Number Placeholder 8"/>
          <p:cNvSpPr>
            <a:spLocks noGrp="1"/>
          </p:cNvSpPr>
          <p:nvPr>
            <p:ph type="sldNum" idx="12"/>
          </p:nvPr>
        </p:nvSpPr>
        <p:spPr/>
        <p:txBody>
          <a:bodyPr/>
          <a:lstStyle/>
          <a:p>
            <a:fld id="{00000000-1234-1234-1234-123412341234}" type="slidenum">
              <a:rPr lang="en-US" smtClean="0"/>
              <a:pPr/>
              <a:t>13</a:t>
            </a:fld>
            <a:endParaRPr lang="en-US" dirty="0"/>
          </a:p>
        </p:txBody>
      </p:sp>
      <p:pic>
        <p:nvPicPr>
          <p:cNvPr id="5" name="Google Shape;171;p28">
            <a:extLst>
              <a:ext uri="{FF2B5EF4-FFF2-40B4-BE49-F238E27FC236}">
                <a16:creationId xmlns:a16="http://schemas.microsoft.com/office/drawing/2014/main" id="{423067C2-5579-4221-9293-6F30C7C7E5F0}"/>
              </a:ext>
            </a:extLst>
          </p:cNvPr>
          <p:cNvPicPr preferRelativeResize="0"/>
          <p:nvPr/>
        </p:nvPicPr>
        <p:blipFill rotWithShape="1">
          <a:blip r:embed="rId3" cstate="email">
            <a:alphaModFix/>
            <a:extLst>
              <a:ext uri="{28A0092B-C50C-407E-A947-70E740481C1C}">
                <a14:useLocalDpi xmlns:a14="http://schemas.microsoft.com/office/drawing/2010/main"/>
              </a:ext>
            </a:extLst>
          </a:blip>
          <a:srcRect l="1" t="6761" r="6238" b="8561"/>
          <a:stretch/>
        </p:blipFill>
        <p:spPr>
          <a:xfrm>
            <a:off x="1330900" y="309715"/>
            <a:ext cx="1097280" cy="1097280"/>
          </a:xfrm>
          <a:prstGeom prst="rect">
            <a:avLst/>
          </a:prstGeom>
          <a:noFill/>
          <a:ln>
            <a:noFill/>
          </a:ln>
        </p:spPr>
      </p:pic>
      <p:pic>
        <p:nvPicPr>
          <p:cNvPr id="6" name="Picture 5" descr="cs final logo with color trnasparent.png">
            <a:extLst>
              <a:ext uri="{FF2B5EF4-FFF2-40B4-BE49-F238E27FC236}">
                <a16:creationId xmlns:a16="http://schemas.microsoft.com/office/drawing/2014/main" id="{3DD77943-E35D-47C9-95CE-095D3192646A}"/>
              </a:ext>
            </a:extLst>
          </p:cNvPr>
          <p:cNvPicPr>
            <a:picLocks/>
          </p:cNvPicPr>
          <p:nvPr/>
        </p:nvPicPr>
        <p:blipFill>
          <a:blip r:embed="rId4"/>
          <a:stretch>
            <a:fillRect/>
          </a:stretch>
        </p:blipFill>
        <p:spPr>
          <a:xfrm>
            <a:off x="9745663" y="306646"/>
            <a:ext cx="1097280" cy="1097280"/>
          </a:xfrm>
          <a:prstGeom prst="rect">
            <a:avLst/>
          </a:prstGeom>
        </p:spPr>
      </p:pic>
      <p:sp>
        <p:nvSpPr>
          <p:cNvPr id="8" name="TextBox 7">
            <a:extLst>
              <a:ext uri="{FF2B5EF4-FFF2-40B4-BE49-F238E27FC236}">
                <a16:creationId xmlns:a16="http://schemas.microsoft.com/office/drawing/2014/main" id="{0BC6569F-96AD-4153-B84B-3E5B1819BF0A}"/>
              </a:ext>
            </a:extLst>
          </p:cNvPr>
          <p:cNvSpPr txBox="1"/>
          <p:nvPr/>
        </p:nvSpPr>
        <p:spPr>
          <a:xfrm>
            <a:off x="1600787" y="5525468"/>
            <a:ext cx="9040647" cy="880241"/>
          </a:xfrm>
          <a:prstGeom prst="rect">
            <a:avLst/>
          </a:prstGeom>
          <a:noFill/>
        </p:spPr>
        <p:txBody>
          <a:bodyPr wrap="square">
            <a:spAutoFit/>
          </a:bodyPr>
          <a:lstStyle/>
          <a:p>
            <a:pPr marL="59172" indent="-18762" algn="ctr">
              <a:lnSpc>
                <a:spcPct val="80000"/>
              </a:lnSpc>
              <a:spcBef>
                <a:spcPts val="636"/>
              </a:spcBef>
              <a:buSzPts val="2240"/>
            </a:pPr>
            <a:r>
              <a:rPr lang="en-US" sz="3200" b="1" dirty="0">
                <a:latin typeface="Cambria" panose="02040503050406030204" pitchFamily="18" charset="0"/>
                <a:ea typeface="Cambria" panose="02040503050406030204" pitchFamily="18" charset="0"/>
                <a:cs typeface="Cambria"/>
                <a:sym typeface="Cambria"/>
              </a:rPr>
              <a:t>University of Engineering and Technology, Lahore</a:t>
            </a:r>
            <a:endParaRPr lang="en-US" sz="32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8858547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TotalTime>
  <Words>1384</Words>
  <Application>Microsoft Office PowerPoint</Application>
  <PresentationFormat>Widescreen</PresentationFormat>
  <Paragraphs>114</Paragraphs>
  <Slides>13</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Calibri Light</vt:lpstr>
      <vt:lpstr>Cambria</vt:lpstr>
      <vt:lpstr>Roca Two Bold</vt:lpstr>
      <vt:lpstr>Times New Roman</vt:lpstr>
      <vt:lpstr>Office Theme</vt:lpstr>
      <vt:lpstr>PowerPoint Presentation</vt:lpstr>
      <vt:lpstr>PowerPoint Presentation</vt:lpstr>
      <vt:lpstr>PowerPoint Presentation</vt:lpstr>
      <vt:lpstr>Literature review</vt:lpstr>
      <vt:lpstr>PowerPoint Presentation</vt:lpstr>
      <vt:lpstr>Problem Statement</vt:lpstr>
      <vt:lpstr>Methodology </vt:lpstr>
      <vt:lpstr>Methodology </vt:lpstr>
      <vt:lpstr>Model Evaluation  </vt:lpstr>
      <vt:lpstr>Research Objective  </vt:lpstr>
      <vt:lpstr>Expected Outcome   </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Personalized Real Time Food Recommendation Using Machine Learning</dc:title>
  <dc:creator>Muhammad</dc:creator>
  <cp:lastModifiedBy>Aizaz Shabber</cp:lastModifiedBy>
  <cp:revision>247</cp:revision>
  <dcterms:created xsi:type="dcterms:W3CDTF">2022-02-27T11:17:41Z</dcterms:created>
  <dcterms:modified xsi:type="dcterms:W3CDTF">2025-11-18T11:16:47Z</dcterms:modified>
</cp:coreProperties>
</file>