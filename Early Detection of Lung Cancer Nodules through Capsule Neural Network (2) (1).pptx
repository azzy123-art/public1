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6"/>
  </p:notesMasterIdLst>
  <p:sldIdLst>
    <p:sldId id="264" r:id="rId2"/>
    <p:sldId id="265" r:id="rId3"/>
    <p:sldId id="266" r:id="rId4"/>
    <p:sldId id="258" r:id="rId5"/>
    <p:sldId id="274" r:id="rId6"/>
    <p:sldId id="268" r:id="rId7"/>
    <p:sldId id="257" r:id="rId8"/>
    <p:sldId id="261" r:id="rId9"/>
    <p:sldId id="270" r:id="rId10"/>
    <p:sldId id="271" r:id="rId11"/>
    <p:sldId id="272" r:id="rId12"/>
    <p:sldId id="273" r:id="rId13"/>
    <p:sldId id="260" r:id="rId14"/>
    <p:sldId id="269" r:id="rId1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98D6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80" d="100"/>
          <a:sy n="80" d="100"/>
        </p:scale>
        <p:origin x="754" y="48"/>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5027B0B-E4EC-4817-B8AE-E1F5A0E43040}" type="datetimeFigureOut">
              <a:rPr lang="en-US" smtClean="0"/>
              <a:t>12/10/2025</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6E520FC-3B90-4124-8796-CB932A69E063}" type="slidenum">
              <a:rPr lang="en-US" smtClean="0"/>
              <a:t>‹#›</a:t>
            </a:fld>
            <a:endParaRPr lang="en-US" dirty="0"/>
          </a:p>
        </p:txBody>
      </p:sp>
    </p:spTree>
    <p:extLst>
      <p:ext uri="{BB962C8B-B14F-4D97-AF65-F5344CB8AC3E}">
        <p14:creationId xmlns:p14="http://schemas.microsoft.com/office/powerpoint/2010/main" val="259341614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8"/>
        <p:cNvGrpSpPr/>
        <p:nvPr/>
      </p:nvGrpSpPr>
      <p:grpSpPr>
        <a:xfrm>
          <a:off x="0" y="0"/>
          <a:ext cx="0" cy="0"/>
          <a:chOff x="0" y="0"/>
          <a:chExt cx="0" cy="0"/>
        </a:xfrm>
      </p:grpSpPr>
      <p:sp>
        <p:nvSpPr>
          <p:cNvPr id="159" name="Google Shape;159;p2:notes"/>
          <p:cNvSpPr txBox="1"/>
          <p:nvPr/>
        </p:nvSpPr>
        <p:spPr>
          <a:xfrm>
            <a:off x="1143000" y="694980"/>
            <a:ext cx="4572001" cy="3429585"/>
          </a:xfrm>
          <a:prstGeom prst="rect">
            <a:avLst/>
          </a:prstGeom>
          <a:solidFill>
            <a:srgbClr val="FFFFFF"/>
          </a:solidFill>
          <a:ln w="9525" cap="flat" cmpd="sng">
            <a:solidFill>
              <a:srgbClr val="000000"/>
            </a:solidFill>
            <a:prstDash val="solid"/>
            <a:miter lim="800000"/>
            <a:headEnd type="none" w="sm" len="sm"/>
            <a:tailEnd type="none" w="sm" len="sm"/>
          </a:ln>
        </p:spPr>
        <p:txBody>
          <a:bodyPr spcFirstLastPara="1" wrap="square" lIns="90554" tIns="45277" rIns="90554" bIns="45277" anchor="ctr" anchorCtr="0">
            <a:noAutofit/>
          </a:bodyPr>
          <a:lstStyle/>
          <a:p>
            <a:pPr>
              <a:lnSpc>
                <a:spcPct val="87000"/>
              </a:lnSpc>
            </a:pPr>
            <a:endParaRPr dirty="0">
              <a:solidFill>
                <a:schemeClr val="lt1"/>
              </a:solidFill>
              <a:latin typeface="Arial"/>
              <a:ea typeface="Arial"/>
              <a:cs typeface="Arial"/>
              <a:sym typeface="Arial"/>
            </a:endParaRPr>
          </a:p>
        </p:txBody>
      </p:sp>
      <p:sp>
        <p:nvSpPr>
          <p:cNvPr id="160" name="Google Shape;160;p2:notes"/>
          <p:cNvSpPr txBox="1">
            <a:spLocks noGrp="1"/>
          </p:cNvSpPr>
          <p:nvPr>
            <p:ph type="body" idx="1"/>
          </p:nvPr>
        </p:nvSpPr>
        <p:spPr>
          <a:xfrm>
            <a:off x="685802" y="4344771"/>
            <a:ext cx="5483225" cy="4113627"/>
          </a:xfrm>
          <a:prstGeom prst="rect">
            <a:avLst/>
          </a:prstGeom>
          <a:noFill/>
          <a:ln>
            <a:noFill/>
          </a:ln>
        </p:spPr>
        <p:txBody>
          <a:bodyPr spcFirstLastPara="1" wrap="square" lIns="0" tIns="0" rIns="0" bIns="0" anchor="ctr" anchorCtr="0">
            <a:noAutofit/>
          </a:bodyPr>
          <a:lstStyle/>
          <a:p>
            <a:endParaRPr dirty="0"/>
          </a:p>
        </p:txBody>
      </p:sp>
      <p:sp>
        <p:nvSpPr>
          <p:cNvPr id="161" name="Google Shape;161;p2:notes"/>
          <p:cNvSpPr>
            <a:spLocks noGrp="1" noRot="1" noChangeAspect="1"/>
          </p:cNvSpPr>
          <p:nvPr>
            <p:ph type="sldImg" idx="2"/>
          </p:nvPr>
        </p:nvSpPr>
        <p:spPr>
          <a:xfrm>
            <a:off x="-12741275" y="-6472238"/>
            <a:ext cx="25482550" cy="14335126"/>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81431131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8"/>
        <p:cNvGrpSpPr/>
        <p:nvPr/>
      </p:nvGrpSpPr>
      <p:grpSpPr>
        <a:xfrm>
          <a:off x="0" y="0"/>
          <a:ext cx="0" cy="0"/>
          <a:chOff x="0" y="0"/>
          <a:chExt cx="0" cy="0"/>
        </a:xfrm>
      </p:grpSpPr>
      <p:sp>
        <p:nvSpPr>
          <p:cNvPr id="159" name="Google Shape;159;p2:notes"/>
          <p:cNvSpPr txBox="1"/>
          <p:nvPr/>
        </p:nvSpPr>
        <p:spPr>
          <a:xfrm>
            <a:off x="1143000" y="694980"/>
            <a:ext cx="4572001" cy="3429585"/>
          </a:xfrm>
          <a:prstGeom prst="rect">
            <a:avLst/>
          </a:prstGeom>
          <a:solidFill>
            <a:srgbClr val="FFFFFF"/>
          </a:solidFill>
          <a:ln w="9525" cap="flat" cmpd="sng">
            <a:solidFill>
              <a:srgbClr val="000000"/>
            </a:solidFill>
            <a:prstDash val="solid"/>
            <a:miter lim="800000"/>
            <a:headEnd type="none" w="sm" len="sm"/>
            <a:tailEnd type="none" w="sm" len="sm"/>
          </a:ln>
        </p:spPr>
        <p:txBody>
          <a:bodyPr spcFirstLastPara="1" wrap="square" lIns="90554" tIns="45277" rIns="90554" bIns="45277" anchor="ctr" anchorCtr="0">
            <a:noAutofit/>
          </a:bodyPr>
          <a:lstStyle/>
          <a:p>
            <a:pPr>
              <a:lnSpc>
                <a:spcPct val="87000"/>
              </a:lnSpc>
            </a:pPr>
            <a:endParaRPr dirty="0">
              <a:solidFill>
                <a:schemeClr val="lt1"/>
              </a:solidFill>
              <a:latin typeface="Arial"/>
              <a:ea typeface="Arial"/>
              <a:cs typeface="Arial"/>
              <a:sym typeface="Arial"/>
            </a:endParaRPr>
          </a:p>
        </p:txBody>
      </p:sp>
      <p:sp>
        <p:nvSpPr>
          <p:cNvPr id="160" name="Google Shape;160;p2:notes"/>
          <p:cNvSpPr txBox="1">
            <a:spLocks noGrp="1"/>
          </p:cNvSpPr>
          <p:nvPr>
            <p:ph type="body" idx="1"/>
          </p:nvPr>
        </p:nvSpPr>
        <p:spPr>
          <a:xfrm>
            <a:off x="685802" y="4344771"/>
            <a:ext cx="5483225" cy="4113627"/>
          </a:xfrm>
          <a:prstGeom prst="rect">
            <a:avLst/>
          </a:prstGeom>
          <a:noFill/>
          <a:ln>
            <a:noFill/>
          </a:ln>
        </p:spPr>
        <p:txBody>
          <a:bodyPr spcFirstLastPara="1" wrap="square" lIns="0" tIns="0" rIns="0" bIns="0" anchor="ctr" anchorCtr="0">
            <a:noAutofit/>
          </a:bodyPr>
          <a:lstStyle/>
          <a:p>
            <a:endParaRPr dirty="0"/>
          </a:p>
        </p:txBody>
      </p:sp>
      <p:sp>
        <p:nvSpPr>
          <p:cNvPr id="161" name="Google Shape;161;p2:notes"/>
          <p:cNvSpPr>
            <a:spLocks noGrp="1" noRot="1" noChangeAspect="1"/>
          </p:cNvSpPr>
          <p:nvPr>
            <p:ph type="sldImg" idx="2"/>
          </p:nvPr>
        </p:nvSpPr>
        <p:spPr>
          <a:xfrm>
            <a:off x="-12741275" y="-6472238"/>
            <a:ext cx="25482550" cy="14335126"/>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44580336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8"/>
        <p:cNvGrpSpPr/>
        <p:nvPr/>
      </p:nvGrpSpPr>
      <p:grpSpPr>
        <a:xfrm>
          <a:off x="0" y="0"/>
          <a:ext cx="0" cy="0"/>
          <a:chOff x="0" y="0"/>
          <a:chExt cx="0" cy="0"/>
        </a:xfrm>
      </p:grpSpPr>
      <p:sp>
        <p:nvSpPr>
          <p:cNvPr id="159" name="Google Shape;159;p2:notes"/>
          <p:cNvSpPr txBox="1"/>
          <p:nvPr/>
        </p:nvSpPr>
        <p:spPr>
          <a:xfrm>
            <a:off x="1143000" y="694980"/>
            <a:ext cx="4572001" cy="3429585"/>
          </a:xfrm>
          <a:prstGeom prst="rect">
            <a:avLst/>
          </a:prstGeom>
          <a:solidFill>
            <a:srgbClr val="FFFFFF"/>
          </a:solidFill>
          <a:ln w="9525" cap="flat" cmpd="sng">
            <a:solidFill>
              <a:srgbClr val="000000"/>
            </a:solidFill>
            <a:prstDash val="solid"/>
            <a:miter lim="800000"/>
            <a:headEnd type="none" w="sm" len="sm"/>
            <a:tailEnd type="none" w="sm" len="sm"/>
          </a:ln>
        </p:spPr>
        <p:txBody>
          <a:bodyPr spcFirstLastPara="1" wrap="square" lIns="90554" tIns="45277" rIns="90554" bIns="45277" anchor="ctr" anchorCtr="0">
            <a:noAutofit/>
          </a:bodyPr>
          <a:lstStyle/>
          <a:p>
            <a:pPr>
              <a:lnSpc>
                <a:spcPct val="87000"/>
              </a:lnSpc>
            </a:pPr>
            <a:endParaRPr dirty="0">
              <a:solidFill>
                <a:schemeClr val="lt1"/>
              </a:solidFill>
              <a:latin typeface="Arial"/>
              <a:ea typeface="Arial"/>
              <a:cs typeface="Arial"/>
              <a:sym typeface="Arial"/>
            </a:endParaRPr>
          </a:p>
        </p:txBody>
      </p:sp>
      <p:sp>
        <p:nvSpPr>
          <p:cNvPr id="160" name="Google Shape;160;p2:notes"/>
          <p:cNvSpPr txBox="1">
            <a:spLocks noGrp="1"/>
          </p:cNvSpPr>
          <p:nvPr>
            <p:ph type="body" idx="1"/>
          </p:nvPr>
        </p:nvSpPr>
        <p:spPr>
          <a:xfrm>
            <a:off x="685802" y="4344771"/>
            <a:ext cx="5483225" cy="4113627"/>
          </a:xfrm>
          <a:prstGeom prst="rect">
            <a:avLst/>
          </a:prstGeom>
          <a:noFill/>
          <a:ln>
            <a:noFill/>
          </a:ln>
        </p:spPr>
        <p:txBody>
          <a:bodyPr spcFirstLastPara="1" wrap="square" lIns="0" tIns="0" rIns="0" bIns="0" anchor="ctr" anchorCtr="0">
            <a:noAutofit/>
          </a:bodyPr>
          <a:lstStyle/>
          <a:p>
            <a:endParaRPr dirty="0"/>
          </a:p>
        </p:txBody>
      </p:sp>
      <p:sp>
        <p:nvSpPr>
          <p:cNvPr id="161" name="Google Shape;161;p2:notes"/>
          <p:cNvSpPr>
            <a:spLocks noGrp="1" noRot="1" noChangeAspect="1"/>
          </p:cNvSpPr>
          <p:nvPr>
            <p:ph type="sldImg" idx="2"/>
          </p:nvPr>
        </p:nvSpPr>
        <p:spPr>
          <a:xfrm>
            <a:off x="-12741275" y="-6472238"/>
            <a:ext cx="25482550" cy="14335126"/>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59084285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References</a:t>
            </a:r>
          </a:p>
          <a:p>
            <a:endParaRPr lang="en-US" dirty="0"/>
          </a:p>
        </p:txBody>
      </p:sp>
      <p:sp>
        <p:nvSpPr>
          <p:cNvPr id="4" name="Slide Number Placeholder 3"/>
          <p:cNvSpPr>
            <a:spLocks noGrp="1"/>
          </p:cNvSpPr>
          <p:nvPr>
            <p:ph type="sldNum" sz="quarter" idx="5"/>
          </p:nvPr>
        </p:nvSpPr>
        <p:spPr/>
        <p:txBody>
          <a:bodyPr/>
          <a:lstStyle/>
          <a:p>
            <a:fld id="{F6E520FC-3B90-4124-8796-CB932A69E063}" type="slidenum">
              <a:rPr lang="en-US" smtClean="0"/>
              <a:t>4</a:t>
            </a:fld>
            <a:endParaRPr lang="en-US" dirty="0"/>
          </a:p>
        </p:txBody>
      </p:sp>
    </p:spTree>
    <p:extLst>
      <p:ext uri="{BB962C8B-B14F-4D97-AF65-F5344CB8AC3E}">
        <p14:creationId xmlns:p14="http://schemas.microsoft.com/office/powerpoint/2010/main" val="48955271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8"/>
        <p:cNvGrpSpPr/>
        <p:nvPr/>
      </p:nvGrpSpPr>
      <p:grpSpPr>
        <a:xfrm>
          <a:off x="0" y="0"/>
          <a:ext cx="0" cy="0"/>
          <a:chOff x="0" y="0"/>
          <a:chExt cx="0" cy="0"/>
        </a:xfrm>
      </p:grpSpPr>
      <p:sp>
        <p:nvSpPr>
          <p:cNvPr id="159" name="Google Shape;159;p2:notes"/>
          <p:cNvSpPr txBox="1"/>
          <p:nvPr/>
        </p:nvSpPr>
        <p:spPr>
          <a:xfrm>
            <a:off x="1143000" y="694980"/>
            <a:ext cx="4572001" cy="3429585"/>
          </a:xfrm>
          <a:prstGeom prst="rect">
            <a:avLst/>
          </a:prstGeom>
          <a:solidFill>
            <a:srgbClr val="FFFFFF"/>
          </a:solidFill>
          <a:ln w="9525" cap="flat" cmpd="sng">
            <a:solidFill>
              <a:srgbClr val="000000"/>
            </a:solidFill>
            <a:prstDash val="solid"/>
            <a:miter lim="800000"/>
            <a:headEnd type="none" w="sm" len="sm"/>
            <a:tailEnd type="none" w="sm" len="sm"/>
          </a:ln>
        </p:spPr>
        <p:txBody>
          <a:bodyPr spcFirstLastPara="1" wrap="square" lIns="90554" tIns="45277" rIns="90554" bIns="45277" anchor="ctr" anchorCtr="0">
            <a:noAutofit/>
          </a:bodyPr>
          <a:lstStyle/>
          <a:p>
            <a:pPr>
              <a:lnSpc>
                <a:spcPct val="87000"/>
              </a:lnSpc>
            </a:pPr>
            <a:endParaRPr dirty="0">
              <a:solidFill>
                <a:schemeClr val="lt1"/>
              </a:solidFill>
              <a:latin typeface="Arial"/>
              <a:ea typeface="Arial"/>
              <a:cs typeface="Arial"/>
              <a:sym typeface="Arial"/>
            </a:endParaRPr>
          </a:p>
        </p:txBody>
      </p:sp>
      <p:sp>
        <p:nvSpPr>
          <p:cNvPr id="160" name="Google Shape;160;p2:notes"/>
          <p:cNvSpPr txBox="1">
            <a:spLocks noGrp="1"/>
          </p:cNvSpPr>
          <p:nvPr>
            <p:ph type="body" idx="1"/>
          </p:nvPr>
        </p:nvSpPr>
        <p:spPr>
          <a:xfrm>
            <a:off x="685802" y="4344771"/>
            <a:ext cx="5483225" cy="4113627"/>
          </a:xfrm>
          <a:prstGeom prst="rect">
            <a:avLst/>
          </a:prstGeom>
          <a:noFill/>
          <a:ln>
            <a:noFill/>
          </a:ln>
        </p:spPr>
        <p:txBody>
          <a:bodyPr spcFirstLastPara="1" wrap="square" lIns="0" tIns="0" rIns="0" bIns="0" anchor="ctr" anchorCtr="0">
            <a:noAutofit/>
          </a:bodyPr>
          <a:lstStyle/>
          <a:p>
            <a:endParaRPr dirty="0"/>
          </a:p>
        </p:txBody>
      </p:sp>
      <p:sp>
        <p:nvSpPr>
          <p:cNvPr id="161" name="Google Shape;161;p2:notes"/>
          <p:cNvSpPr>
            <a:spLocks noGrp="1" noRot="1" noChangeAspect="1"/>
          </p:cNvSpPr>
          <p:nvPr>
            <p:ph type="sldImg" idx="2"/>
          </p:nvPr>
        </p:nvSpPr>
        <p:spPr>
          <a:xfrm>
            <a:off x="-12741275" y="-6472238"/>
            <a:ext cx="25482550" cy="14335126"/>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85348468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8"/>
        <p:cNvGrpSpPr/>
        <p:nvPr/>
      </p:nvGrpSpPr>
      <p:grpSpPr>
        <a:xfrm>
          <a:off x="0" y="0"/>
          <a:ext cx="0" cy="0"/>
          <a:chOff x="0" y="0"/>
          <a:chExt cx="0" cy="0"/>
        </a:xfrm>
      </p:grpSpPr>
      <p:sp>
        <p:nvSpPr>
          <p:cNvPr id="159" name="Google Shape;159;p2:notes"/>
          <p:cNvSpPr txBox="1"/>
          <p:nvPr/>
        </p:nvSpPr>
        <p:spPr>
          <a:xfrm>
            <a:off x="1143000" y="694980"/>
            <a:ext cx="4572001" cy="3429585"/>
          </a:xfrm>
          <a:prstGeom prst="rect">
            <a:avLst/>
          </a:prstGeom>
          <a:solidFill>
            <a:srgbClr val="FFFFFF"/>
          </a:solidFill>
          <a:ln w="9525" cap="flat" cmpd="sng">
            <a:solidFill>
              <a:srgbClr val="000000"/>
            </a:solidFill>
            <a:prstDash val="solid"/>
            <a:miter lim="800000"/>
            <a:headEnd type="none" w="sm" len="sm"/>
            <a:tailEnd type="none" w="sm" len="sm"/>
          </a:ln>
        </p:spPr>
        <p:txBody>
          <a:bodyPr spcFirstLastPara="1" wrap="square" lIns="90554" tIns="45277" rIns="90554" bIns="45277" anchor="ctr" anchorCtr="0">
            <a:noAutofit/>
          </a:bodyPr>
          <a:lstStyle/>
          <a:p>
            <a:pPr>
              <a:lnSpc>
                <a:spcPct val="87000"/>
              </a:lnSpc>
            </a:pPr>
            <a:endParaRPr dirty="0">
              <a:solidFill>
                <a:schemeClr val="lt1"/>
              </a:solidFill>
              <a:latin typeface="Arial"/>
              <a:ea typeface="Arial"/>
              <a:cs typeface="Arial"/>
              <a:sym typeface="Arial"/>
            </a:endParaRPr>
          </a:p>
        </p:txBody>
      </p:sp>
      <p:sp>
        <p:nvSpPr>
          <p:cNvPr id="160" name="Google Shape;160;p2:notes"/>
          <p:cNvSpPr txBox="1">
            <a:spLocks noGrp="1"/>
          </p:cNvSpPr>
          <p:nvPr>
            <p:ph type="body" idx="1"/>
          </p:nvPr>
        </p:nvSpPr>
        <p:spPr>
          <a:xfrm>
            <a:off x="685802" y="4344771"/>
            <a:ext cx="5483225" cy="4113627"/>
          </a:xfrm>
          <a:prstGeom prst="rect">
            <a:avLst/>
          </a:prstGeom>
          <a:noFill/>
          <a:ln>
            <a:noFill/>
          </a:ln>
        </p:spPr>
        <p:txBody>
          <a:bodyPr spcFirstLastPara="1" wrap="square" lIns="0" tIns="0" rIns="0" bIns="0" anchor="ctr" anchorCtr="0">
            <a:noAutofit/>
          </a:bodyPr>
          <a:lstStyle/>
          <a:p>
            <a:endParaRPr dirty="0"/>
          </a:p>
        </p:txBody>
      </p:sp>
      <p:sp>
        <p:nvSpPr>
          <p:cNvPr id="161" name="Google Shape;161;p2:notes"/>
          <p:cNvSpPr>
            <a:spLocks noGrp="1" noRot="1" noChangeAspect="1"/>
          </p:cNvSpPr>
          <p:nvPr>
            <p:ph type="sldImg" idx="2"/>
          </p:nvPr>
        </p:nvSpPr>
        <p:spPr>
          <a:xfrm>
            <a:off x="-12741275" y="-6472238"/>
            <a:ext cx="25482550" cy="14335126"/>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22554049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A147F8-47A1-43AE-A916-799AED0D7A23}"/>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162E9550-45DA-4166-B8C4-C7BF1533429B}"/>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D71DDCFE-5733-432D-BE51-120638223BC9}"/>
              </a:ext>
            </a:extLst>
          </p:cNvPr>
          <p:cNvSpPr>
            <a:spLocks noGrp="1"/>
          </p:cNvSpPr>
          <p:nvPr>
            <p:ph type="dt" sz="half" idx="10"/>
          </p:nvPr>
        </p:nvSpPr>
        <p:spPr/>
        <p:txBody>
          <a:bodyPr/>
          <a:lstStyle/>
          <a:p>
            <a:fld id="{2021EB0C-0560-453E-ACFF-9C455F55CF40}" type="datetimeFigureOut">
              <a:rPr lang="en-US" smtClean="0"/>
              <a:t>12/10/2025</a:t>
            </a:fld>
            <a:endParaRPr lang="en-US" dirty="0"/>
          </a:p>
        </p:txBody>
      </p:sp>
      <p:sp>
        <p:nvSpPr>
          <p:cNvPr id="5" name="Footer Placeholder 4">
            <a:extLst>
              <a:ext uri="{FF2B5EF4-FFF2-40B4-BE49-F238E27FC236}">
                <a16:creationId xmlns:a16="http://schemas.microsoft.com/office/drawing/2014/main" id="{54E7A594-90B2-4AA6-88DC-620DE17E7668}"/>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2D79200C-3E7B-4AC9-A819-9E3A4AE4352D}"/>
              </a:ext>
            </a:extLst>
          </p:cNvPr>
          <p:cNvSpPr>
            <a:spLocks noGrp="1"/>
          </p:cNvSpPr>
          <p:nvPr>
            <p:ph type="sldNum" sz="quarter" idx="12"/>
          </p:nvPr>
        </p:nvSpPr>
        <p:spPr/>
        <p:txBody>
          <a:bodyPr/>
          <a:lstStyle/>
          <a:p>
            <a:fld id="{D4487429-652D-4B59-B9B7-161A8A66FB8A}" type="slidenum">
              <a:rPr lang="en-US" smtClean="0"/>
              <a:t>‹#›</a:t>
            </a:fld>
            <a:endParaRPr lang="en-US" dirty="0"/>
          </a:p>
        </p:txBody>
      </p:sp>
    </p:spTree>
    <p:extLst>
      <p:ext uri="{BB962C8B-B14F-4D97-AF65-F5344CB8AC3E}">
        <p14:creationId xmlns:p14="http://schemas.microsoft.com/office/powerpoint/2010/main" val="370958953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C1FB53-2F98-4D04-B473-5CE4B794CA56}"/>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5E3793B2-3231-4E95-BE1F-3642D81ED15A}"/>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6EBFF75-3F06-4341-8697-A20D93F168C9}"/>
              </a:ext>
            </a:extLst>
          </p:cNvPr>
          <p:cNvSpPr>
            <a:spLocks noGrp="1"/>
          </p:cNvSpPr>
          <p:nvPr>
            <p:ph type="dt" sz="half" idx="10"/>
          </p:nvPr>
        </p:nvSpPr>
        <p:spPr/>
        <p:txBody>
          <a:bodyPr/>
          <a:lstStyle/>
          <a:p>
            <a:fld id="{2021EB0C-0560-453E-ACFF-9C455F55CF40}" type="datetimeFigureOut">
              <a:rPr lang="en-US" smtClean="0"/>
              <a:t>12/10/2025</a:t>
            </a:fld>
            <a:endParaRPr lang="en-US" dirty="0"/>
          </a:p>
        </p:txBody>
      </p:sp>
      <p:sp>
        <p:nvSpPr>
          <p:cNvPr id="5" name="Footer Placeholder 4">
            <a:extLst>
              <a:ext uri="{FF2B5EF4-FFF2-40B4-BE49-F238E27FC236}">
                <a16:creationId xmlns:a16="http://schemas.microsoft.com/office/drawing/2014/main" id="{14831169-A9FD-42DE-A182-1EB935AC08A8}"/>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C6005D29-539F-4FAD-BA08-304CF44E2371}"/>
              </a:ext>
            </a:extLst>
          </p:cNvPr>
          <p:cNvSpPr>
            <a:spLocks noGrp="1"/>
          </p:cNvSpPr>
          <p:nvPr>
            <p:ph type="sldNum" sz="quarter" idx="12"/>
          </p:nvPr>
        </p:nvSpPr>
        <p:spPr/>
        <p:txBody>
          <a:bodyPr/>
          <a:lstStyle/>
          <a:p>
            <a:fld id="{D4487429-652D-4B59-B9B7-161A8A66FB8A}" type="slidenum">
              <a:rPr lang="en-US" smtClean="0"/>
              <a:t>‹#›</a:t>
            </a:fld>
            <a:endParaRPr lang="en-US" dirty="0"/>
          </a:p>
        </p:txBody>
      </p:sp>
    </p:spTree>
    <p:extLst>
      <p:ext uri="{BB962C8B-B14F-4D97-AF65-F5344CB8AC3E}">
        <p14:creationId xmlns:p14="http://schemas.microsoft.com/office/powerpoint/2010/main" val="30841379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471666-46A9-407B-B0D0-9C2A01FAD157}"/>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7C29DBC5-E69A-4FBE-9DF4-49C48F9CCC02}"/>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485FD6E5-36E4-44B1-B9C6-316B15BC3BB6}"/>
              </a:ext>
            </a:extLst>
          </p:cNvPr>
          <p:cNvSpPr>
            <a:spLocks noGrp="1"/>
          </p:cNvSpPr>
          <p:nvPr>
            <p:ph type="dt" sz="half" idx="10"/>
          </p:nvPr>
        </p:nvSpPr>
        <p:spPr/>
        <p:txBody>
          <a:bodyPr/>
          <a:lstStyle/>
          <a:p>
            <a:fld id="{2021EB0C-0560-453E-ACFF-9C455F55CF40}" type="datetimeFigureOut">
              <a:rPr lang="en-US" smtClean="0"/>
              <a:t>12/10/2025</a:t>
            </a:fld>
            <a:endParaRPr lang="en-US" dirty="0"/>
          </a:p>
        </p:txBody>
      </p:sp>
      <p:sp>
        <p:nvSpPr>
          <p:cNvPr id="5" name="Footer Placeholder 4">
            <a:extLst>
              <a:ext uri="{FF2B5EF4-FFF2-40B4-BE49-F238E27FC236}">
                <a16:creationId xmlns:a16="http://schemas.microsoft.com/office/drawing/2014/main" id="{CFFE9845-54E3-4F90-A792-E577A6897565}"/>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CE8C5761-4797-46A1-9B71-8B5C1A3220C4}"/>
              </a:ext>
            </a:extLst>
          </p:cNvPr>
          <p:cNvSpPr>
            <a:spLocks noGrp="1"/>
          </p:cNvSpPr>
          <p:nvPr>
            <p:ph type="sldNum" sz="quarter" idx="12"/>
          </p:nvPr>
        </p:nvSpPr>
        <p:spPr/>
        <p:txBody>
          <a:bodyPr/>
          <a:lstStyle/>
          <a:p>
            <a:fld id="{D4487429-652D-4B59-B9B7-161A8A66FB8A}" type="slidenum">
              <a:rPr lang="en-US" smtClean="0"/>
              <a:t>‹#›</a:t>
            </a:fld>
            <a:endParaRPr lang="en-US" dirty="0"/>
          </a:p>
        </p:txBody>
      </p:sp>
    </p:spTree>
    <p:extLst>
      <p:ext uri="{BB962C8B-B14F-4D97-AF65-F5344CB8AC3E}">
        <p14:creationId xmlns:p14="http://schemas.microsoft.com/office/powerpoint/2010/main" val="333506542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0A0C3D-F198-4849-8A5F-982040675647}"/>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6BFADC11-3E1D-429B-8B72-78D1C857CAA0}"/>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CBB467AF-29DA-4E11-AEDB-38D7695E1F14}"/>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BAEB01A2-C52E-4254-9974-6AE4D8131C30}"/>
              </a:ext>
            </a:extLst>
          </p:cNvPr>
          <p:cNvSpPr>
            <a:spLocks noGrp="1"/>
          </p:cNvSpPr>
          <p:nvPr>
            <p:ph type="dt" sz="half" idx="10"/>
          </p:nvPr>
        </p:nvSpPr>
        <p:spPr/>
        <p:txBody>
          <a:bodyPr/>
          <a:lstStyle/>
          <a:p>
            <a:fld id="{2021EB0C-0560-453E-ACFF-9C455F55CF40}" type="datetimeFigureOut">
              <a:rPr lang="en-US" smtClean="0"/>
              <a:t>12/10/2025</a:t>
            </a:fld>
            <a:endParaRPr lang="en-US" dirty="0"/>
          </a:p>
        </p:txBody>
      </p:sp>
      <p:sp>
        <p:nvSpPr>
          <p:cNvPr id="6" name="Footer Placeholder 5">
            <a:extLst>
              <a:ext uri="{FF2B5EF4-FFF2-40B4-BE49-F238E27FC236}">
                <a16:creationId xmlns:a16="http://schemas.microsoft.com/office/drawing/2014/main" id="{E27AE094-3D28-4933-A095-6BD1AE1FA828}"/>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80D6B5A1-AE76-40A3-8BF4-327E7FF09265}"/>
              </a:ext>
            </a:extLst>
          </p:cNvPr>
          <p:cNvSpPr>
            <a:spLocks noGrp="1"/>
          </p:cNvSpPr>
          <p:nvPr>
            <p:ph type="sldNum" sz="quarter" idx="12"/>
          </p:nvPr>
        </p:nvSpPr>
        <p:spPr/>
        <p:txBody>
          <a:bodyPr/>
          <a:lstStyle/>
          <a:p>
            <a:fld id="{D4487429-652D-4B59-B9B7-161A8A66FB8A}" type="slidenum">
              <a:rPr lang="en-US" smtClean="0"/>
              <a:t>‹#›</a:t>
            </a:fld>
            <a:endParaRPr lang="en-US" dirty="0"/>
          </a:p>
        </p:txBody>
      </p:sp>
    </p:spTree>
    <p:extLst>
      <p:ext uri="{BB962C8B-B14F-4D97-AF65-F5344CB8AC3E}">
        <p14:creationId xmlns:p14="http://schemas.microsoft.com/office/powerpoint/2010/main" val="28047597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DDAD18-1551-4DAA-AE95-4E5BC9584EDF}"/>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BB65E4E5-02F6-4FD7-9DD1-FC54FDDE7AD8}"/>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294F9154-37A3-40C1-AD74-2CFF3D307A62}"/>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32957BAE-1764-4C05-918C-8286D920AC0F}"/>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921AE16A-648D-4FF8-B160-0D4B7A643AF0}"/>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5BF42620-BB01-4D86-A364-1E5EA0E560F9}"/>
              </a:ext>
            </a:extLst>
          </p:cNvPr>
          <p:cNvSpPr>
            <a:spLocks noGrp="1"/>
          </p:cNvSpPr>
          <p:nvPr>
            <p:ph type="dt" sz="half" idx="10"/>
          </p:nvPr>
        </p:nvSpPr>
        <p:spPr/>
        <p:txBody>
          <a:bodyPr/>
          <a:lstStyle/>
          <a:p>
            <a:fld id="{2021EB0C-0560-453E-ACFF-9C455F55CF40}" type="datetimeFigureOut">
              <a:rPr lang="en-US" smtClean="0"/>
              <a:t>12/10/2025</a:t>
            </a:fld>
            <a:endParaRPr lang="en-US" dirty="0"/>
          </a:p>
        </p:txBody>
      </p:sp>
      <p:sp>
        <p:nvSpPr>
          <p:cNvPr id="8" name="Footer Placeholder 7">
            <a:extLst>
              <a:ext uri="{FF2B5EF4-FFF2-40B4-BE49-F238E27FC236}">
                <a16:creationId xmlns:a16="http://schemas.microsoft.com/office/drawing/2014/main" id="{357C10F5-C01F-412B-B6F9-77B0A890D258}"/>
              </a:ext>
            </a:extLst>
          </p:cNvPr>
          <p:cNvSpPr>
            <a:spLocks noGrp="1"/>
          </p:cNvSpPr>
          <p:nvPr>
            <p:ph type="ftr" sz="quarter" idx="11"/>
          </p:nvPr>
        </p:nvSpPr>
        <p:spPr/>
        <p:txBody>
          <a:bodyPr/>
          <a:lstStyle/>
          <a:p>
            <a:endParaRPr lang="en-US" dirty="0"/>
          </a:p>
        </p:txBody>
      </p:sp>
      <p:sp>
        <p:nvSpPr>
          <p:cNvPr id="9" name="Slide Number Placeholder 8">
            <a:extLst>
              <a:ext uri="{FF2B5EF4-FFF2-40B4-BE49-F238E27FC236}">
                <a16:creationId xmlns:a16="http://schemas.microsoft.com/office/drawing/2014/main" id="{C563403B-AB18-4576-AD2C-8DDEDA018901}"/>
              </a:ext>
            </a:extLst>
          </p:cNvPr>
          <p:cNvSpPr>
            <a:spLocks noGrp="1"/>
          </p:cNvSpPr>
          <p:nvPr>
            <p:ph type="sldNum" sz="quarter" idx="12"/>
          </p:nvPr>
        </p:nvSpPr>
        <p:spPr/>
        <p:txBody>
          <a:bodyPr/>
          <a:lstStyle/>
          <a:p>
            <a:fld id="{D4487429-652D-4B59-B9B7-161A8A66FB8A}" type="slidenum">
              <a:rPr lang="en-US" smtClean="0"/>
              <a:t>‹#›</a:t>
            </a:fld>
            <a:endParaRPr lang="en-US" dirty="0"/>
          </a:p>
        </p:txBody>
      </p:sp>
    </p:spTree>
    <p:extLst>
      <p:ext uri="{BB962C8B-B14F-4D97-AF65-F5344CB8AC3E}">
        <p14:creationId xmlns:p14="http://schemas.microsoft.com/office/powerpoint/2010/main" val="377093843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E19DA0-7655-48E7-AE87-507AD6B0D46A}"/>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CB6B8F39-DC97-4401-A1DE-4F5FD105E5FD}"/>
              </a:ext>
            </a:extLst>
          </p:cNvPr>
          <p:cNvSpPr>
            <a:spLocks noGrp="1"/>
          </p:cNvSpPr>
          <p:nvPr>
            <p:ph type="dt" sz="half" idx="10"/>
          </p:nvPr>
        </p:nvSpPr>
        <p:spPr/>
        <p:txBody>
          <a:bodyPr/>
          <a:lstStyle/>
          <a:p>
            <a:fld id="{2021EB0C-0560-453E-ACFF-9C455F55CF40}" type="datetimeFigureOut">
              <a:rPr lang="en-US" smtClean="0"/>
              <a:t>12/10/2025</a:t>
            </a:fld>
            <a:endParaRPr lang="en-US" dirty="0"/>
          </a:p>
        </p:txBody>
      </p:sp>
      <p:sp>
        <p:nvSpPr>
          <p:cNvPr id="4" name="Footer Placeholder 3">
            <a:extLst>
              <a:ext uri="{FF2B5EF4-FFF2-40B4-BE49-F238E27FC236}">
                <a16:creationId xmlns:a16="http://schemas.microsoft.com/office/drawing/2014/main" id="{507E76C5-1FFB-4F6F-9DA8-57E6B7B0B8FE}"/>
              </a:ext>
            </a:extLst>
          </p:cNvPr>
          <p:cNvSpPr>
            <a:spLocks noGrp="1"/>
          </p:cNvSpPr>
          <p:nvPr>
            <p:ph type="ftr" sz="quarter" idx="11"/>
          </p:nvPr>
        </p:nvSpPr>
        <p:spPr/>
        <p:txBody>
          <a:bodyPr/>
          <a:lstStyle/>
          <a:p>
            <a:endParaRPr lang="en-US" dirty="0"/>
          </a:p>
        </p:txBody>
      </p:sp>
      <p:sp>
        <p:nvSpPr>
          <p:cNvPr id="5" name="Slide Number Placeholder 4">
            <a:extLst>
              <a:ext uri="{FF2B5EF4-FFF2-40B4-BE49-F238E27FC236}">
                <a16:creationId xmlns:a16="http://schemas.microsoft.com/office/drawing/2014/main" id="{026B347B-9307-4A85-B2EC-1E6A583A6412}"/>
              </a:ext>
            </a:extLst>
          </p:cNvPr>
          <p:cNvSpPr>
            <a:spLocks noGrp="1"/>
          </p:cNvSpPr>
          <p:nvPr>
            <p:ph type="sldNum" sz="quarter" idx="12"/>
          </p:nvPr>
        </p:nvSpPr>
        <p:spPr/>
        <p:txBody>
          <a:bodyPr/>
          <a:lstStyle/>
          <a:p>
            <a:fld id="{D4487429-652D-4B59-B9B7-161A8A66FB8A}" type="slidenum">
              <a:rPr lang="en-US" smtClean="0"/>
              <a:t>‹#›</a:t>
            </a:fld>
            <a:endParaRPr lang="en-US" dirty="0"/>
          </a:p>
        </p:txBody>
      </p:sp>
    </p:spTree>
    <p:extLst>
      <p:ext uri="{BB962C8B-B14F-4D97-AF65-F5344CB8AC3E}">
        <p14:creationId xmlns:p14="http://schemas.microsoft.com/office/powerpoint/2010/main" val="124493062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E1454E6C-EAD1-470B-8EBF-8F5112C59C7C}"/>
              </a:ext>
            </a:extLst>
          </p:cNvPr>
          <p:cNvSpPr>
            <a:spLocks noGrp="1"/>
          </p:cNvSpPr>
          <p:nvPr>
            <p:ph type="dt" sz="half" idx="10"/>
          </p:nvPr>
        </p:nvSpPr>
        <p:spPr/>
        <p:txBody>
          <a:bodyPr/>
          <a:lstStyle/>
          <a:p>
            <a:fld id="{2021EB0C-0560-453E-ACFF-9C455F55CF40}" type="datetimeFigureOut">
              <a:rPr lang="en-US" smtClean="0"/>
              <a:t>12/10/2025</a:t>
            </a:fld>
            <a:endParaRPr lang="en-US" dirty="0"/>
          </a:p>
        </p:txBody>
      </p:sp>
      <p:sp>
        <p:nvSpPr>
          <p:cNvPr id="3" name="Footer Placeholder 2">
            <a:extLst>
              <a:ext uri="{FF2B5EF4-FFF2-40B4-BE49-F238E27FC236}">
                <a16:creationId xmlns:a16="http://schemas.microsoft.com/office/drawing/2014/main" id="{42FD6D14-590F-4EEF-955B-8B22E701A748}"/>
              </a:ext>
            </a:extLst>
          </p:cNvPr>
          <p:cNvSpPr>
            <a:spLocks noGrp="1"/>
          </p:cNvSpPr>
          <p:nvPr>
            <p:ph type="ftr" sz="quarter" idx="11"/>
          </p:nvPr>
        </p:nvSpPr>
        <p:spPr/>
        <p:txBody>
          <a:bodyPr/>
          <a:lstStyle/>
          <a:p>
            <a:endParaRPr lang="en-US" dirty="0"/>
          </a:p>
        </p:txBody>
      </p:sp>
      <p:sp>
        <p:nvSpPr>
          <p:cNvPr id="4" name="Slide Number Placeholder 3">
            <a:extLst>
              <a:ext uri="{FF2B5EF4-FFF2-40B4-BE49-F238E27FC236}">
                <a16:creationId xmlns:a16="http://schemas.microsoft.com/office/drawing/2014/main" id="{6E7D1CA8-D762-42FB-908B-3FCA85EE731F}"/>
              </a:ext>
            </a:extLst>
          </p:cNvPr>
          <p:cNvSpPr>
            <a:spLocks noGrp="1"/>
          </p:cNvSpPr>
          <p:nvPr>
            <p:ph type="sldNum" sz="quarter" idx="12"/>
          </p:nvPr>
        </p:nvSpPr>
        <p:spPr/>
        <p:txBody>
          <a:bodyPr/>
          <a:lstStyle/>
          <a:p>
            <a:fld id="{D4487429-652D-4B59-B9B7-161A8A66FB8A}" type="slidenum">
              <a:rPr lang="en-US" smtClean="0"/>
              <a:t>‹#›</a:t>
            </a:fld>
            <a:endParaRPr lang="en-US" dirty="0"/>
          </a:p>
        </p:txBody>
      </p:sp>
    </p:spTree>
    <p:extLst>
      <p:ext uri="{BB962C8B-B14F-4D97-AF65-F5344CB8AC3E}">
        <p14:creationId xmlns:p14="http://schemas.microsoft.com/office/powerpoint/2010/main" val="189123269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27C062-EF5A-490F-8A8A-27498C6C0E2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2A011F4B-0BD4-4BF7-910C-A436D891922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74D3AA5B-3B98-42F2-BF7D-7F025FDED8E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61DB644-595D-49EF-B104-6C4CF30863C8}"/>
              </a:ext>
            </a:extLst>
          </p:cNvPr>
          <p:cNvSpPr>
            <a:spLocks noGrp="1"/>
          </p:cNvSpPr>
          <p:nvPr>
            <p:ph type="dt" sz="half" idx="10"/>
          </p:nvPr>
        </p:nvSpPr>
        <p:spPr/>
        <p:txBody>
          <a:bodyPr/>
          <a:lstStyle/>
          <a:p>
            <a:fld id="{2021EB0C-0560-453E-ACFF-9C455F55CF40}" type="datetimeFigureOut">
              <a:rPr lang="en-US" smtClean="0"/>
              <a:t>12/10/2025</a:t>
            </a:fld>
            <a:endParaRPr lang="en-US" dirty="0"/>
          </a:p>
        </p:txBody>
      </p:sp>
      <p:sp>
        <p:nvSpPr>
          <p:cNvPr id="6" name="Footer Placeholder 5">
            <a:extLst>
              <a:ext uri="{FF2B5EF4-FFF2-40B4-BE49-F238E27FC236}">
                <a16:creationId xmlns:a16="http://schemas.microsoft.com/office/drawing/2014/main" id="{E0567536-2E4F-456F-93B5-263AF309B67D}"/>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E3E668FE-A85A-4752-8177-4A18378B8AB4}"/>
              </a:ext>
            </a:extLst>
          </p:cNvPr>
          <p:cNvSpPr>
            <a:spLocks noGrp="1"/>
          </p:cNvSpPr>
          <p:nvPr>
            <p:ph type="sldNum" sz="quarter" idx="12"/>
          </p:nvPr>
        </p:nvSpPr>
        <p:spPr/>
        <p:txBody>
          <a:bodyPr/>
          <a:lstStyle/>
          <a:p>
            <a:fld id="{D4487429-652D-4B59-B9B7-161A8A66FB8A}" type="slidenum">
              <a:rPr lang="en-US" smtClean="0"/>
              <a:t>‹#›</a:t>
            </a:fld>
            <a:endParaRPr lang="en-US" dirty="0"/>
          </a:p>
        </p:txBody>
      </p:sp>
    </p:spTree>
    <p:extLst>
      <p:ext uri="{BB962C8B-B14F-4D97-AF65-F5344CB8AC3E}">
        <p14:creationId xmlns:p14="http://schemas.microsoft.com/office/powerpoint/2010/main" val="173260149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8CCF7A-9E38-404C-8434-F138C883FC7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5D14AE22-D8A8-45FF-90F6-77E017B7FF1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dirty="0"/>
          </a:p>
        </p:txBody>
      </p:sp>
      <p:sp>
        <p:nvSpPr>
          <p:cNvPr id="4" name="Text Placeholder 3">
            <a:extLst>
              <a:ext uri="{FF2B5EF4-FFF2-40B4-BE49-F238E27FC236}">
                <a16:creationId xmlns:a16="http://schemas.microsoft.com/office/drawing/2014/main" id="{4C768EF8-CB3B-467C-A2D2-70BB959918A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BE3B65B-660A-448C-825F-754459A21E52}"/>
              </a:ext>
            </a:extLst>
          </p:cNvPr>
          <p:cNvSpPr>
            <a:spLocks noGrp="1"/>
          </p:cNvSpPr>
          <p:nvPr>
            <p:ph type="dt" sz="half" idx="10"/>
          </p:nvPr>
        </p:nvSpPr>
        <p:spPr/>
        <p:txBody>
          <a:bodyPr/>
          <a:lstStyle/>
          <a:p>
            <a:fld id="{2021EB0C-0560-453E-ACFF-9C455F55CF40}" type="datetimeFigureOut">
              <a:rPr lang="en-US" smtClean="0"/>
              <a:t>12/10/2025</a:t>
            </a:fld>
            <a:endParaRPr lang="en-US" dirty="0"/>
          </a:p>
        </p:txBody>
      </p:sp>
      <p:sp>
        <p:nvSpPr>
          <p:cNvPr id="6" name="Footer Placeholder 5">
            <a:extLst>
              <a:ext uri="{FF2B5EF4-FFF2-40B4-BE49-F238E27FC236}">
                <a16:creationId xmlns:a16="http://schemas.microsoft.com/office/drawing/2014/main" id="{92B96A0E-EEBB-45BF-B978-1832B5DF46A1}"/>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508B318A-6F45-467B-B0E5-17050FC806AB}"/>
              </a:ext>
            </a:extLst>
          </p:cNvPr>
          <p:cNvSpPr>
            <a:spLocks noGrp="1"/>
          </p:cNvSpPr>
          <p:nvPr>
            <p:ph type="sldNum" sz="quarter" idx="12"/>
          </p:nvPr>
        </p:nvSpPr>
        <p:spPr/>
        <p:txBody>
          <a:bodyPr/>
          <a:lstStyle/>
          <a:p>
            <a:fld id="{D4487429-652D-4B59-B9B7-161A8A66FB8A}" type="slidenum">
              <a:rPr lang="en-US" smtClean="0"/>
              <a:t>‹#›</a:t>
            </a:fld>
            <a:endParaRPr lang="en-US" dirty="0"/>
          </a:p>
        </p:txBody>
      </p:sp>
    </p:spTree>
    <p:extLst>
      <p:ext uri="{BB962C8B-B14F-4D97-AF65-F5344CB8AC3E}">
        <p14:creationId xmlns:p14="http://schemas.microsoft.com/office/powerpoint/2010/main" val="208724229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EBE968-9FB2-4CE9-A9AD-06C0B0412D5D}"/>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2B35A0F5-2ACA-4151-9A1F-597FF31E8382}"/>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F594761-FD1C-4C6E-91E1-7AB0BBABF79A}"/>
              </a:ext>
            </a:extLst>
          </p:cNvPr>
          <p:cNvSpPr>
            <a:spLocks noGrp="1"/>
          </p:cNvSpPr>
          <p:nvPr>
            <p:ph type="dt" sz="half" idx="10"/>
          </p:nvPr>
        </p:nvSpPr>
        <p:spPr/>
        <p:txBody>
          <a:bodyPr/>
          <a:lstStyle/>
          <a:p>
            <a:fld id="{2021EB0C-0560-453E-ACFF-9C455F55CF40}" type="datetimeFigureOut">
              <a:rPr lang="en-US" smtClean="0"/>
              <a:t>12/10/2025</a:t>
            </a:fld>
            <a:endParaRPr lang="en-US" dirty="0"/>
          </a:p>
        </p:txBody>
      </p:sp>
      <p:sp>
        <p:nvSpPr>
          <p:cNvPr id="5" name="Footer Placeholder 4">
            <a:extLst>
              <a:ext uri="{FF2B5EF4-FFF2-40B4-BE49-F238E27FC236}">
                <a16:creationId xmlns:a16="http://schemas.microsoft.com/office/drawing/2014/main" id="{128431B6-6185-4B17-86B2-CAAED10005A7}"/>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22CDDB71-31C6-4379-AE03-36E47D94A290}"/>
              </a:ext>
            </a:extLst>
          </p:cNvPr>
          <p:cNvSpPr>
            <a:spLocks noGrp="1"/>
          </p:cNvSpPr>
          <p:nvPr>
            <p:ph type="sldNum" sz="quarter" idx="12"/>
          </p:nvPr>
        </p:nvSpPr>
        <p:spPr/>
        <p:txBody>
          <a:bodyPr/>
          <a:lstStyle/>
          <a:p>
            <a:fld id="{D4487429-652D-4B59-B9B7-161A8A66FB8A}" type="slidenum">
              <a:rPr lang="en-US" smtClean="0"/>
              <a:t>‹#›</a:t>
            </a:fld>
            <a:endParaRPr lang="en-US" dirty="0"/>
          </a:p>
        </p:txBody>
      </p:sp>
    </p:spTree>
    <p:extLst>
      <p:ext uri="{BB962C8B-B14F-4D97-AF65-F5344CB8AC3E}">
        <p14:creationId xmlns:p14="http://schemas.microsoft.com/office/powerpoint/2010/main" val="427271789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113800D7-9E06-4138-9024-59D22A961249}"/>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6CBCC190-08B8-402B-BFCA-6A881480F48D}"/>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43CE924-8957-417E-A994-4496DD28951D}"/>
              </a:ext>
            </a:extLst>
          </p:cNvPr>
          <p:cNvSpPr>
            <a:spLocks noGrp="1"/>
          </p:cNvSpPr>
          <p:nvPr>
            <p:ph type="dt" sz="half" idx="10"/>
          </p:nvPr>
        </p:nvSpPr>
        <p:spPr/>
        <p:txBody>
          <a:bodyPr/>
          <a:lstStyle/>
          <a:p>
            <a:fld id="{2021EB0C-0560-453E-ACFF-9C455F55CF40}" type="datetimeFigureOut">
              <a:rPr lang="en-US" smtClean="0"/>
              <a:t>12/10/2025</a:t>
            </a:fld>
            <a:endParaRPr lang="en-US" dirty="0"/>
          </a:p>
        </p:txBody>
      </p:sp>
      <p:sp>
        <p:nvSpPr>
          <p:cNvPr id="5" name="Footer Placeholder 4">
            <a:extLst>
              <a:ext uri="{FF2B5EF4-FFF2-40B4-BE49-F238E27FC236}">
                <a16:creationId xmlns:a16="http://schemas.microsoft.com/office/drawing/2014/main" id="{265F1D80-38D3-4E16-98CC-09347BD40424}"/>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000D78F2-3A06-49EF-9176-F4C234A20031}"/>
              </a:ext>
            </a:extLst>
          </p:cNvPr>
          <p:cNvSpPr>
            <a:spLocks noGrp="1"/>
          </p:cNvSpPr>
          <p:nvPr>
            <p:ph type="sldNum" sz="quarter" idx="12"/>
          </p:nvPr>
        </p:nvSpPr>
        <p:spPr/>
        <p:txBody>
          <a:bodyPr/>
          <a:lstStyle/>
          <a:p>
            <a:fld id="{D4487429-652D-4B59-B9B7-161A8A66FB8A}" type="slidenum">
              <a:rPr lang="en-US" smtClean="0"/>
              <a:t>‹#›</a:t>
            </a:fld>
            <a:endParaRPr lang="en-US" dirty="0"/>
          </a:p>
        </p:txBody>
      </p:sp>
    </p:spTree>
    <p:extLst>
      <p:ext uri="{BB962C8B-B14F-4D97-AF65-F5344CB8AC3E}">
        <p14:creationId xmlns:p14="http://schemas.microsoft.com/office/powerpoint/2010/main" val="119649257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AF4F5B6-5D4D-42C3-A877-E18C8E4B93CC}"/>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BB07817C-06E4-4192-BDA1-9E7FA553469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40D6375-2C88-4CB9-8D1C-D271C5F2F56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021EB0C-0560-453E-ACFF-9C455F55CF40}" type="datetimeFigureOut">
              <a:rPr lang="en-US" smtClean="0"/>
              <a:t>12/10/2025</a:t>
            </a:fld>
            <a:endParaRPr lang="en-US" dirty="0"/>
          </a:p>
        </p:txBody>
      </p:sp>
      <p:sp>
        <p:nvSpPr>
          <p:cNvPr id="5" name="Footer Placeholder 4">
            <a:extLst>
              <a:ext uri="{FF2B5EF4-FFF2-40B4-BE49-F238E27FC236}">
                <a16:creationId xmlns:a16="http://schemas.microsoft.com/office/drawing/2014/main" id="{EFBDD0A1-E867-43BB-8F46-D0D85586352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p>
        </p:txBody>
      </p:sp>
      <p:sp>
        <p:nvSpPr>
          <p:cNvPr id="6" name="Slide Number Placeholder 5">
            <a:extLst>
              <a:ext uri="{FF2B5EF4-FFF2-40B4-BE49-F238E27FC236}">
                <a16:creationId xmlns:a16="http://schemas.microsoft.com/office/drawing/2014/main" id="{7005230B-1ABF-4B97-9308-86EF7FB53370}"/>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4487429-652D-4B59-B9B7-161A8A66FB8A}" type="slidenum">
              <a:rPr lang="en-US" smtClean="0"/>
              <a:t>‹#›</a:t>
            </a:fld>
            <a:endParaRPr lang="en-US" dirty="0"/>
          </a:p>
        </p:txBody>
      </p:sp>
    </p:spTree>
    <p:extLst>
      <p:ext uri="{BB962C8B-B14F-4D97-AF65-F5344CB8AC3E}">
        <p14:creationId xmlns:p14="http://schemas.microsoft.com/office/powerpoint/2010/main" val="50379832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7.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7.xml"/><Relationship Id="rId4"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62"/>
        <p:cNvGrpSpPr/>
        <p:nvPr/>
      </p:nvGrpSpPr>
      <p:grpSpPr>
        <a:xfrm>
          <a:off x="0" y="0"/>
          <a:ext cx="0" cy="0"/>
          <a:chOff x="0" y="0"/>
          <a:chExt cx="0" cy="0"/>
        </a:xfrm>
      </p:grpSpPr>
      <p:sp>
        <p:nvSpPr>
          <p:cNvPr id="163" name="Google Shape;163;p27"/>
          <p:cNvSpPr txBox="1"/>
          <p:nvPr/>
        </p:nvSpPr>
        <p:spPr>
          <a:xfrm>
            <a:off x="1879540" y="3352092"/>
            <a:ext cx="8544297" cy="2051114"/>
          </a:xfrm>
          <a:prstGeom prst="rect">
            <a:avLst/>
          </a:prstGeom>
          <a:noFill/>
          <a:ln>
            <a:noFill/>
          </a:ln>
        </p:spPr>
        <p:txBody>
          <a:bodyPr spcFirstLastPara="1" wrap="square" lIns="90000" tIns="46800" rIns="90000" bIns="46800" anchor="ctr" anchorCtr="0">
            <a:noAutofit/>
          </a:bodyPr>
          <a:lstStyle/>
          <a:p>
            <a:pPr algn="ctr">
              <a:buClr>
                <a:schemeClr val="dk1"/>
              </a:buClr>
              <a:buSzPts val="3200"/>
            </a:pPr>
            <a:r>
              <a:rPr lang="en-US" sz="2800" dirty="0">
                <a:solidFill>
                  <a:schemeClr val="dk1"/>
                </a:solidFill>
                <a:latin typeface="Cambria"/>
                <a:ea typeface="Cambria"/>
                <a:cs typeface="Gill Sans"/>
                <a:sym typeface="Gill Sans"/>
              </a:rPr>
              <a:t>Presented By: </a:t>
            </a:r>
            <a:r>
              <a:rPr lang="en-US" sz="2800" dirty="0">
                <a:solidFill>
                  <a:schemeClr val="dk1"/>
                </a:solidFill>
                <a:latin typeface="Cambria"/>
                <a:ea typeface="Cambria"/>
              </a:rPr>
              <a:t>Aizaz Shabber Khan</a:t>
            </a:r>
          </a:p>
          <a:p>
            <a:pPr algn="ctr">
              <a:buClr>
                <a:schemeClr val="dk1"/>
              </a:buClr>
              <a:buSzPts val="3200"/>
            </a:pPr>
            <a:r>
              <a:rPr lang="en-US" sz="2800" dirty="0">
                <a:solidFill>
                  <a:schemeClr val="dk1"/>
                </a:solidFill>
                <a:latin typeface="Cambria"/>
                <a:ea typeface="Cambria"/>
              </a:rPr>
              <a:t>2024(S)-MS-DS-06</a:t>
            </a:r>
          </a:p>
          <a:p>
            <a:pPr algn="ctr"/>
            <a:r>
              <a:rPr lang="en-US" sz="2800" dirty="0">
                <a:solidFill>
                  <a:schemeClr val="dk1"/>
                </a:solidFill>
                <a:latin typeface="Cambria"/>
                <a:ea typeface="Cambria"/>
                <a:cs typeface="Gill Sans"/>
                <a:sym typeface="Gill Sans"/>
              </a:rPr>
              <a:t>Supervisor: </a:t>
            </a:r>
            <a:r>
              <a:rPr lang="en-US" sz="2800" dirty="0">
                <a:solidFill>
                  <a:schemeClr val="dk1"/>
                </a:solidFill>
                <a:latin typeface="Cambria"/>
                <a:ea typeface="Cambria"/>
                <a:sym typeface="Gill Sans"/>
              </a:rPr>
              <a:t>Dr. Ayesha Altaf</a:t>
            </a:r>
            <a:br>
              <a:rPr lang="en-US" sz="2800" dirty="0">
                <a:solidFill>
                  <a:schemeClr val="dk1"/>
                </a:solidFill>
                <a:latin typeface="Cambria"/>
                <a:ea typeface="Cambria"/>
                <a:sym typeface="Gill Sans"/>
              </a:rPr>
            </a:br>
            <a:r>
              <a:rPr lang="en-US" sz="2800" dirty="0">
                <a:solidFill>
                  <a:schemeClr val="dk1"/>
                </a:solidFill>
                <a:latin typeface="Cambria"/>
                <a:ea typeface="Cambria"/>
                <a:sym typeface="Gill Sans"/>
              </a:rPr>
              <a:t>Co-Supervisor</a:t>
            </a:r>
            <a:r>
              <a:rPr lang="en-US" sz="2800" dirty="0">
                <a:solidFill>
                  <a:schemeClr val="dk1"/>
                </a:solidFill>
                <a:latin typeface="Cambria"/>
                <a:ea typeface="Cambria"/>
                <a:cs typeface="Gill Sans"/>
                <a:sym typeface="Gill Sans"/>
              </a:rPr>
              <a:t>: Prof. Dr. Muhammad Shoaib</a:t>
            </a:r>
            <a:br>
              <a:rPr lang="en-US" sz="2800" dirty="0">
                <a:solidFill>
                  <a:schemeClr val="dk1"/>
                </a:solidFill>
                <a:latin typeface="Cambria"/>
                <a:ea typeface="Cambria"/>
                <a:cs typeface="Gill Sans"/>
                <a:sym typeface="Gill Sans"/>
              </a:rPr>
            </a:br>
            <a:r>
              <a:rPr lang="en-US" sz="2800" dirty="0">
                <a:solidFill>
                  <a:schemeClr val="dk1"/>
                </a:solidFill>
                <a:latin typeface="Cambria"/>
                <a:ea typeface="Cambria"/>
                <a:cs typeface="Gill Sans"/>
                <a:sym typeface="Gill Sans"/>
              </a:rPr>
              <a:t>Department of Computer Science</a:t>
            </a:r>
            <a:endParaRPr lang="en-US" sz="2800" dirty="0">
              <a:solidFill>
                <a:schemeClr val="dk1"/>
              </a:solidFill>
              <a:latin typeface="Cambria"/>
              <a:ea typeface="Cambria"/>
              <a:cs typeface="Calibri"/>
            </a:endParaRPr>
          </a:p>
        </p:txBody>
      </p:sp>
      <p:sp>
        <p:nvSpPr>
          <p:cNvPr id="2" name="TextBox 1"/>
          <p:cNvSpPr txBox="1"/>
          <p:nvPr/>
        </p:nvSpPr>
        <p:spPr>
          <a:xfrm>
            <a:off x="1524001" y="558642"/>
            <a:ext cx="9143999" cy="646331"/>
          </a:xfrm>
          <a:prstGeom prst="rect">
            <a:avLst/>
          </a:prstGeom>
          <a:noFill/>
        </p:spPr>
        <p:txBody>
          <a:bodyPr wrap="square" rtlCol="0">
            <a:spAutoFit/>
          </a:bodyPr>
          <a:lstStyle/>
          <a:p>
            <a:pPr algn="ctr"/>
            <a:r>
              <a:rPr lang="en-US" sz="3600" b="1" dirty="0">
                <a:solidFill>
                  <a:srgbClr val="002060"/>
                </a:solidFill>
                <a:latin typeface="Cambria" panose="02040503050406030204" pitchFamily="18" charset="0"/>
                <a:ea typeface="Cambria" panose="02040503050406030204" pitchFamily="18" charset="0"/>
                <a:cs typeface="Cambria"/>
                <a:sym typeface="Cambria"/>
              </a:rPr>
              <a:t>Department of Computer Science  </a:t>
            </a:r>
            <a:endParaRPr lang="en-US" sz="4000" dirty="0">
              <a:solidFill>
                <a:srgbClr val="002060"/>
              </a:solidFill>
            </a:endParaRPr>
          </a:p>
        </p:txBody>
      </p:sp>
      <p:pic>
        <p:nvPicPr>
          <p:cNvPr id="6" name="Google Shape;171;p28"/>
          <p:cNvPicPr preferRelativeResize="0"/>
          <p:nvPr/>
        </p:nvPicPr>
        <p:blipFill rotWithShape="1">
          <a:blip r:embed="rId3" cstate="email">
            <a:alphaModFix/>
            <a:extLst>
              <a:ext uri="{28A0092B-C50C-407E-A947-70E740481C1C}">
                <a14:useLocalDpi xmlns:a14="http://schemas.microsoft.com/office/drawing/2010/main"/>
              </a:ext>
            </a:extLst>
          </a:blip>
          <a:srcRect l="1" t="6761" r="6238" b="8561"/>
          <a:stretch/>
        </p:blipFill>
        <p:spPr>
          <a:xfrm>
            <a:off x="1330900" y="309715"/>
            <a:ext cx="1097280" cy="1097280"/>
          </a:xfrm>
          <a:prstGeom prst="rect">
            <a:avLst/>
          </a:prstGeom>
          <a:noFill/>
          <a:ln>
            <a:noFill/>
          </a:ln>
        </p:spPr>
      </p:pic>
      <p:pic>
        <p:nvPicPr>
          <p:cNvPr id="7" name="Picture 6" descr="cs final logo with color trnasparent.png"/>
          <p:cNvPicPr>
            <a:picLocks/>
          </p:cNvPicPr>
          <p:nvPr/>
        </p:nvPicPr>
        <p:blipFill>
          <a:blip r:embed="rId4"/>
          <a:stretch>
            <a:fillRect/>
          </a:stretch>
        </p:blipFill>
        <p:spPr>
          <a:xfrm>
            <a:off x="9745663" y="306646"/>
            <a:ext cx="1097280" cy="1097280"/>
          </a:xfrm>
          <a:prstGeom prst="rect">
            <a:avLst/>
          </a:prstGeom>
        </p:spPr>
      </p:pic>
      <p:sp>
        <p:nvSpPr>
          <p:cNvPr id="8" name="Google Shape;169;p28"/>
          <p:cNvSpPr txBox="1"/>
          <p:nvPr/>
        </p:nvSpPr>
        <p:spPr>
          <a:xfrm>
            <a:off x="1420678" y="5461565"/>
            <a:ext cx="9143999" cy="755844"/>
          </a:xfrm>
          <a:prstGeom prst="rect">
            <a:avLst/>
          </a:prstGeom>
          <a:noFill/>
          <a:ln>
            <a:noFill/>
          </a:ln>
        </p:spPr>
        <p:txBody>
          <a:bodyPr spcFirstLastPara="1" wrap="square" lIns="83114" tIns="41545" rIns="83114" bIns="41545" anchor="t" anchorCtr="0">
            <a:noAutofit/>
          </a:bodyPr>
          <a:lstStyle/>
          <a:p>
            <a:pPr marL="331935" indent="-255446" algn="ctr">
              <a:lnSpc>
                <a:spcPct val="80000"/>
              </a:lnSpc>
              <a:buClr>
                <a:srgbClr val="FFFFFF"/>
              </a:buClr>
              <a:buSzPts val="2080"/>
            </a:pPr>
            <a:endParaRPr sz="3200" b="1" dirty="0">
              <a:latin typeface="Cambria" panose="02040503050406030204" pitchFamily="18" charset="0"/>
              <a:ea typeface="Cambria" panose="02040503050406030204" pitchFamily="18" charset="0"/>
              <a:cs typeface="Gill Sans"/>
              <a:sym typeface="Gill Sans"/>
            </a:endParaRPr>
          </a:p>
          <a:p>
            <a:pPr marL="59172" indent="-18762" algn="ctr">
              <a:lnSpc>
                <a:spcPct val="80000"/>
              </a:lnSpc>
              <a:spcBef>
                <a:spcPts val="636"/>
              </a:spcBef>
              <a:buSzPts val="2240"/>
            </a:pPr>
            <a:r>
              <a:rPr lang="en-US" sz="3200" b="1" dirty="0">
                <a:latin typeface="Cambria" panose="02040503050406030204" pitchFamily="18" charset="0"/>
                <a:ea typeface="Cambria" panose="02040503050406030204" pitchFamily="18" charset="0"/>
                <a:cs typeface="Cambria"/>
                <a:sym typeface="Cambria"/>
              </a:rPr>
              <a:t>University of Engineering and Technology, Lahore</a:t>
            </a:r>
            <a:endParaRPr sz="3200" b="1" dirty="0">
              <a:latin typeface="Cambria" panose="02040503050406030204" pitchFamily="18" charset="0"/>
              <a:ea typeface="Cambria" panose="02040503050406030204" pitchFamily="18" charset="0"/>
            </a:endParaRPr>
          </a:p>
        </p:txBody>
      </p:sp>
      <p:sp>
        <p:nvSpPr>
          <p:cNvPr id="9" name="Slide Number Placeholder 8"/>
          <p:cNvSpPr>
            <a:spLocks noGrp="1"/>
          </p:cNvSpPr>
          <p:nvPr>
            <p:ph type="sldNum" idx="12"/>
          </p:nvPr>
        </p:nvSpPr>
        <p:spPr/>
        <p:txBody>
          <a:bodyPr/>
          <a:lstStyle/>
          <a:p>
            <a:fld id="{00000000-1234-1234-1234-123412341234}" type="slidenum">
              <a:rPr lang="en-US" smtClean="0"/>
              <a:pPr/>
              <a:t>1</a:t>
            </a:fld>
            <a:endParaRPr lang="en-US" dirty="0"/>
          </a:p>
        </p:txBody>
      </p:sp>
      <p:sp>
        <p:nvSpPr>
          <p:cNvPr id="10" name="TextBox 9">
            <a:extLst>
              <a:ext uri="{FF2B5EF4-FFF2-40B4-BE49-F238E27FC236}">
                <a16:creationId xmlns:a16="http://schemas.microsoft.com/office/drawing/2014/main" id="{CED174CA-70CB-400A-BCEC-4AAADF418BB7}"/>
              </a:ext>
            </a:extLst>
          </p:cNvPr>
          <p:cNvSpPr txBox="1"/>
          <p:nvPr/>
        </p:nvSpPr>
        <p:spPr>
          <a:xfrm>
            <a:off x="1544235" y="1487360"/>
            <a:ext cx="9021170" cy="1565493"/>
          </a:xfrm>
          <a:prstGeom prst="rect">
            <a:avLst/>
          </a:prstGeom>
          <a:noFill/>
        </p:spPr>
        <p:txBody>
          <a:bodyPr wrap="square" lIns="91440" tIns="45720" rIns="91440" bIns="45720" anchor="t">
            <a:spAutoFit/>
          </a:bodyPr>
          <a:lstStyle/>
          <a:p>
            <a:pPr algn="ctr">
              <a:lnSpc>
                <a:spcPts val="6160"/>
              </a:lnSpc>
            </a:pPr>
            <a:r>
              <a:rPr lang="en-US" sz="2800" b="1" dirty="0">
                <a:latin typeface="Roca Two Bold"/>
                <a:ea typeface="Roca Two Bold"/>
                <a:cs typeface="Roca Two Bold"/>
                <a:sym typeface="Roca Two Bold"/>
              </a:rPr>
              <a:t>EARLY DETECTION OF LUNG CANCER NODULES THROUGH CAPSULE NEURAL NETWORK</a:t>
            </a:r>
          </a:p>
        </p:txBody>
      </p:sp>
    </p:spTree>
    <p:extLst>
      <p:ext uri="{BB962C8B-B14F-4D97-AF65-F5344CB8AC3E}">
        <p14:creationId xmlns:p14="http://schemas.microsoft.com/office/powerpoint/2010/main" val="189566178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62"/>
        <p:cNvGrpSpPr/>
        <p:nvPr/>
      </p:nvGrpSpPr>
      <p:grpSpPr>
        <a:xfrm>
          <a:off x="0" y="0"/>
          <a:ext cx="0" cy="0"/>
          <a:chOff x="0" y="0"/>
          <a:chExt cx="0" cy="0"/>
        </a:xfrm>
      </p:grpSpPr>
      <p:sp>
        <p:nvSpPr>
          <p:cNvPr id="163" name="Google Shape;163;p27"/>
          <p:cNvSpPr txBox="1"/>
          <p:nvPr/>
        </p:nvSpPr>
        <p:spPr>
          <a:xfrm>
            <a:off x="604433" y="962377"/>
            <a:ext cx="8544297" cy="5181599"/>
          </a:xfrm>
          <a:prstGeom prst="rect">
            <a:avLst/>
          </a:prstGeom>
          <a:noFill/>
          <a:ln>
            <a:noFill/>
          </a:ln>
        </p:spPr>
        <p:txBody>
          <a:bodyPr spcFirstLastPara="1" wrap="square" lIns="90000" tIns="46800" rIns="90000" bIns="46800" anchor="ctr" anchorCtr="0">
            <a:noAutofit/>
          </a:bodyPr>
          <a:lstStyle>
            <a:defPPr>
              <a:defRPr lang="en-US"/>
            </a:defPPr>
            <a:lvl1pPr marL="228600" marR="0" lvl="0" indent="-228600" fontAlgn="auto">
              <a:lnSpc>
                <a:spcPct val="90000"/>
              </a:lnSpc>
              <a:spcBef>
                <a:spcPts val="1000"/>
              </a:spcBef>
              <a:spcAft>
                <a:spcPts val="0"/>
              </a:spcAft>
              <a:buClrTx/>
              <a:buSzTx/>
              <a:buFont typeface="Arial" panose="020B0604020202020204" pitchFamily="34" charset="0"/>
              <a:buChar char="•"/>
              <a:tabLst/>
              <a:defRPr kumimoji="0" sz="2800" b="0" i="0" u="none" strike="noStrike" cap="none" spc="0" normalizeH="0" baseline="0">
                <a:ln>
                  <a:noFill/>
                </a:ln>
                <a:solidFill>
                  <a:prstClr val="black"/>
                </a:solidFill>
                <a:effectLst/>
                <a:uLnTx/>
                <a:uFillTx/>
                <a:latin typeface="Times New Roman" panose="02020603050405020304" pitchFamily="18" charset="0"/>
                <a:cs typeface="Times New Roman" panose="02020603050405020304" pitchFamily="18" charset="0"/>
              </a:defRPr>
            </a:lvl1pPr>
          </a:lstStyle>
          <a:p>
            <a:r>
              <a:rPr lang="en-US" dirty="0"/>
              <a:t>Introduction</a:t>
            </a:r>
          </a:p>
          <a:p>
            <a:r>
              <a:rPr lang="en-US" dirty="0"/>
              <a:t>Literature Review</a:t>
            </a:r>
          </a:p>
          <a:p>
            <a:r>
              <a:rPr lang="en-US" dirty="0"/>
              <a:t>Research Gap</a:t>
            </a:r>
          </a:p>
          <a:p>
            <a:r>
              <a:rPr lang="en-US" dirty="0"/>
              <a:t>Problem Statement</a:t>
            </a:r>
          </a:p>
          <a:p>
            <a:r>
              <a:rPr lang="en-US" dirty="0"/>
              <a:t>Methodology</a:t>
            </a:r>
          </a:p>
          <a:p>
            <a:r>
              <a:rPr lang="en-US" dirty="0"/>
              <a:t>Model Evaluation</a:t>
            </a:r>
          </a:p>
          <a:p>
            <a:r>
              <a:rPr lang="en-US" dirty="0">
                <a:latin typeface="Times New Roman" panose="02020603050405020304" charset="0"/>
                <a:cs typeface="Times New Roman" panose="02020603050405020304" charset="0"/>
                <a:sym typeface="+mn-ea"/>
              </a:rPr>
              <a:t>Research Objective</a:t>
            </a:r>
            <a:endParaRPr lang="en-US" dirty="0"/>
          </a:p>
          <a:p>
            <a:r>
              <a:rPr lang="en-US" dirty="0"/>
              <a:t>References</a:t>
            </a:r>
          </a:p>
        </p:txBody>
      </p:sp>
      <p:sp>
        <p:nvSpPr>
          <p:cNvPr id="2" name="TextBox 1"/>
          <p:cNvSpPr txBox="1"/>
          <p:nvPr/>
        </p:nvSpPr>
        <p:spPr>
          <a:xfrm>
            <a:off x="838201" y="639211"/>
            <a:ext cx="9143999" cy="646331"/>
          </a:xfrm>
          <a:prstGeom prst="rect">
            <a:avLst/>
          </a:prstGeom>
          <a:noFill/>
        </p:spPr>
        <p:txBody>
          <a:bodyPr wrap="square" rtlCol="0">
            <a:spAutoFit/>
          </a:bodyPr>
          <a:lstStyle/>
          <a:p>
            <a:r>
              <a:rPr lang="en-US" sz="3600" b="1" dirty="0">
                <a:solidFill>
                  <a:srgbClr val="002060"/>
                </a:solidFill>
                <a:latin typeface="Cambria" panose="02040503050406030204" pitchFamily="18" charset="0"/>
                <a:ea typeface="Cambria" panose="02040503050406030204" pitchFamily="18" charset="0"/>
                <a:cs typeface="Cambria"/>
                <a:sym typeface="Cambria"/>
              </a:rPr>
              <a:t>Agenda </a:t>
            </a:r>
            <a:endParaRPr lang="en-US" sz="4000" dirty="0">
              <a:solidFill>
                <a:srgbClr val="002060"/>
              </a:solidFill>
            </a:endParaRPr>
          </a:p>
        </p:txBody>
      </p:sp>
      <p:sp>
        <p:nvSpPr>
          <p:cNvPr id="9" name="Slide Number Placeholder 8"/>
          <p:cNvSpPr>
            <a:spLocks noGrp="1"/>
          </p:cNvSpPr>
          <p:nvPr>
            <p:ph type="sldNum" idx="12"/>
          </p:nvPr>
        </p:nvSpPr>
        <p:spPr/>
        <p:txBody>
          <a:bodyPr/>
          <a:lstStyle/>
          <a:p>
            <a:fld id="{00000000-1234-1234-1234-123412341234}" type="slidenum">
              <a:rPr lang="en-US" smtClean="0"/>
              <a:pPr/>
              <a:t>2</a:t>
            </a:fld>
            <a:endParaRPr lang="en-US" dirty="0"/>
          </a:p>
        </p:txBody>
      </p:sp>
    </p:spTree>
    <p:extLst>
      <p:ext uri="{BB962C8B-B14F-4D97-AF65-F5344CB8AC3E}">
        <p14:creationId xmlns:p14="http://schemas.microsoft.com/office/powerpoint/2010/main" val="177082366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62"/>
        <p:cNvGrpSpPr/>
        <p:nvPr/>
      </p:nvGrpSpPr>
      <p:grpSpPr>
        <a:xfrm>
          <a:off x="0" y="0"/>
          <a:ext cx="0" cy="0"/>
          <a:chOff x="0" y="0"/>
          <a:chExt cx="0" cy="0"/>
        </a:xfrm>
      </p:grpSpPr>
      <p:sp>
        <p:nvSpPr>
          <p:cNvPr id="2" name="TextBox 1"/>
          <p:cNvSpPr txBox="1"/>
          <p:nvPr/>
        </p:nvSpPr>
        <p:spPr>
          <a:xfrm>
            <a:off x="206485" y="136330"/>
            <a:ext cx="9143999" cy="646331"/>
          </a:xfrm>
          <a:prstGeom prst="rect">
            <a:avLst/>
          </a:prstGeom>
          <a:noFill/>
        </p:spPr>
        <p:txBody>
          <a:bodyPr wrap="square" rtlCol="0">
            <a:spAutoFit/>
          </a:bodyPr>
          <a:lstStyle/>
          <a:p>
            <a:r>
              <a:rPr lang="en-US" sz="3600" b="1" dirty="0">
                <a:solidFill>
                  <a:srgbClr val="002060"/>
                </a:solidFill>
                <a:latin typeface="Cambria" panose="02040503050406030204" pitchFamily="18" charset="0"/>
                <a:ea typeface="Cambria" panose="02040503050406030204" pitchFamily="18" charset="0"/>
                <a:cs typeface="Cambria"/>
                <a:sym typeface="Cambria"/>
              </a:rPr>
              <a:t>Introduction </a:t>
            </a:r>
            <a:endParaRPr lang="en-US" sz="4000" dirty="0">
              <a:solidFill>
                <a:srgbClr val="002060"/>
              </a:solidFill>
            </a:endParaRPr>
          </a:p>
        </p:txBody>
      </p:sp>
      <p:sp>
        <p:nvSpPr>
          <p:cNvPr id="9" name="Slide Number Placeholder 8"/>
          <p:cNvSpPr>
            <a:spLocks noGrp="1"/>
          </p:cNvSpPr>
          <p:nvPr>
            <p:ph type="sldNum" idx="12"/>
          </p:nvPr>
        </p:nvSpPr>
        <p:spPr/>
        <p:txBody>
          <a:bodyPr/>
          <a:lstStyle/>
          <a:p>
            <a:fld id="{00000000-1234-1234-1234-123412341234}" type="slidenum">
              <a:rPr lang="en-US" smtClean="0"/>
              <a:pPr/>
              <a:t>3</a:t>
            </a:fld>
            <a:endParaRPr lang="en-US" dirty="0"/>
          </a:p>
        </p:txBody>
      </p:sp>
      <p:sp>
        <p:nvSpPr>
          <p:cNvPr id="3" name="TextBox 2">
            <a:extLst>
              <a:ext uri="{FF2B5EF4-FFF2-40B4-BE49-F238E27FC236}">
                <a16:creationId xmlns:a16="http://schemas.microsoft.com/office/drawing/2014/main" id="{42FB3555-6CA8-CA83-65DD-012BD281C7C3}"/>
              </a:ext>
            </a:extLst>
          </p:cNvPr>
          <p:cNvSpPr txBox="1"/>
          <p:nvPr/>
        </p:nvSpPr>
        <p:spPr>
          <a:xfrm>
            <a:off x="420832" y="689263"/>
            <a:ext cx="11255085" cy="571162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dirty="0">
                <a:latin typeface="Times New Roman" panose="02020603050405020304" pitchFamily="18" charset="0"/>
                <a:cs typeface="Times New Roman" panose="02020603050405020304" pitchFamily="18" charset="0"/>
              </a:rPr>
              <a:t>Lung cancer continues to be one of the most serious health challenges worldwide, contributing heavily to global cancer-related deaths (Stewart &amp; Wild, 2014). Although advances in medical imaging have made early detection possible through CT scans, achieving accurate and consistent diagnosis remains a persistent challenge (Shin et al., 2016). Computer-Assisted Diagnosis (CAD) systems have emerged as valuable tools for improving both the efficiency and precision of lung cancer detection by automating nodule identification, measuring size and location, and assisting in follow-up evaluations (Hendrix et al., 2024).</a:t>
            </a:r>
          </a:p>
          <a:p>
            <a:r>
              <a:rPr lang="en-US" sz="2000" dirty="0">
                <a:latin typeface="Times New Roman" panose="02020603050405020304" pitchFamily="18" charset="0"/>
                <a:cs typeface="Times New Roman" panose="02020603050405020304" pitchFamily="18" charset="0"/>
              </a:rPr>
              <a:t>Despite these advancements, traditional deep learning approaches such as Convolutional Neural Networks (CNNs) have inherent weaknesses. The pooling layers in CNNs, while reducing computational load, often lead to a loss of critical spatial information that is essential in medical imaging (Ma et al., 2024). Capsule Neural Networks (</a:t>
            </a:r>
            <a:r>
              <a:rPr lang="en-US" sz="2000" dirty="0" err="1">
                <a:latin typeface="Times New Roman" panose="02020603050405020304" pitchFamily="18" charset="0"/>
                <a:cs typeface="Times New Roman" panose="02020603050405020304" pitchFamily="18" charset="0"/>
              </a:rPr>
              <a:t>CapsNets</a:t>
            </a:r>
            <a:r>
              <a:rPr lang="en-US" sz="2000" dirty="0">
                <a:latin typeface="Times New Roman" panose="02020603050405020304" pitchFamily="18" charset="0"/>
                <a:cs typeface="Times New Roman" panose="02020603050405020304" pitchFamily="18" charset="0"/>
              </a:rPr>
              <a:t>) were developed to address this issue by maintaining spatial hierarchies and improving object recognition irrespective of position or orientation (</a:t>
            </a:r>
            <a:r>
              <a:rPr lang="en-US" sz="2000" dirty="0" err="1">
                <a:latin typeface="Times New Roman" panose="02020603050405020304" pitchFamily="18" charset="0"/>
                <a:cs typeface="Times New Roman" panose="02020603050405020304" pitchFamily="18" charset="0"/>
              </a:rPr>
              <a:t>Sabour</a:t>
            </a:r>
            <a:r>
              <a:rPr lang="en-US" sz="2000" dirty="0">
                <a:latin typeface="Times New Roman" panose="02020603050405020304" pitchFamily="18" charset="0"/>
                <a:cs typeface="Times New Roman" panose="02020603050405020304" pitchFamily="18" charset="0"/>
              </a:rPr>
              <a:t> et al., 2017). This characteristic makes </a:t>
            </a:r>
            <a:r>
              <a:rPr lang="en-US" sz="2000" dirty="0" err="1">
                <a:latin typeface="Times New Roman" panose="02020603050405020304" pitchFamily="18" charset="0"/>
                <a:cs typeface="Times New Roman" panose="02020603050405020304" pitchFamily="18" charset="0"/>
              </a:rPr>
              <a:t>CapsNets</a:t>
            </a:r>
            <a:r>
              <a:rPr lang="en-US" sz="2000" dirty="0">
                <a:latin typeface="Times New Roman" panose="02020603050405020304" pitchFamily="18" charset="0"/>
                <a:cs typeface="Times New Roman" panose="02020603050405020304" pitchFamily="18" charset="0"/>
              </a:rPr>
              <a:t> a strong candidate for enhancing lung nodule detection accuracy, reducing false positives, and achieving reliable results even with limited datasets (</a:t>
            </a:r>
            <a:r>
              <a:rPr lang="en-US" sz="2000" dirty="0" err="1">
                <a:latin typeface="Times New Roman" panose="02020603050405020304" pitchFamily="18" charset="0"/>
                <a:cs typeface="Times New Roman" panose="02020603050405020304" pitchFamily="18" charset="0"/>
              </a:rPr>
              <a:t>Xue</a:t>
            </a:r>
            <a:r>
              <a:rPr lang="en-US" sz="2000" dirty="0">
                <a:latin typeface="Times New Roman" panose="02020603050405020304" pitchFamily="18" charset="0"/>
                <a:cs typeface="Times New Roman" panose="02020603050405020304" pitchFamily="18" charset="0"/>
              </a:rPr>
              <a:t> et al., 2025).</a:t>
            </a:r>
          </a:p>
          <a:p>
            <a:r>
              <a:rPr lang="en-US" sz="2000" dirty="0">
                <a:latin typeface="Times New Roman" panose="02020603050405020304" pitchFamily="18" charset="0"/>
                <a:cs typeface="Times New Roman" panose="02020603050405020304" pitchFamily="18" charset="0"/>
              </a:rPr>
              <a:t>However, research applying </a:t>
            </a:r>
            <a:r>
              <a:rPr lang="en-US" sz="2000" dirty="0" err="1">
                <a:latin typeface="Times New Roman" panose="02020603050405020304" pitchFamily="18" charset="0"/>
                <a:cs typeface="Times New Roman" panose="02020603050405020304" pitchFamily="18" charset="0"/>
              </a:rPr>
              <a:t>CapsNets</a:t>
            </a:r>
            <a:r>
              <a:rPr lang="en-US" sz="2000" dirty="0">
                <a:latin typeface="Times New Roman" panose="02020603050405020304" pitchFamily="18" charset="0"/>
                <a:cs typeface="Times New Roman" panose="02020603050405020304" pitchFamily="18" charset="0"/>
              </a:rPr>
              <a:t> to lung cancer detection remains limited. There is a clear need for comparative studies that evaluate their performance against CNN models, validate their spatial awareness advantages in medical imaging, and assess their feasibility for integration into real-world healthcare screening systems (Kumar et al., 2015).</a:t>
            </a:r>
          </a:p>
          <a:p>
            <a:pPr algn="justLow">
              <a:lnSpc>
                <a:spcPts val="3359"/>
              </a:lnSpc>
            </a:pPr>
            <a:endParaRPr lang="en-US" sz="2000" dirty="0">
              <a:solidFill>
                <a:srgbClr val="031862"/>
              </a:solidFill>
              <a:latin typeface="Times New Roman" panose="02020603050405020304" pitchFamily="18" charset="0"/>
              <a:ea typeface="Gordita"/>
              <a:cs typeface="Times New Roman" panose="02020603050405020304" pitchFamily="18" charset="0"/>
              <a:sym typeface="Gordita"/>
            </a:endParaRPr>
          </a:p>
        </p:txBody>
      </p:sp>
    </p:spTree>
    <p:extLst>
      <p:ext uri="{BB962C8B-B14F-4D97-AF65-F5344CB8AC3E}">
        <p14:creationId xmlns:p14="http://schemas.microsoft.com/office/powerpoint/2010/main" val="177213471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128657-BC7D-4FE9-863C-176539E54D54}"/>
              </a:ext>
            </a:extLst>
          </p:cNvPr>
          <p:cNvSpPr>
            <a:spLocks noGrp="1"/>
          </p:cNvSpPr>
          <p:nvPr>
            <p:ph type="title"/>
          </p:nvPr>
        </p:nvSpPr>
        <p:spPr>
          <a:xfrm>
            <a:off x="132013" y="-148354"/>
            <a:ext cx="11218683" cy="1325563"/>
          </a:xfrm>
        </p:spPr>
        <p:txBody>
          <a:bodyPr/>
          <a:lstStyle/>
          <a:p>
            <a:r>
              <a:rPr lang="en-US" sz="3600" b="1" dirty="0">
                <a:solidFill>
                  <a:srgbClr val="002060"/>
                </a:solidFill>
                <a:latin typeface="Cambria" panose="02040503050406030204" pitchFamily="18" charset="0"/>
                <a:ea typeface="Cambria" panose="02040503050406030204" pitchFamily="18" charset="0"/>
                <a:cs typeface="Cambria"/>
              </a:rPr>
              <a:t>Literature</a:t>
            </a:r>
            <a:r>
              <a:rPr lang="en-US" dirty="0"/>
              <a:t> </a:t>
            </a:r>
            <a:r>
              <a:rPr lang="en-US" sz="3600" b="1" dirty="0">
                <a:solidFill>
                  <a:srgbClr val="002060"/>
                </a:solidFill>
                <a:latin typeface="Cambria" panose="02040503050406030204" pitchFamily="18" charset="0"/>
                <a:ea typeface="Cambria" panose="02040503050406030204" pitchFamily="18" charset="0"/>
                <a:cs typeface="Cambria"/>
              </a:rPr>
              <a:t>review</a:t>
            </a:r>
          </a:p>
        </p:txBody>
      </p:sp>
      <p:graphicFrame>
        <p:nvGraphicFramePr>
          <p:cNvPr id="3" name="Table 2">
            <a:extLst>
              <a:ext uri="{FF2B5EF4-FFF2-40B4-BE49-F238E27FC236}">
                <a16:creationId xmlns:a16="http://schemas.microsoft.com/office/drawing/2014/main" id="{1E9D7C87-15E7-CC48-233A-0811B5846FE7}"/>
              </a:ext>
            </a:extLst>
          </p:cNvPr>
          <p:cNvGraphicFramePr>
            <a:graphicFrameLocks noGrp="1"/>
          </p:cNvGraphicFramePr>
          <p:nvPr>
            <p:extLst>
              <p:ext uri="{D42A27DB-BD31-4B8C-83A1-F6EECF244321}">
                <p14:modId xmlns:p14="http://schemas.microsoft.com/office/powerpoint/2010/main" val="3542144437"/>
              </p:ext>
            </p:extLst>
          </p:nvPr>
        </p:nvGraphicFramePr>
        <p:xfrm>
          <a:off x="530578" y="1254125"/>
          <a:ext cx="10972800" cy="5157967"/>
        </p:xfrm>
        <a:graphic>
          <a:graphicData uri="http://schemas.openxmlformats.org/drawingml/2006/table">
            <a:tbl>
              <a:tblPr>
                <a:tableStyleId>{5C22544A-7EE6-4342-B048-85BDC9FD1C3A}</a:tableStyleId>
              </a:tblPr>
              <a:tblGrid>
                <a:gridCol w="680600">
                  <a:extLst>
                    <a:ext uri="{9D8B030D-6E8A-4147-A177-3AD203B41FA5}">
                      <a16:colId xmlns:a16="http://schemas.microsoft.com/office/drawing/2014/main" val="2598778696"/>
                    </a:ext>
                  </a:extLst>
                </a:gridCol>
                <a:gridCol w="1259112">
                  <a:extLst>
                    <a:ext uri="{9D8B030D-6E8A-4147-A177-3AD203B41FA5}">
                      <a16:colId xmlns:a16="http://schemas.microsoft.com/office/drawing/2014/main" val="2474146060"/>
                    </a:ext>
                  </a:extLst>
                </a:gridCol>
                <a:gridCol w="2586283">
                  <a:extLst>
                    <a:ext uri="{9D8B030D-6E8A-4147-A177-3AD203B41FA5}">
                      <a16:colId xmlns:a16="http://schemas.microsoft.com/office/drawing/2014/main" val="3897993131"/>
                    </a:ext>
                  </a:extLst>
                </a:gridCol>
                <a:gridCol w="1915727">
                  <a:extLst>
                    <a:ext uri="{9D8B030D-6E8A-4147-A177-3AD203B41FA5}">
                      <a16:colId xmlns:a16="http://schemas.microsoft.com/office/drawing/2014/main" val="433622196"/>
                    </a:ext>
                  </a:extLst>
                </a:gridCol>
                <a:gridCol w="2096039">
                  <a:extLst>
                    <a:ext uri="{9D8B030D-6E8A-4147-A177-3AD203B41FA5}">
                      <a16:colId xmlns:a16="http://schemas.microsoft.com/office/drawing/2014/main" val="2766659498"/>
                    </a:ext>
                  </a:extLst>
                </a:gridCol>
                <a:gridCol w="2435039">
                  <a:extLst>
                    <a:ext uri="{9D8B030D-6E8A-4147-A177-3AD203B41FA5}">
                      <a16:colId xmlns:a16="http://schemas.microsoft.com/office/drawing/2014/main" val="24794697"/>
                    </a:ext>
                  </a:extLst>
                </a:gridCol>
              </a:tblGrid>
              <a:tr h="410293">
                <a:tc>
                  <a:txBody>
                    <a:bodyPr/>
                    <a:lstStyle/>
                    <a:p>
                      <a:pPr marL="0" algn="ctr" defTabSz="914400" rtl="0" eaLnBrk="1" fontAlgn="base" latinLnBrk="0" hangingPunct="1">
                        <a:buNone/>
                      </a:pPr>
                      <a:r>
                        <a:rPr lang="en-US" sz="2000" b="1" kern="1200" dirty="0">
                          <a:solidFill>
                            <a:schemeClr val="lt1"/>
                          </a:solidFill>
                          <a:effectLst/>
                          <a:latin typeface="Times New Roman"/>
                          <a:ea typeface="+mn-ea"/>
                          <a:cs typeface="+mn-cs"/>
                        </a:rPr>
                        <a:t>Year</a:t>
                      </a:r>
                    </a:p>
                  </a:txBody>
                  <a:tcPr marL="8241" marR="8241" marT="8241" marB="0" anchor="ctr">
                    <a:solidFill>
                      <a:schemeClr val="accent1">
                        <a:lumMod val="75000"/>
                      </a:schemeClr>
                    </a:solidFill>
                  </a:tcPr>
                </a:tc>
                <a:tc>
                  <a:txBody>
                    <a:bodyPr/>
                    <a:lstStyle/>
                    <a:p>
                      <a:pPr marL="0" algn="ctr" defTabSz="914400" rtl="0" eaLnBrk="1" fontAlgn="base" latinLnBrk="0" hangingPunct="1">
                        <a:buNone/>
                      </a:pPr>
                      <a:r>
                        <a:rPr lang="en-US" sz="2000" b="1" kern="1200" dirty="0">
                          <a:solidFill>
                            <a:schemeClr val="lt1"/>
                          </a:solidFill>
                          <a:effectLst/>
                          <a:latin typeface="Times New Roman"/>
                          <a:ea typeface="+mn-ea"/>
                          <a:cs typeface="+mn-cs"/>
                        </a:rPr>
                        <a:t>Authors</a:t>
                      </a:r>
                    </a:p>
                  </a:txBody>
                  <a:tcPr marL="8241" marR="8241" marT="8241" marB="0" anchor="ctr">
                    <a:solidFill>
                      <a:schemeClr val="accent1">
                        <a:lumMod val="75000"/>
                      </a:schemeClr>
                    </a:solidFill>
                  </a:tcPr>
                </a:tc>
                <a:tc>
                  <a:txBody>
                    <a:bodyPr/>
                    <a:lstStyle/>
                    <a:p>
                      <a:pPr marL="0" algn="ctr" defTabSz="914400" rtl="0" eaLnBrk="1" fontAlgn="base" latinLnBrk="0" hangingPunct="1">
                        <a:buNone/>
                      </a:pPr>
                      <a:r>
                        <a:rPr lang="en-US" sz="2000" b="1" kern="1200" dirty="0">
                          <a:solidFill>
                            <a:schemeClr val="lt1"/>
                          </a:solidFill>
                          <a:effectLst/>
                          <a:latin typeface="Times New Roman"/>
                          <a:ea typeface="+mn-ea"/>
                          <a:cs typeface="+mn-cs"/>
                        </a:rPr>
                        <a:t>Model / Approach</a:t>
                      </a:r>
                    </a:p>
                  </a:txBody>
                  <a:tcPr marL="8241" marR="8241" marT="8241" marB="0" anchor="ctr">
                    <a:solidFill>
                      <a:schemeClr val="accent1">
                        <a:lumMod val="75000"/>
                      </a:schemeClr>
                    </a:solidFill>
                  </a:tcPr>
                </a:tc>
                <a:tc>
                  <a:txBody>
                    <a:bodyPr/>
                    <a:lstStyle/>
                    <a:p>
                      <a:pPr marL="0" algn="ctr" defTabSz="914400" rtl="0" eaLnBrk="1" fontAlgn="base" latinLnBrk="0" hangingPunct="1">
                        <a:buNone/>
                      </a:pPr>
                      <a:r>
                        <a:rPr lang="en-US" sz="2000" b="1" kern="1200" dirty="0">
                          <a:solidFill>
                            <a:schemeClr val="lt1"/>
                          </a:solidFill>
                          <a:effectLst/>
                          <a:latin typeface="Times New Roman"/>
                          <a:ea typeface="+mn-ea"/>
                          <a:cs typeface="+mn-cs"/>
                        </a:rPr>
                        <a:t>Dataset</a:t>
                      </a:r>
                    </a:p>
                  </a:txBody>
                  <a:tcPr marL="8241" marR="8241" marT="8241" marB="0" anchor="ctr">
                    <a:solidFill>
                      <a:schemeClr val="accent1">
                        <a:lumMod val="75000"/>
                      </a:schemeClr>
                    </a:solidFill>
                  </a:tcPr>
                </a:tc>
                <a:tc>
                  <a:txBody>
                    <a:bodyPr/>
                    <a:lstStyle/>
                    <a:p>
                      <a:pPr marL="0" algn="ctr" defTabSz="914400" rtl="0" eaLnBrk="1" fontAlgn="base" latinLnBrk="0" hangingPunct="1">
                        <a:buNone/>
                      </a:pPr>
                      <a:r>
                        <a:rPr lang="en-US" sz="2000" b="1" kern="1200" dirty="0">
                          <a:solidFill>
                            <a:schemeClr val="lt1"/>
                          </a:solidFill>
                          <a:effectLst/>
                          <a:latin typeface="Times New Roman"/>
                          <a:ea typeface="+mn-ea"/>
                          <a:cs typeface="+mn-cs"/>
                        </a:rPr>
                        <a:t>Key Findings</a:t>
                      </a:r>
                    </a:p>
                  </a:txBody>
                  <a:tcPr marL="8241" marR="8241" marT="8241" marB="0" anchor="ctr">
                    <a:solidFill>
                      <a:schemeClr val="accent1">
                        <a:lumMod val="75000"/>
                      </a:schemeClr>
                    </a:solidFill>
                  </a:tcPr>
                </a:tc>
                <a:tc>
                  <a:txBody>
                    <a:bodyPr/>
                    <a:lstStyle/>
                    <a:p>
                      <a:pPr marL="0" algn="ctr" defTabSz="914400" rtl="0" eaLnBrk="1" fontAlgn="base" latinLnBrk="0" hangingPunct="1">
                        <a:buNone/>
                      </a:pPr>
                      <a:r>
                        <a:rPr lang="en-US" sz="2000" b="1" kern="1200" dirty="0">
                          <a:solidFill>
                            <a:schemeClr val="lt1"/>
                          </a:solidFill>
                          <a:effectLst/>
                          <a:latin typeface="Times New Roman"/>
                          <a:ea typeface="+mn-ea"/>
                          <a:cs typeface="+mn-cs"/>
                        </a:rPr>
                        <a:t>Limitations / Gap</a:t>
                      </a:r>
                    </a:p>
                  </a:txBody>
                  <a:tcPr marL="8241" marR="8241" marT="8241" marB="0" anchor="ctr">
                    <a:solidFill>
                      <a:schemeClr val="accent1">
                        <a:lumMod val="75000"/>
                      </a:schemeClr>
                    </a:solidFill>
                  </a:tcPr>
                </a:tc>
                <a:extLst>
                  <a:ext uri="{0D108BD9-81ED-4DB2-BD59-A6C34878D82A}">
                    <a16:rowId xmlns:a16="http://schemas.microsoft.com/office/drawing/2014/main" val="2107825316"/>
                  </a:ext>
                </a:extLst>
              </a:tr>
              <a:tr h="791279">
                <a:tc>
                  <a:txBody>
                    <a:bodyPr/>
                    <a:lstStyle/>
                    <a:p>
                      <a:pPr fontAlgn="t"/>
                      <a:r>
                        <a:rPr lang="en-US" sz="1400" b="1">
                          <a:solidFill>
                            <a:schemeClr val="tx1"/>
                          </a:solidFill>
                          <a:effectLst/>
                        </a:rPr>
                        <a:t>2025</a:t>
                      </a:r>
                    </a:p>
                  </a:txBody>
                  <a:tcPr marL="60960" marR="60960" marT="60960" marB="60960"/>
                </a:tc>
                <a:tc>
                  <a:txBody>
                    <a:bodyPr/>
                    <a:lstStyle/>
                    <a:p>
                      <a:pPr fontAlgn="t"/>
                      <a:r>
                        <a:rPr lang="en-US" sz="1400">
                          <a:solidFill>
                            <a:schemeClr val="tx1"/>
                          </a:solidFill>
                          <a:effectLst/>
                        </a:rPr>
                        <a:t>Xue et al</a:t>
                      </a:r>
                    </a:p>
                  </a:txBody>
                  <a:tcPr marL="60960" marR="60960" marT="60960" marB="60960"/>
                </a:tc>
                <a:tc>
                  <a:txBody>
                    <a:bodyPr/>
                    <a:lstStyle/>
                    <a:p>
                      <a:pPr fontAlgn="t"/>
                      <a:r>
                        <a:rPr lang="en-US" sz="1400">
                          <a:solidFill>
                            <a:schemeClr val="tx1"/>
                          </a:solidFill>
                          <a:effectLst/>
                        </a:rPr>
                        <a:t>Vision Transformer (SEViT)</a:t>
                      </a:r>
                    </a:p>
                  </a:txBody>
                  <a:tcPr marL="60960" marR="60960" marT="60960" marB="60960"/>
                </a:tc>
                <a:tc>
                  <a:txBody>
                    <a:bodyPr/>
                    <a:lstStyle/>
                    <a:p>
                      <a:pPr fontAlgn="t"/>
                      <a:r>
                        <a:rPr lang="en-US" sz="1400">
                          <a:solidFill>
                            <a:schemeClr val="tx1"/>
                          </a:solidFill>
                          <a:effectLst/>
                        </a:rPr>
                        <a:t>LIDC-IDRI (1,018 scans)</a:t>
                      </a:r>
                    </a:p>
                  </a:txBody>
                  <a:tcPr marL="60960" marR="60960" marT="60960" marB="60960"/>
                </a:tc>
                <a:tc>
                  <a:txBody>
                    <a:bodyPr/>
                    <a:lstStyle/>
                    <a:p>
                      <a:pPr fontAlgn="t"/>
                      <a:r>
                        <a:rPr lang="en-US" sz="1400">
                          <a:solidFill>
                            <a:schemeClr val="tx1"/>
                          </a:solidFill>
                          <a:effectLst/>
                        </a:rPr>
                        <a:t>94.7% accuracy with SE attention blocks on multi-scale nodules</a:t>
                      </a:r>
                    </a:p>
                  </a:txBody>
                  <a:tcPr marL="60960" marR="60960" marT="60960" marB="60960"/>
                </a:tc>
                <a:tc>
                  <a:txBody>
                    <a:bodyPr/>
                    <a:lstStyle/>
                    <a:p>
                      <a:pPr fontAlgn="t"/>
                      <a:r>
                        <a:rPr lang="en-US" sz="1400">
                          <a:solidFill>
                            <a:schemeClr val="tx1"/>
                          </a:solidFill>
                          <a:effectLst/>
                        </a:rPr>
                        <a:t>High computational cost; struggles with &lt;3mm nodules</a:t>
                      </a:r>
                    </a:p>
                  </a:txBody>
                  <a:tcPr marL="60960" marR="60960" marT="60960" marB="60960"/>
                </a:tc>
                <a:extLst>
                  <a:ext uri="{0D108BD9-81ED-4DB2-BD59-A6C34878D82A}">
                    <a16:rowId xmlns:a16="http://schemas.microsoft.com/office/drawing/2014/main" val="2520088001"/>
                  </a:ext>
                </a:extLst>
              </a:tr>
              <a:tr h="791279">
                <a:tc>
                  <a:txBody>
                    <a:bodyPr/>
                    <a:lstStyle/>
                    <a:p>
                      <a:pPr fontAlgn="t"/>
                      <a:r>
                        <a:rPr lang="en-US" sz="1400" b="1">
                          <a:solidFill>
                            <a:schemeClr val="tx1"/>
                          </a:solidFill>
                          <a:effectLst/>
                        </a:rPr>
                        <a:t>2024</a:t>
                      </a:r>
                    </a:p>
                  </a:txBody>
                  <a:tcPr marL="60960" marR="60960" marT="60960" marB="60960"/>
                </a:tc>
                <a:tc>
                  <a:txBody>
                    <a:bodyPr/>
                    <a:lstStyle/>
                    <a:p>
                      <a:pPr fontAlgn="t"/>
                      <a:r>
                        <a:rPr lang="en-US" sz="1400">
                          <a:solidFill>
                            <a:schemeClr val="tx1"/>
                          </a:solidFill>
                          <a:effectLst/>
                        </a:rPr>
                        <a:t>Hendrix et al</a:t>
                      </a:r>
                    </a:p>
                  </a:txBody>
                  <a:tcPr marL="60960" marR="60960" marT="60960" marB="60960"/>
                </a:tc>
                <a:tc>
                  <a:txBody>
                    <a:bodyPr/>
                    <a:lstStyle/>
                    <a:p>
                      <a:pPr fontAlgn="t"/>
                      <a:r>
                        <a:rPr lang="en-US" sz="1400">
                          <a:solidFill>
                            <a:schemeClr val="tx1"/>
                          </a:solidFill>
                          <a:effectLst/>
                        </a:rPr>
                        <a:t>Deep Learning AI System</a:t>
                      </a:r>
                    </a:p>
                  </a:txBody>
                  <a:tcPr marL="60960" marR="60960" marT="60960" marB="60960"/>
                </a:tc>
                <a:tc>
                  <a:txBody>
                    <a:bodyPr/>
                    <a:lstStyle/>
                    <a:p>
                      <a:pPr fontAlgn="t"/>
                      <a:r>
                        <a:rPr lang="en-US" sz="1400">
                          <a:solidFill>
                            <a:schemeClr val="tx1"/>
                          </a:solidFill>
                          <a:effectLst/>
                        </a:rPr>
                        <a:t>Dutch Hospitals (500+ patients)</a:t>
                      </a:r>
                    </a:p>
                  </a:txBody>
                  <a:tcPr marL="60960" marR="60960" marT="60960" marB="60960"/>
                </a:tc>
                <a:tc>
                  <a:txBody>
                    <a:bodyPr/>
                    <a:lstStyle/>
                    <a:p>
                      <a:pPr fontAlgn="t"/>
                      <a:r>
                        <a:rPr lang="en-US" sz="1400">
                          <a:solidFill>
                            <a:schemeClr val="tx1"/>
                          </a:solidFill>
                          <a:effectLst/>
                        </a:rPr>
                        <a:t>96.9% sensitivity on primary cancer; 1 FP/scan; clinical validation</a:t>
                      </a:r>
                    </a:p>
                  </a:txBody>
                  <a:tcPr marL="60960" marR="60960" marT="60960" marB="60960"/>
                </a:tc>
                <a:tc>
                  <a:txBody>
                    <a:bodyPr/>
                    <a:lstStyle/>
                    <a:p>
                      <a:pPr fontAlgn="t"/>
                      <a:r>
                        <a:rPr lang="en-US" sz="1400">
                          <a:solidFill>
                            <a:schemeClr val="tx1"/>
                          </a:solidFill>
                          <a:effectLst/>
                        </a:rPr>
                        <a:t>Higher FP rate than radiologists; limited to diagnostic scans</a:t>
                      </a:r>
                    </a:p>
                  </a:txBody>
                  <a:tcPr marL="60960" marR="60960" marT="60960" marB="60960"/>
                </a:tc>
                <a:extLst>
                  <a:ext uri="{0D108BD9-81ED-4DB2-BD59-A6C34878D82A}">
                    <a16:rowId xmlns:a16="http://schemas.microsoft.com/office/drawing/2014/main" val="1195973410"/>
                  </a:ext>
                </a:extLst>
              </a:tr>
              <a:tr h="791279">
                <a:tc>
                  <a:txBody>
                    <a:bodyPr/>
                    <a:lstStyle/>
                    <a:p>
                      <a:pPr fontAlgn="t"/>
                      <a:r>
                        <a:rPr lang="en-US" sz="1400" b="1">
                          <a:solidFill>
                            <a:schemeClr val="tx1"/>
                          </a:solidFill>
                          <a:effectLst/>
                        </a:rPr>
                        <a:t>2024</a:t>
                      </a:r>
                    </a:p>
                  </a:txBody>
                  <a:tcPr marL="60960" marR="60960" marT="60960" marB="60960"/>
                </a:tc>
                <a:tc>
                  <a:txBody>
                    <a:bodyPr/>
                    <a:lstStyle/>
                    <a:p>
                      <a:pPr fontAlgn="t"/>
                      <a:r>
                        <a:rPr lang="en-US" sz="1400">
                          <a:solidFill>
                            <a:schemeClr val="tx1"/>
                          </a:solidFill>
                          <a:effectLst/>
                        </a:rPr>
                        <a:t>Ma et al</a:t>
                      </a:r>
                    </a:p>
                  </a:txBody>
                  <a:tcPr marL="60960" marR="60960" marT="60960" marB="60960"/>
                </a:tc>
                <a:tc>
                  <a:txBody>
                    <a:bodyPr/>
                    <a:lstStyle/>
                    <a:p>
                      <a:pPr fontAlgn="t"/>
                      <a:r>
                        <a:rPr lang="en-US" sz="1400">
                          <a:solidFill>
                            <a:schemeClr val="tx1"/>
                          </a:solidFill>
                          <a:effectLst/>
                        </a:rPr>
                        <a:t>Sequential CNN (SCNN)</a:t>
                      </a:r>
                    </a:p>
                  </a:txBody>
                  <a:tcPr marL="60960" marR="60960" marT="60960" marB="60960"/>
                </a:tc>
                <a:tc>
                  <a:txBody>
                    <a:bodyPr/>
                    <a:lstStyle/>
                    <a:p>
                      <a:pPr fontAlgn="t"/>
                      <a:r>
                        <a:rPr lang="en-US" sz="1400">
                          <a:solidFill>
                            <a:schemeClr val="tx1"/>
                          </a:solidFill>
                          <a:effectLst/>
                        </a:rPr>
                        <a:t>Hospital + LIDC/LUNA16</a:t>
                      </a:r>
                    </a:p>
                  </a:txBody>
                  <a:tcPr marL="60960" marR="60960" marT="60960" marB="60960"/>
                </a:tc>
                <a:tc>
                  <a:txBody>
                    <a:bodyPr/>
                    <a:lstStyle/>
                    <a:p>
                      <a:pPr fontAlgn="t"/>
                      <a:r>
                        <a:rPr lang="en-US" sz="1400" dirty="0">
                          <a:solidFill>
                            <a:schemeClr val="tx1"/>
                          </a:solidFill>
                          <a:effectLst/>
                        </a:rPr>
                        <a:t>91% accuracy; 40% faster inference; effective noise filtering</a:t>
                      </a:r>
                    </a:p>
                  </a:txBody>
                  <a:tcPr marL="60960" marR="60960" marT="60960" marB="60960"/>
                </a:tc>
                <a:tc>
                  <a:txBody>
                    <a:bodyPr/>
                    <a:lstStyle/>
                    <a:p>
                      <a:pPr fontAlgn="t"/>
                      <a:r>
                        <a:rPr lang="en-US" sz="1400">
                          <a:solidFill>
                            <a:schemeClr val="tx1"/>
                          </a:solidFill>
                          <a:effectLst/>
                        </a:rPr>
                        <a:t>Poor boundary detection; false positives remain; pooling loses spatial info</a:t>
                      </a:r>
                    </a:p>
                  </a:txBody>
                  <a:tcPr marL="60960" marR="60960" marT="60960" marB="60960"/>
                </a:tc>
                <a:extLst>
                  <a:ext uri="{0D108BD9-81ED-4DB2-BD59-A6C34878D82A}">
                    <a16:rowId xmlns:a16="http://schemas.microsoft.com/office/drawing/2014/main" val="3248747422"/>
                  </a:ext>
                </a:extLst>
              </a:tr>
              <a:tr h="791279">
                <a:tc>
                  <a:txBody>
                    <a:bodyPr/>
                    <a:lstStyle/>
                    <a:p>
                      <a:pPr fontAlgn="t"/>
                      <a:r>
                        <a:rPr lang="en-US" sz="1400" b="1">
                          <a:solidFill>
                            <a:schemeClr val="tx1"/>
                          </a:solidFill>
                          <a:effectLst/>
                        </a:rPr>
                        <a:t>2016</a:t>
                      </a:r>
                    </a:p>
                  </a:txBody>
                  <a:tcPr marL="60960" marR="60960" marT="60960" marB="60960"/>
                </a:tc>
                <a:tc>
                  <a:txBody>
                    <a:bodyPr/>
                    <a:lstStyle/>
                    <a:p>
                      <a:pPr fontAlgn="t"/>
                      <a:r>
                        <a:rPr lang="en-US" sz="1400">
                          <a:solidFill>
                            <a:schemeClr val="tx1"/>
                          </a:solidFill>
                          <a:effectLst/>
                        </a:rPr>
                        <a:t>Shin et al</a:t>
                      </a:r>
                    </a:p>
                  </a:txBody>
                  <a:tcPr marL="60960" marR="60960" marT="60960" marB="60960"/>
                </a:tc>
                <a:tc>
                  <a:txBody>
                    <a:bodyPr/>
                    <a:lstStyle/>
                    <a:p>
                      <a:pPr fontAlgn="t"/>
                      <a:r>
                        <a:rPr lang="en-US" sz="1400">
                          <a:solidFill>
                            <a:schemeClr val="tx1"/>
                          </a:solidFill>
                          <a:effectLst/>
                        </a:rPr>
                        <a:t>Deep CNN</a:t>
                      </a:r>
                    </a:p>
                  </a:txBody>
                  <a:tcPr marL="60960" marR="60960" marT="60960" marB="60960"/>
                </a:tc>
                <a:tc>
                  <a:txBody>
                    <a:bodyPr/>
                    <a:lstStyle/>
                    <a:p>
                      <a:pPr fontAlgn="t"/>
                      <a:r>
                        <a:rPr lang="en-US" sz="1400">
                          <a:solidFill>
                            <a:schemeClr val="tx1"/>
                          </a:solidFill>
                          <a:effectLst/>
                        </a:rPr>
                        <a:t>Thoraco-abdominal CT (427 patients)</a:t>
                      </a:r>
                    </a:p>
                  </a:txBody>
                  <a:tcPr marL="60960" marR="60960" marT="60960" marB="60960"/>
                </a:tc>
                <a:tc>
                  <a:txBody>
                    <a:bodyPr/>
                    <a:lstStyle/>
                    <a:p>
                      <a:pPr fontAlgn="t"/>
                      <a:r>
                        <a:rPr lang="en-US" sz="1400">
                          <a:solidFill>
                            <a:schemeClr val="tx1"/>
                          </a:solidFill>
                          <a:effectLst/>
                        </a:rPr>
                        <a:t>85% sensitivity; pioneering deep learning work for detection</a:t>
                      </a:r>
                    </a:p>
                  </a:txBody>
                  <a:tcPr marL="60960" marR="60960" marT="60960" marB="60960"/>
                </a:tc>
                <a:tc>
                  <a:txBody>
                    <a:bodyPr/>
                    <a:lstStyle/>
                    <a:p>
                      <a:pPr fontAlgn="t"/>
                      <a:r>
                        <a:rPr lang="en-US" sz="1400">
                          <a:solidFill>
                            <a:schemeClr val="tx1"/>
                          </a:solidFill>
                          <a:effectLst/>
                        </a:rPr>
                        <a:t>Poor generalization across scanners; needs fine-tuning per dataset</a:t>
                      </a:r>
                    </a:p>
                  </a:txBody>
                  <a:tcPr marL="60960" marR="60960" marT="60960" marB="60960"/>
                </a:tc>
                <a:extLst>
                  <a:ext uri="{0D108BD9-81ED-4DB2-BD59-A6C34878D82A}">
                    <a16:rowId xmlns:a16="http://schemas.microsoft.com/office/drawing/2014/main" val="2635676632"/>
                  </a:ext>
                </a:extLst>
              </a:tr>
              <a:tr h="791279">
                <a:tc>
                  <a:txBody>
                    <a:bodyPr/>
                    <a:lstStyle/>
                    <a:p>
                      <a:pPr fontAlgn="t"/>
                      <a:r>
                        <a:rPr lang="en-US" sz="1400" b="1">
                          <a:solidFill>
                            <a:schemeClr val="tx1"/>
                          </a:solidFill>
                          <a:effectLst/>
                        </a:rPr>
                        <a:t>2015</a:t>
                      </a:r>
                    </a:p>
                  </a:txBody>
                  <a:tcPr marL="60960" marR="60960" marT="60960" marB="60960"/>
                </a:tc>
                <a:tc>
                  <a:txBody>
                    <a:bodyPr/>
                    <a:lstStyle/>
                    <a:p>
                      <a:pPr fontAlgn="t"/>
                      <a:r>
                        <a:rPr lang="en-US" sz="1400">
                          <a:solidFill>
                            <a:schemeClr val="tx1"/>
                          </a:solidFill>
                          <a:effectLst/>
                        </a:rPr>
                        <a:t>Kumar et al</a:t>
                      </a:r>
                    </a:p>
                  </a:txBody>
                  <a:tcPr marL="60960" marR="60960" marT="60960" marB="60960"/>
                </a:tc>
                <a:tc>
                  <a:txBody>
                    <a:bodyPr/>
                    <a:lstStyle/>
                    <a:p>
                      <a:pPr fontAlgn="t"/>
                      <a:r>
                        <a:rPr lang="en-US" sz="1400">
                          <a:solidFill>
                            <a:schemeClr val="tx1"/>
                          </a:solidFill>
                          <a:effectLst/>
                        </a:rPr>
                        <a:t>Autoencoder CNN</a:t>
                      </a:r>
                    </a:p>
                  </a:txBody>
                  <a:tcPr marL="60960" marR="60960" marT="60960" marB="60960"/>
                </a:tc>
                <a:tc>
                  <a:txBody>
                    <a:bodyPr/>
                    <a:lstStyle/>
                    <a:p>
                      <a:pPr fontAlgn="t"/>
                      <a:r>
                        <a:rPr lang="en-US" sz="1400">
                          <a:solidFill>
                            <a:schemeClr val="tx1"/>
                          </a:solidFill>
                          <a:effectLst/>
                        </a:rPr>
                        <a:t>LIDC (1,018 scans)</a:t>
                      </a:r>
                    </a:p>
                  </a:txBody>
                  <a:tcPr marL="60960" marR="60960" marT="60960" marB="60960"/>
                </a:tc>
                <a:tc>
                  <a:txBody>
                    <a:bodyPr/>
                    <a:lstStyle/>
                    <a:p>
                      <a:pPr fontAlgn="t"/>
                      <a:r>
                        <a:rPr lang="en-US" sz="1400">
                          <a:solidFill>
                            <a:schemeClr val="tx1"/>
                          </a:solidFill>
                          <a:effectLst/>
                        </a:rPr>
                        <a:t>75% accuracy; unsupervised feature learning</a:t>
                      </a:r>
                    </a:p>
                  </a:txBody>
                  <a:tcPr marL="60960" marR="60960" marT="60960" marB="60960"/>
                </a:tc>
                <a:tc>
                  <a:txBody>
                    <a:bodyPr/>
                    <a:lstStyle/>
                    <a:p>
                      <a:pPr fontAlgn="t"/>
                      <a:r>
                        <a:rPr lang="en-US" sz="1400">
                          <a:solidFill>
                            <a:schemeClr val="tx1"/>
                          </a:solidFill>
                          <a:effectLst/>
                        </a:rPr>
                        <a:t>Significant overfitting; low accuracy on limited data</a:t>
                      </a:r>
                    </a:p>
                  </a:txBody>
                  <a:tcPr marL="60960" marR="60960" marT="60960" marB="60960"/>
                </a:tc>
                <a:extLst>
                  <a:ext uri="{0D108BD9-81ED-4DB2-BD59-A6C34878D82A}">
                    <a16:rowId xmlns:a16="http://schemas.microsoft.com/office/drawing/2014/main" val="1513327536"/>
                  </a:ext>
                </a:extLst>
              </a:tr>
              <a:tr h="791279">
                <a:tc>
                  <a:txBody>
                    <a:bodyPr/>
                    <a:lstStyle/>
                    <a:p>
                      <a:pPr fontAlgn="t"/>
                      <a:r>
                        <a:rPr lang="en-US" sz="1400" b="1">
                          <a:solidFill>
                            <a:schemeClr val="tx1"/>
                          </a:solidFill>
                          <a:effectLst/>
                        </a:rPr>
                        <a:t>2014</a:t>
                      </a:r>
                    </a:p>
                  </a:txBody>
                  <a:tcPr marL="60960" marR="60960" marT="60960" marB="60960"/>
                </a:tc>
                <a:tc>
                  <a:txBody>
                    <a:bodyPr/>
                    <a:lstStyle/>
                    <a:p>
                      <a:pPr fontAlgn="t"/>
                      <a:r>
                        <a:rPr lang="en-US" sz="1400">
                          <a:solidFill>
                            <a:schemeClr val="tx1"/>
                          </a:solidFill>
                          <a:effectLst/>
                        </a:rPr>
                        <a:t>Stewart &amp; Wild</a:t>
                      </a:r>
                    </a:p>
                  </a:txBody>
                  <a:tcPr marL="60960" marR="60960" marT="60960" marB="60960"/>
                </a:tc>
                <a:tc>
                  <a:txBody>
                    <a:bodyPr/>
                    <a:lstStyle/>
                    <a:p>
                      <a:pPr fontAlgn="t"/>
                      <a:r>
                        <a:rPr lang="en-US" sz="1400">
                          <a:solidFill>
                            <a:schemeClr val="tx1"/>
                          </a:solidFill>
                          <a:effectLst/>
                        </a:rPr>
                        <a:t>Statistical Analysis</a:t>
                      </a:r>
                    </a:p>
                  </a:txBody>
                  <a:tcPr marL="60960" marR="60960" marT="60960" marB="60960"/>
                </a:tc>
                <a:tc>
                  <a:txBody>
                    <a:bodyPr/>
                    <a:lstStyle/>
                    <a:p>
                      <a:pPr fontAlgn="t"/>
                      <a:r>
                        <a:rPr lang="en-US" sz="1400">
                          <a:solidFill>
                            <a:schemeClr val="tx1"/>
                          </a:solidFill>
                          <a:effectLst/>
                        </a:rPr>
                        <a:t>Global Registry (14M cases)</a:t>
                      </a:r>
                    </a:p>
                  </a:txBody>
                  <a:tcPr marL="60960" marR="60960" marT="60960" marB="60960"/>
                </a:tc>
                <a:tc>
                  <a:txBody>
                    <a:bodyPr/>
                    <a:lstStyle/>
                    <a:p>
                      <a:pPr fontAlgn="t"/>
                      <a:r>
                        <a:rPr lang="en-US" sz="1400">
                          <a:solidFill>
                            <a:schemeClr val="tx1"/>
                          </a:solidFill>
                          <a:effectLst/>
                        </a:rPr>
                        <a:t>1.59M lung cancer deaths annually; establishes urgency</a:t>
                      </a:r>
                    </a:p>
                  </a:txBody>
                  <a:tcPr marL="60960" marR="60960" marT="60960" marB="60960"/>
                </a:tc>
                <a:tc>
                  <a:txBody>
                    <a:bodyPr/>
                    <a:lstStyle/>
                    <a:p>
                      <a:pPr fontAlgn="t"/>
                      <a:r>
                        <a:rPr lang="en-US" sz="1400" dirty="0">
                          <a:solidFill>
                            <a:schemeClr val="tx1"/>
                          </a:solidFill>
                          <a:effectLst/>
                        </a:rPr>
                        <a:t>No automation; highlights need for CAD systems</a:t>
                      </a:r>
                    </a:p>
                  </a:txBody>
                  <a:tcPr marL="60960" marR="60960" marT="60960" marB="60960"/>
                </a:tc>
                <a:extLst>
                  <a:ext uri="{0D108BD9-81ED-4DB2-BD59-A6C34878D82A}">
                    <a16:rowId xmlns:a16="http://schemas.microsoft.com/office/drawing/2014/main" val="1950943027"/>
                  </a:ext>
                </a:extLst>
              </a:tr>
            </a:tbl>
          </a:graphicData>
        </a:graphic>
      </p:graphicFrame>
    </p:spTree>
    <p:extLst>
      <p:ext uri="{BB962C8B-B14F-4D97-AF65-F5344CB8AC3E}">
        <p14:creationId xmlns:p14="http://schemas.microsoft.com/office/powerpoint/2010/main" val="356154106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3A9D6F-0A7F-41A5-96FC-71F774A38C39}"/>
              </a:ext>
            </a:extLst>
          </p:cNvPr>
          <p:cNvSpPr>
            <a:spLocks noGrp="1"/>
          </p:cNvSpPr>
          <p:nvPr>
            <p:ph type="title"/>
          </p:nvPr>
        </p:nvSpPr>
        <p:spPr>
          <a:xfrm>
            <a:off x="104775" y="0"/>
            <a:ext cx="10515600" cy="1325563"/>
          </a:xfrm>
        </p:spPr>
        <p:txBody>
          <a:bodyPr>
            <a:normAutofit/>
          </a:bodyPr>
          <a:lstStyle/>
          <a:p>
            <a:r>
              <a:rPr lang="en-US" sz="3600" b="1" dirty="0">
                <a:solidFill>
                  <a:srgbClr val="002060"/>
                </a:solidFill>
                <a:latin typeface="Cambria" panose="02040503050406030204" pitchFamily="18" charset="0"/>
                <a:ea typeface="Cambria" panose="02040503050406030204" pitchFamily="18" charset="0"/>
                <a:cs typeface="Cambria"/>
              </a:rPr>
              <a:t>Literature</a:t>
            </a:r>
            <a:r>
              <a:rPr lang="en-US" sz="3600" dirty="0"/>
              <a:t> </a:t>
            </a:r>
            <a:r>
              <a:rPr lang="en-US" sz="3600" b="1" dirty="0">
                <a:solidFill>
                  <a:srgbClr val="002060"/>
                </a:solidFill>
                <a:latin typeface="Cambria" panose="02040503050406030204" pitchFamily="18" charset="0"/>
                <a:ea typeface="Cambria" panose="02040503050406030204" pitchFamily="18" charset="0"/>
                <a:cs typeface="Cambria"/>
              </a:rPr>
              <a:t>review</a:t>
            </a:r>
            <a:endParaRPr lang="en-US" sz="3600" dirty="0"/>
          </a:p>
        </p:txBody>
      </p:sp>
      <p:graphicFrame>
        <p:nvGraphicFramePr>
          <p:cNvPr id="4" name="Content Placeholder 3">
            <a:extLst>
              <a:ext uri="{FF2B5EF4-FFF2-40B4-BE49-F238E27FC236}">
                <a16:creationId xmlns:a16="http://schemas.microsoft.com/office/drawing/2014/main" id="{AD2B3321-0C04-44D0-B79D-03FDFF89BB1C}"/>
              </a:ext>
            </a:extLst>
          </p:cNvPr>
          <p:cNvGraphicFramePr>
            <a:graphicFrameLocks noGrp="1"/>
          </p:cNvGraphicFramePr>
          <p:nvPr>
            <p:ph idx="1"/>
            <p:extLst>
              <p:ext uri="{D42A27DB-BD31-4B8C-83A1-F6EECF244321}">
                <p14:modId xmlns:p14="http://schemas.microsoft.com/office/powerpoint/2010/main" val="2390573356"/>
              </p:ext>
            </p:extLst>
          </p:nvPr>
        </p:nvGraphicFramePr>
        <p:xfrm>
          <a:off x="381000" y="953908"/>
          <a:ext cx="11468101" cy="5835733"/>
        </p:xfrm>
        <a:graphic>
          <a:graphicData uri="http://schemas.openxmlformats.org/drawingml/2006/table">
            <a:tbl>
              <a:tblPr>
                <a:tableStyleId>{5C22544A-7EE6-4342-B048-85BDC9FD1C3A}</a:tableStyleId>
              </a:tblPr>
              <a:tblGrid>
                <a:gridCol w="711322">
                  <a:extLst>
                    <a:ext uri="{9D8B030D-6E8A-4147-A177-3AD203B41FA5}">
                      <a16:colId xmlns:a16="http://schemas.microsoft.com/office/drawing/2014/main" val="4190560603"/>
                    </a:ext>
                  </a:extLst>
                </a:gridCol>
                <a:gridCol w="1315947">
                  <a:extLst>
                    <a:ext uri="{9D8B030D-6E8A-4147-A177-3AD203B41FA5}">
                      <a16:colId xmlns:a16="http://schemas.microsoft.com/office/drawing/2014/main" val="3027465754"/>
                    </a:ext>
                  </a:extLst>
                </a:gridCol>
                <a:gridCol w="2703025">
                  <a:extLst>
                    <a:ext uri="{9D8B030D-6E8A-4147-A177-3AD203B41FA5}">
                      <a16:colId xmlns:a16="http://schemas.microsoft.com/office/drawing/2014/main" val="2102900712"/>
                    </a:ext>
                  </a:extLst>
                </a:gridCol>
                <a:gridCol w="2002201">
                  <a:extLst>
                    <a:ext uri="{9D8B030D-6E8A-4147-A177-3AD203B41FA5}">
                      <a16:colId xmlns:a16="http://schemas.microsoft.com/office/drawing/2014/main" val="3241913873"/>
                    </a:ext>
                  </a:extLst>
                </a:gridCol>
                <a:gridCol w="2190652">
                  <a:extLst>
                    <a:ext uri="{9D8B030D-6E8A-4147-A177-3AD203B41FA5}">
                      <a16:colId xmlns:a16="http://schemas.microsoft.com/office/drawing/2014/main" val="3035041824"/>
                    </a:ext>
                  </a:extLst>
                </a:gridCol>
                <a:gridCol w="2544954">
                  <a:extLst>
                    <a:ext uri="{9D8B030D-6E8A-4147-A177-3AD203B41FA5}">
                      <a16:colId xmlns:a16="http://schemas.microsoft.com/office/drawing/2014/main" val="267709535"/>
                    </a:ext>
                  </a:extLst>
                </a:gridCol>
              </a:tblGrid>
              <a:tr h="410293">
                <a:tc>
                  <a:txBody>
                    <a:bodyPr/>
                    <a:lstStyle/>
                    <a:p>
                      <a:pPr marL="0" algn="ctr" defTabSz="914400" rtl="0" eaLnBrk="1" fontAlgn="base" latinLnBrk="0" hangingPunct="1">
                        <a:buNone/>
                      </a:pPr>
                      <a:r>
                        <a:rPr lang="en-US" sz="2000" b="1" kern="1200" dirty="0">
                          <a:solidFill>
                            <a:schemeClr val="lt1"/>
                          </a:solidFill>
                          <a:effectLst/>
                          <a:latin typeface="Times New Roman"/>
                          <a:ea typeface="+mn-ea"/>
                          <a:cs typeface="+mn-cs"/>
                        </a:rPr>
                        <a:t>Year</a:t>
                      </a:r>
                    </a:p>
                  </a:txBody>
                  <a:tcPr marL="8241" marR="8241" marT="8241" marB="0" anchor="ctr">
                    <a:solidFill>
                      <a:schemeClr val="accent1">
                        <a:lumMod val="75000"/>
                      </a:schemeClr>
                    </a:solidFill>
                  </a:tcPr>
                </a:tc>
                <a:tc>
                  <a:txBody>
                    <a:bodyPr/>
                    <a:lstStyle/>
                    <a:p>
                      <a:pPr marL="0" algn="ctr" defTabSz="914400" rtl="0" eaLnBrk="1" fontAlgn="base" latinLnBrk="0" hangingPunct="1">
                        <a:buNone/>
                      </a:pPr>
                      <a:r>
                        <a:rPr lang="en-US" sz="2000" b="1" kern="1200" dirty="0">
                          <a:solidFill>
                            <a:schemeClr val="lt1"/>
                          </a:solidFill>
                          <a:effectLst/>
                          <a:latin typeface="Times New Roman"/>
                          <a:ea typeface="+mn-ea"/>
                          <a:cs typeface="+mn-cs"/>
                        </a:rPr>
                        <a:t>Authors</a:t>
                      </a:r>
                    </a:p>
                  </a:txBody>
                  <a:tcPr marL="8241" marR="8241" marT="8241" marB="0" anchor="ctr">
                    <a:solidFill>
                      <a:schemeClr val="accent1">
                        <a:lumMod val="75000"/>
                      </a:schemeClr>
                    </a:solidFill>
                  </a:tcPr>
                </a:tc>
                <a:tc>
                  <a:txBody>
                    <a:bodyPr/>
                    <a:lstStyle/>
                    <a:p>
                      <a:pPr marL="0" algn="ctr" defTabSz="914400" rtl="0" eaLnBrk="1" fontAlgn="base" latinLnBrk="0" hangingPunct="1">
                        <a:buNone/>
                      </a:pPr>
                      <a:r>
                        <a:rPr lang="en-US" sz="2000" b="1" kern="1200" dirty="0">
                          <a:solidFill>
                            <a:schemeClr val="lt1"/>
                          </a:solidFill>
                          <a:effectLst/>
                          <a:latin typeface="Times New Roman"/>
                          <a:ea typeface="+mn-ea"/>
                          <a:cs typeface="+mn-cs"/>
                        </a:rPr>
                        <a:t>Model / Approach</a:t>
                      </a:r>
                    </a:p>
                  </a:txBody>
                  <a:tcPr marL="8241" marR="8241" marT="8241" marB="0" anchor="ctr">
                    <a:solidFill>
                      <a:schemeClr val="accent1">
                        <a:lumMod val="75000"/>
                      </a:schemeClr>
                    </a:solidFill>
                  </a:tcPr>
                </a:tc>
                <a:tc>
                  <a:txBody>
                    <a:bodyPr/>
                    <a:lstStyle/>
                    <a:p>
                      <a:pPr marL="0" algn="ctr" defTabSz="914400" rtl="0" eaLnBrk="1" fontAlgn="base" latinLnBrk="0" hangingPunct="1">
                        <a:buNone/>
                      </a:pPr>
                      <a:r>
                        <a:rPr lang="en-US" sz="2000" b="1" kern="1200" dirty="0">
                          <a:solidFill>
                            <a:schemeClr val="lt1"/>
                          </a:solidFill>
                          <a:effectLst/>
                          <a:latin typeface="Times New Roman"/>
                          <a:ea typeface="+mn-ea"/>
                          <a:cs typeface="+mn-cs"/>
                        </a:rPr>
                        <a:t>Dataset</a:t>
                      </a:r>
                    </a:p>
                  </a:txBody>
                  <a:tcPr marL="8241" marR="8241" marT="8241" marB="0" anchor="ctr">
                    <a:solidFill>
                      <a:schemeClr val="accent1">
                        <a:lumMod val="75000"/>
                      </a:schemeClr>
                    </a:solidFill>
                  </a:tcPr>
                </a:tc>
                <a:tc>
                  <a:txBody>
                    <a:bodyPr/>
                    <a:lstStyle/>
                    <a:p>
                      <a:pPr marL="0" algn="ctr" defTabSz="914400" rtl="0" eaLnBrk="1" fontAlgn="base" latinLnBrk="0" hangingPunct="1">
                        <a:buNone/>
                      </a:pPr>
                      <a:r>
                        <a:rPr lang="en-US" sz="2000" b="1" kern="1200" dirty="0">
                          <a:solidFill>
                            <a:schemeClr val="lt1"/>
                          </a:solidFill>
                          <a:effectLst/>
                          <a:latin typeface="Times New Roman"/>
                          <a:ea typeface="+mn-ea"/>
                          <a:cs typeface="+mn-cs"/>
                        </a:rPr>
                        <a:t>Key Findings</a:t>
                      </a:r>
                    </a:p>
                  </a:txBody>
                  <a:tcPr marL="8241" marR="8241" marT="8241" marB="0" anchor="ctr">
                    <a:solidFill>
                      <a:schemeClr val="accent1">
                        <a:lumMod val="75000"/>
                      </a:schemeClr>
                    </a:solidFill>
                  </a:tcPr>
                </a:tc>
                <a:tc>
                  <a:txBody>
                    <a:bodyPr/>
                    <a:lstStyle/>
                    <a:p>
                      <a:pPr marL="0" algn="ctr" defTabSz="914400" rtl="0" eaLnBrk="1" fontAlgn="base" latinLnBrk="0" hangingPunct="1">
                        <a:buNone/>
                      </a:pPr>
                      <a:r>
                        <a:rPr lang="en-US" sz="2000" b="1" kern="1200" dirty="0">
                          <a:solidFill>
                            <a:schemeClr val="lt1"/>
                          </a:solidFill>
                          <a:effectLst/>
                          <a:latin typeface="Times New Roman"/>
                          <a:ea typeface="+mn-ea"/>
                          <a:cs typeface="+mn-cs"/>
                        </a:rPr>
                        <a:t>Limitations / Gap</a:t>
                      </a:r>
                    </a:p>
                  </a:txBody>
                  <a:tcPr marL="8241" marR="8241" marT="8241" marB="0" anchor="ctr">
                    <a:solidFill>
                      <a:schemeClr val="accent1">
                        <a:lumMod val="75000"/>
                      </a:schemeClr>
                    </a:solidFill>
                  </a:tcPr>
                </a:tc>
                <a:extLst>
                  <a:ext uri="{0D108BD9-81ED-4DB2-BD59-A6C34878D82A}">
                    <a16:rowId xmlns:a16="http://schemas.microsoft.com/office/drawing/2014/main" val="1910568202"/>
                  </a:ext>
                </a:extLst>
              </a:tr>
              <a:tr h="791279">
                <a:tc>
                  <a:txBody>
                    <a:bodyPr/>
                    <a:lstStyle/>
                    <a:p>
                      <a:pPr fontAlgn="t"/>
                      <a:r>
                        <a:rPr lang="en-US" sz="1400" b="0" dirty="0">
                          <a:solidFill>
                            <a:schemeClr val="tx1"/>
                          </a:solidFill>
                          <a:effectLst/>
                        </a:rPr>
                        <a:t>2025</a:t>
                      </a:r>
                    </a:p>
                  </a:txBody>
                  <a:tcPr marT="91440" marB="91440"/>
                </a:tc>
                <a:tc>
                  <a:txBody>
                    <a:bodyPr/>
                    <a:lstStyle/>
                    <a:p>
                      <a:pPr fontAlgn="t"/>
                      <a:r>
                        <a:rPr lang="en-US" sz="1400">
                          <a:solidFill>
                            <a:schemeClr val="tx1"/>
                          </a:solidFill>
                          <a:effectLst/>
                        </a:rPr>
                        <a:t>Liu et al</a:t>
                      </a:r>
                    </a:p>
                  </a:txBody>
                  <a:tcPr marT="91440" marB="91440"/>
                </a:tc>
                <a:tc>
                  <a:txBody>
                    <a:bodyPr/>
                    <a:lstStyle/>
                    <a:p>
                      <a:pPr fontAlgn="t"/>
                      <a:r>
                        <a:rPr lang="en-US" sz="1400" dirty="0">
                          <a:solidFill>
                            <a:schemeClr val="tx1"/>
                          </a:solidFill>
                          <a:effectLst/>
                        </a:rPr>
                        <a:t>Hybrid CNN-RNN with Attention Mechanism</a:t>
                      </a:r>
                    </a:p>
                  </a:txBody>
                  <a:tcPr marT="91440" marB="91440"/>
                </a:tc>
                <a:tc>
                  <a:txBody>
                    <a:bodyPr/>
                    <a:lstStyle/>
                    <a:p>
                      <a:pPr fontAlgn="t"/>
                      <a:r>
                        <a:rPr lang="en-US" sz="1400">
                          <a:solidFill>
                            <a:schemeClr val="tx1"/>
                          </a:solidFill>
                          <a:effectLst/>
                        </a:rPr>
                        <a:t>LUNA16 + LIDC-IDRI</a:t>
                      </a:r>
                    </a:p>
                  </a:txBody>
                  <a:tcPr marT="91440" marB="91440"/>
                </a:tc>
                <a:tc>
                  <a:txBody>
                    <a:bodyPr/>
                    <a:lstStyle/>
                    <a:p>
                      <a:pPr fontAlgn="t"/>
                      <a:r>
                        <a:rPr lang="en-US" sz="1400">
                          <a:solidFill>
                            <a:schemeClr val="tx1"/>
                          </a:solidFill>
                          <a:effectLst/>
                        </a:rPr>
                        <a:t>92.3% sensitivity; reduced false positives through attention-based feature filtering; effective on multi-scale nodules</a:t>
                      </a:r>
                    </a:p>
                  </a:txBody>
                  <a:tcPr marT="91440" marB="91440"/>
                </a:tc>
                <a:tc>
                  <a:txBody>
                    <a:bodyPr/>
                    <a:lstStyle/>
                    <a:p>
                      <a:pPr fontAlgn="t"/>
                      <a:r>
                        <a:rPr lang="en-US" sz="1400" dirty="0">
                          <a:solidFill>
                            <a:schemeClr val="tx1"/>
                          </a:solidFill>
                          <a:effectLst/>
                        </a:rPr>
                        <a:t>No comparison with </a:t>
                      </a:r>
                      <a:r>
                        <a:rPr lang="en-US" sz="1400" dirty="0" err="1">
                          <a:solidFill>
                            <a:schemeClr val="tx1"/>
                          </a:solidFill>
                          <a:effectLst/>
                        </a:rPr>
                        <a:t>CapsNets</a:t>
                      </a:r>
                      <a:r>
                        <a:rPr lang="en-US" sz="1400" dirty="0">
                          <a:solidFill>
                            <a:schemeClr val="tx1"/>
                          </a:solidFill>
                          <a:effectLst/>
                        </a:rPr>
                        <a:t>; requires post-processing steps; inference time not optimized</a:t>
                      </a:r>
                    </a:p>
                  </a:txBody>
                  <a:tcPr marT="91440" marB="91440"/>
                </a:tc>
                <a:extLst>
                  <a:ext uri="{0D108BD9-81ED-4DB2-BD59-A6C34878D82A}">
                    <a16:rowId xmlns:a16="http://schemas.microsoft.com/office/drawing/2014/main" val="3779368469"/>
                  </a:ext>
                </a:extLst>
              </a:tr>
              <a:tr h="791279">
                <a:tc>
                  <a:txBody>
                    <a:bodyPr/>
                    <a:lstStyle/>
                    <a:p>
                      <a:pPr fontAlgn="t"/>
                      <a:r>
                        <a:rPr lang="en-US" sz="1400" b="0" dirty="0">
                          <a:solidFill>
                            <a:schemeClr val="tx1"/>
                          </a:solidFill>
                          <a:effectLst/>
                        </a:rPr>
                        <a:t>2023</a:t>
                      </a:r>
                    </a:p>
                  </a:txBody>
                  <a:tcPr marT="91440" marB="91440"/>
                </a:tc>
                <a:tc>
                  <a:txBody>
                    <a:bodyPr/>
                    <a:lstStyle/>
                    <a:p>
                      <a:pPr fontAlgn="t"/>
                      <a:r>
                        <a:rPr lang="en-US" sz="1400">
                          <a:solidFill>
                            <a:schemeClr val="tx1"/>
                          </a:solidFill>
                          <a:effectLst/>
                        </a:rPr>
                        <a:t>Chen et al</a:t>
                      </a:r>
                    </a:p>
                  </a:txBody>
                  <a:tcPr marT="91440" marB="91440"/>
                </a:tc>
                <a:tc>
                  <a:txBody>
                    <a:bodyPr/>
                    <a:lstStyle/>
                    <a:p>
                      <a:pPr fontAlgn="t"/>
                      <a:r>
                        <a:rPr lang="en-US" sz="1400" dirty="0">
                          <a:solidFill>
                            <a:schemeClr val="tx1"/>
                          </a:solidFill>
                          <a:effectLst/>
                        </a:rPr>
                        <a:t>3D Convolutional Neural Network with Feature Pyramid</a:t>
                      </a:r>
                    </a:p>
                  </a:txBody>
                  <a:tcPr marT="91440" marB="91440"/>
                </a:tc>
                <a:tc>
                  <a:txBody>
                    <a:bodyPr/>
                    <a:lstStyle/>
                    <a:p>
                      <a:pPr fontAlgn="t"/>
                      <a:r>
                        <a:rPr lang="en-US" sz="1400" dirty="0">
                          <a:solidFill>
                            <a:schemeClr val="tx1"/>
                          </a:solidFill>
                          <a:effectLst/>
                        </a:rPr>
                        <a:t>LIDC-IDRI + Private Hospital Dataset</a:t>
                      </a:r>
                    </a:p>
                  </a:txBody>
                  <a:tcPr marT="91440" marB="91440"/>
                </a:tc>
                <a:tc>
                  <a:txBody>
                    <a:bodyPr/>
                    <a:lstStyle/>
                    <a:p>
                      <a:pPr fontAlgn="t"/>
                      <a:r>
                        <a:rPr lang="en-US" sz="1400">
                          <a:solidFill>
                            <a:schemeClr val="tx1"/>
                          </a:solidFill>
                          <a:effectLst/>
                        </a:rPr>
                        <a:t>88.5% detection rate; effective 3D context understanding; improved detection of nodules at different depths; validation on 1200+ CT scans</a:t>
                      </a:r>
                    </a:p>
                  </a:txBody>
                  <a:tcPr marT="91440" marB="91440"/>
                </a:tc>
                <a:tc>
                  <a:txBody>
                    <a:bodyPr/>
                    <a:lstStyle/>
                    <a:p>
                      <a:pPr fontAlgn="t"/>
                      <a:r>
                        <a:rPr lang="en-US" sz="1400">
                          <a:solidFill>
                            <a:schemeClr val="tx1"/>
                          </a:solidFill>
                          <a:effectLst/>
                        </a:rPr>
                        <a:t>Poor generalization across different CT scanners; requires extensive fine-tuning for new datasets; computationally expensive</a:t>
                      </a:r>
                    </a:p>
                  </a:txBody>
                  <a:tcPr marT="91440" marB="91440"/>
                </a:tc>
                <a:extLst>
                  <a:ext uri="{0D108BD9-81ED-4DB2-BD59-A6C34878D82A}">
                    <a16:rowId xmlns:a16="http://schemas.microsoft.com/office/drawing/2014/main" val="2967456378"/>
                  </a:ext>
                </a:extLst>
              </a:tr>
              <a:tr h="791279">
                <a:tc>
                  <a:txBody>
                    <a:bodyPr/>
                    <a:lstStyle/>
                    <a:p>
                      <a:pPr fontAlgn="t"/>
                      <a:r>
                        <a:rPr lang="en-US" sz="1400" b="0" dirty="0">
                          <a:solidFill>
                            <a:schemeClr val="tx1"/>
                          </a:solidFill>
                          <a:effectLst/>
                        </a:rPr>
                        <a:t>2022</a:t>
                      </a:r>
                    </a:p>
                  </a:txBody>
                  <a:tcPr marT="91440" marB="91440"/>
                </a:tc>
                <a:tc>
                  <a:txBody>
                    <a:bodyPr/>
                    <a:lstStyle/>
                    <a:p>
                      <a:pPr fontAlgn="t"/>
                      <a:r>
                        <a:rPr lang="en-US" sz="1400">
                          <a:solidFill>
                            <a:schemeClr val="tx1"/>
                          </a:solidFill>
                          <a:effectLst/>
                        </a:rPr>
                        <a:t>Wang et al</a:t>
                      </a:r>
                    </a:p>
                  </a:txBody>
                  <a:tcPr marT="91440" marB="91440"/>
                </a:tc>
                <a:tc>
                  <a:txBody>
                    <a:bodyPr/>
                    <a:lstStyle/>
                    <a:p>
                      <a:pPr fontAlgn="t"/>
                      <a:r>
                        <a:rPr lang="en-US" sz="1400">
                          <a:solidFill>
                            <a:schemeClr val="tx1"/>
                          </a:solidFill>
                          <a:effectLst/>
                        </a:rPr>
                        <a:t>ResNet-50 with Transfer Learning</a:t>
                      </a:r>
                    </a:p>
                  </a:txBody>
                  <a:tcPr marT="91440" marB="91440"/>
                </a:tc>
                <a:tc>
                  <a:txBody>
                    <a:bodyPr/>
                    <a:lstStyle/>
                    <a:p>
                      <a:pPr fontAlgn="t"/>
                      <a:r>
                        <a:rPr lang="en-US" sz="1400">
                          <a:solidFill>
                            <a:schemeClr val="tx1"/>
                          </a:solidFill>
                          <a:effectLst/>
                        </a:rPr>
                        <a:t>LUNA16 Dataset</a:t>
                      </a:r>
                    </a:p>
                  </a:txBody>
                  <a:tcPr marT="91440" marB="91440"/>
                </a:tc>
                <a:tc>
                  <a:txBody>
                    <a:bodyPr/>
                    <a:lstStyle/>
                    <a:p>
                      <a:pPr fontAlgn="t"/>
                      <a:r>
                        <a:rPr lang="en-US" sz="1400">
                          <a:solidFill>
                            <a:schemeClr val="tx1"/>
                          </a:solidFill>
                          <a:effectLst/>
                        </a:rPr>
                        <a:t>87.2% accuracy; transfer learning reduces training time; pre-training on ImageNet helps feature extraction</a:t>
                      </a:r>
                    </a:p>
                  </a:txBody>
                  <a:tcPr marT="91440" marB="91440"/>
                </a:tc>
                <a:tc>
                  <a:txBody>
                    <a:bodyPr/>
                    <a:lstStyle/>
                    <a:p>
                      <a:pPr fontAlgn="t"/>
                      <a:r>
                        <a:rPr lang="en-US" sz="1400" dirty="0">
                          <a:solidFill>
                            <a:schemeClr val="tx1"/>
                          </a:solidFill>
                          <a:effectLst/>
                        </a:rPr>
                        <a:t>Overfitting on small datasets; pooling layers lose spatial information; limited effectiveness on irregular nodules</a:t>
                      </a:r>
                    </a:p>
                  </a:txBody>
                  <a:tcPr marT="91440" marB="91440"/>
                </a:tc>
                <a:extLst>
                  <a:ext uri="{0D108BD9-81ED-4DB2-BD59-A6C34878D82A}">
                    <a16:rowId xmlns:a16="http://schemas.microsoft.com/office/drawing/2014/main" val="3051226830"/>
                  </a:ext>
                </a:extLst>
              </a:tr>
              <a:tr h="791279">
                <a:tc>
                  <a:txBody>
                    <a:bodyPr/>
                    <a:lstStyle/>
                    <a:p>
                      <a:pPr fontAlgn="t"/>
                      <a:r>
                        <a:rPr lang="en-US" sz="1400" b="0" dirty="0">
                          <a:solidFill>
                            <a:schemeClr val="tx1"/>
                          </a:solidFill>
                          <a:effectLst/>
                        </a:rPr>
                        <a:t>2021</a:t>
                      </a:r>
                    </a:p>
                  </a:txBody>
                  <a:tcPr marT="91440" marB="91440"/>
                </a:tc>
                <a:tc>
                  <a:txBody>
                    <a:bodyPr/>
                    <a:lstStyle/>
                    <a:p>
                      <a:pPr fontAlgn="t"/>
                      <a:r>
                        <a:rPr lang="en-US" sz="1400">
                          <a:solidFill>
                            <a:schemeClr val="tx1"/>
                          </a:solidFill>
                          <a:effectLst/>
                        </a:rPr>
                        <a:t>Anderson &amp; Smith</a:t>
                      </a:r>
                    </a:p>
                  </a:txBody>
                  <a:tcPr marT="91440" marB="91440"/>
                </a:tc>
                <a:tc>
                  <a:txBody>
                    <a:bodyPr/>
                    <a:lstStyle/>
                    <a:p>
                      <a:pPr fontAlgn="t"/>
                      <a:r>
                        <a:rPr lang="en-US" sz="1400">
                          <a:solidFill>
                            <a:schemeClr val="tx1"/>
                          </a:solidFill>
                          <a:effectLst/>
                        </a:rPr>
                        <a:t>U-Net Segmentation with Post-Processing</a:t>
                      </a:r>
                    </a:p>
                  </a:txBody>
                  <a:tcPr marT="91440" marB="91440"/>
                </a:tc>
                <a:tc>
                  <a:txBody>
                    <a:bodyPr/>
                    <a:lstStyle/>
                    <a:p>
                      <a:pPr fontAlgn="t"/>
                      <a:r>
                        <a:rPr lang="es-ES" sz="1400">
                          <a:solidFill>
                            <a:schemeClr val="tx1"/>
                          </a:solidFill>
                          <a:effectLst/>
                        </a:rPr>
                        <a:t>LIDC Dataset + Mayo Clinic Data</a:t>
                      </a:r>
                    </a:p>
                  </a:txBody>
                  <a:tcPr marT="91440" marB="91440"/>
                </a:tc>
                <a:tc>
                  <a:txBody>
                    <a:bodyPr/>
                    <a:lstStyle/>
                    <a:p>
                      <a:pPr fontAlgn="t"/>
                      <a:r>
                        <a:rPr lang="en-US" sz="1400">
                          <a:solidFill>
                            <a:schemeClr val="tx1"/>
                          </a:solidFill>
                          <a:effectLst/>
                        </a:rPr>
                        <a:t>89.1% segmentation accuracy; effective boundary delineation; useful for nodule size measurement and follow-up</a:t>
                      </a:r>
                    </a:p>
                  </a:txBody>
                  <a:tcPr marT="91440" marB="91440"/>
                </a:tc>
                <a:tc>
                  <a:txBody>
                    <a:bodyPr/>
                    <a:lstStyle/>
                    <a:p>
                      <a:pPr fontAlgn="t"/>
                      <a:r>
                        <a:rPr lang="en-US" sz="1400" dirty="0">
                          <a:solidFill>
                            <a:schemeClr val="tx1"/>
                          </a:solidFill>
                          <a:effectLst/>
                        </a:rPr>
                        <a:t>Requires manual annotation; high computational cost; not suitable for real-time screening</a:t>
                      </a:r>
                    </a:p>
                  </a:txBody>
                  <a:tcPr marT="91440" marB="91440"/>
                </a:tc>
                <a:extLst>
                  <a:ext uri="{0D108BD9-81ED-4DB2-BD59-A6C34878D82A}">
                    <a16:rowId xmlns:a16="http://schemas.microsoft.com/office/drawing/2014/main" val="1880755410"/>
                  </a:ext>
                </a:extLst>
              </a:tr>
            </a:tbl>
          </a:graphicData>
        </a:graphic>
      </p:graphicFrame>
    </p:spTree>
    <p:extLst>
      <p:ext uri="{BB962C8B-B14F-4D97-AF65-F5344CB8AC3E}">
        <p14:creationId xmlns:p14="http://schemas.microsoft.com/office/powerpoint/2010/main" val="396744745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62"/>
        <p:cNvGrpSpPr/>
        <p:nvPr/>
      </p:nvGrpSpPr>
      <p:grpSpPr>
        <a:xfrm>
          <a:off x="0" y="0"/>
          <a:ext cx="0" cy="0"/>
          <a:chOff x="0" y="0"/>
          <a:chExt cx="0" cy="0"/>
        </a:xfrm>
      </p:grpSpPr>
      <p:sp>
        <p:nvSpPr>
          <p:cNvPr id="2" name="TextBox 1"/>
          <p:cNvSpPr txBox="1"/>
          <p:nvPr/>
        </p:nvSpPr>
        <p:spPr>
          <a:xfrm>
            <a:off x="530578" y="393152"/>
            <a:ext cx="9143999" cy="646331"/>
          </a:xfrm>
          <a:prstGeom prst="rect">
            <a:avLst/>
          </a:prstGeom>
          <a:noFill/>
        </p:spPr>
        <p:txBody>
          <a:bodyPr wrap="square" rtlCol="0">
            <a:spAutoFit/>
          </a:bodyPr>
          <a:lstStyle/>
          <a:p>
            <a:r>
              <a:rPr lang="en-US" sz="3600" b="1" dirty="0">
                <a:solidFill>
                  <a:srgbClr val="002060"/>
                </a:solidFill>
                <a:latin typeface="Cambria" panose="02040503050406030204" pitchFamily="18" charset="0"/>
                <a:ea typeface="Cambria" panose="02040503050406030204" pitchFamily="18" charset="0"/>
              </a:rPr>
              <a:t>Research Gap</a:t>
            </a:r>
          </a:p>
        </p:txBody>
      </p:sp>
      <p:sp>
        <p:nvSpPr>
          <p:cNvPr id="9" name="Slide Number Placeholder 8"/>
          <p:cNvSpPr>
            <a:spLocks noGrp="1"/>
          </p:cNvSpPr>
          <p:nvPr>
            <p:ph type="sldNum" idx="12"/>
          </p:nvPr>
        </p:nvSpPr>
        <p:spPr/>
        <p:txBody>
          <a:bodyPr/>
          <a:lstStyle/>
          <a:p>
            <a:fld id="{00000000-1234-1234-1234-123412341234}" type="slidenum">
              <a:rPr lang="en-US" smtClean="0"/>
              <a:pPr/>
              <a:t>6</a:t>
            </a:fld>
            <a:endParaRPr lang="en-US" dirty="0"/>
          </a:p>
        </p:txBody>
      </p:sp>
      <p:sp>
        <p:nvSpPr>
          <p:cNvPr id="4" name="Rectangle 2">
            <a:extLst>
              <a:ext uri="{FF2B5EF4-FFF2-40B4-BE49-F238E27FC236}">
                <a16:creationId xmlns:a16="http://schemas.microsoft.com/office/drawing/2014/main" id="{ED514870-6126-C71B-96A0-8B70CCD56A10}"/>
              </a:ext>
            </a:extLst>
          </p:cNvPr>
          <p:cNvSpPr>
            <a:spLocks noChangeArrowheads="1"/>
          </p:cNvSpPr>
          <p:nvPr/>
        </p:nvSpPr>
        <p:spPr bwMode="auto">
          <a:xfrm rot="10800000" flipV="1">
            <a:off x="530578" y="1460599"/>
            <a:ext cx="11218406" cy="452431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342900" lvl="0" indent="-342900" algn="just" eaLnBrk="0" fontAlgn="base" hangingPunct="0">
              <a:spcBef>
                <a:spcPct val="0"/>
              </a:spcBef>
              <a:spcAft>
                <a:spcPct val="0"/>
              </a:spcAft>
              <a:buFont typeface="Arial" panose="020B0604020202020204" pitchFamily="34" charset="0"/>
              <a:buChar char="•"/>
            </a:pPr>
            <a:r>
              <a:rPr lang="en-US" sz="2400" dirty="0"/>
              <a:t>Existing CNN-based methods fail to preserve spatial relationships, leading to reduced diagnostic precision, as noted by </a:t>
            </a:r>
            <a:r>
              <a:rPr lang="en-US" sz="2400" b="1" dirty="0"/>
              <a:t>Scherer et al. (2010)</a:t>
            </a:r>
            <a:r>
              <a:rPr lang="en-US" sz="2400" dirty="0"/>
              <a:t> and </a:t>
            </a:r>
            <a:r>
              <a:rPr lang="en-US" sz="2400" b="1" dirty="0"/>
              <a:t>Shin et al. (2016)</a:t>
            </a:r>
            <a:r>
              <a:rPr lang="en-US" sz="2400" dirty="0"/>
              <a:t> [5][7].</a:t>
            </a:r>
            <a:endPar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342900" lvl="0" indent="-342900" algn="just" eaLnBrk="0" fontAlgn="base" hangingPunct="0">
              <a:spcBef>
                <a:spcPct val="0"/>
              </a:spcBef>
              <a:spcAft>
                <a:spcPct val="0"/>
              </a:spcAft>
              <a:buFont typeface="Arial" panose="020B0604020202020204" pitchFamily="34" charset="0"/>
              <a:buChar char="•"/>
            </a:pPr>
            <a:r>
              <a:rPr lang="en-US" sz="2400" dirty="0"/>
              <a:t>Few studies, such as that by </a:t>
            </a:r>
            <a:r>
              <a:rPr lang="en-US" sz="2400" b="1" dirty="0"/>
              <a:t>Sabour et al. (2017)</a:t>
            </a:r>
            <a:r>
              <a:rPr lang="en-US" sz="2400" dirty="0"/>
              <a:t>, have explored the potential of Capsule Neural Networks (CapsNets) in lung nodule detection [4].</a:t>
            </a:r>
            <a:endPar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342900" lvl="0" indent="-342900" algn="just" eaLnBrk="0" fontAlgn="base" hangingPunct="0">
              <a:spcBef>
                <a:spcPct val="0"/>
              </a:spcBef>
              <a:spcAft>
                <a:spcPct val="0"/>
              </a:spcAft>
              <a:buFont typeface="Arial" panose="020B0604020202020204" pitchFamily="34" charset="0"/>
              <a:buChar char="•"/>
            </a:pPr>
            <a:r>
              <a:rPr lang="en-US" sz="2400" dirty="0"/>
              <a:t>Comparative performance between CNN and CapsNet architectures remains largely untested in medical imaging, despite the foundational work by </a:t>
            </a:r>
            <a:r>
              <a:rPr lang="en-US" sz="2400" b="1" dirty="0"/>
              <a:t>Sabour et al. (2017)</a:t>
            </a:r>
            <a:r>
              <a:rPr lang="en-US" sz="2400" dirty="0"/>
              <a:t> and </a:t>
            </a:r>
            <a:r>
              <a:rPr lang="en-US" sz="2400" b="1" dirty="0"/>
              <a:t>Scherer et al. (2010)</a:t>
            </a:r>
            <a:r>
              <a:rPr lang="en-US" sz="2400" dirty="0"/>
              <a:t> [4][5].</a:t>
            </a:r>
          </a:p>
          <a:p>
            <a:pPr marL="342900" lvl="0" indent="-342900" algn="just" eaLnBrk="0" fontAlgn="base" hangingPunct="0">
              <a:spcBef>
                <a:spcPct val="0"/>
              </a:spcBef>
              <a:spcAft>
                <a:spcPct val="0"/>
              </a:spcAft>
              <a:buFont typeface="Arial" panose="020B0604020202020204" pitchFamily="34" charset="0"/>
              <a:buChar char="•"/>
            </a:pPr>
            <a:r>
              <a:rPr lang="en-US" sz="2400" dirty="0"/>
              <a:t>The real-world feasibility and computational efficiency of CapsNet-based models are still under-researched, as suggested by </a:t>
            </a:r>
            <a:r>
              <a:rPr lang="en-US" sz="2400" b="1" dirty="0"/>
              <a:t>Sabour et al. (2017)</a:t>
            </a:r>
            <a:r>
              <a:rPr lang="en-US" sz="2400" dirty="0"/>
              <a:t> [4].</a:t>
            </a:r>
          </a:p>
          <a:p>
            <a:pPr marL="342900" lvl="0" indent="-342900" algn="just" eaLnBrk="0" fontAlgn="base" hangingPunct="0">
              <a:spcBef>
                <a:spcPct val="0"/>
              </a:spcBef>
              <a:spcAft>
                <a:spcPct val="0"/>
              </a:spcAft>
              <a:buFont typeface="Arial" panose="020B0604020202020204" pitchFamily="34" charset="0"/>
              <a:buChar char="•"/>
            </a:pPr>
            <a:r>
              <a:rPr lang="en-US" sz="2400" dirty="0"/>
              <a:t>There is a lack of standardized evaluation frameworks combining accuracy, sensitivity, and false-positive reduction in CapsNet studies, as highlighted by </a:t>
            </a:r>
            <a:r>
              <a:rPr lang="en-US" sz="2400" b="1" dirty="0"/>
              <a:t>Sabour et al. (2017)</a:t>
            </a:r>
            <a:r>
              <a:rPr lang="en-US" sz="2400" dirty="0"/>
              <a:t> and </a:t>
            </a:r>
            <a:r>
              <a:rPr lang="en-US" sz="2400" b="1" dirty="0"/>
              <a:t>Setio et al. (2016)</a:t>
            </a:r>
            <a:r>
              <a:rPr lang="en-US" sz="2400" dirty="0"/>
              <a:t> [4][6].</a:t>
            </a:r>
          </a:p>
        </p:txBody>
      </p:sp>
    </p:spTree>
    <p:extLst>
      <p:ext uri="{BB962C8B-B14F-4D97-AF65-F5344CB8AC3E}">
        <p14:creationId xmlns:p14="http://schemas.microsoft.com/office/powerpoint/2010/main" val="387048061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D1FD28-8C5B-42D2-ADB1-B86DECB7BC0C}"/>
              </a:ext>
            </a:extLst>
          </p:cNvPr>
          <p:cNvSpPr>
            <a:spLocks noGrp="1"/>
          </p:cNvSpPr>
          <p:nvPr>
            <p:ph type="title"/>
          </p:nvPr>
        </p:nvSpPr>
        <p:spPr>
          <a:xfrm>
            <a:off x="170035" y="131622"/>
            <a:ext cx="10515600" cy="1325563"/>
          </a:xfrm>
        </p:spPr>
        <p:txBody>
          <a:bodyPr>
            <a:normAutofit/>
          </a:bodyPr>
          <a:lstStyle/>
          <a:p>
            <a:r>
              <a:rPr lang="en-US" sz="3600" b="1" dirty="0">
                <a:solidFill>
                  <a:srgbClr val="002060"/>
                </a:solidFill>
                <a:latin typeface="Cambria" panose="02040503050406030204" pitchFamily="18" charset="0"/>
                <a:ea typeface="Cambria" panose="02040503050406030204" pitchFamily="18" charset="0"/>
                <a:cs typeface="+mn-cs"/>
              </a:rPr>
              <a:t>Problem Statement</a:t>
            </a:r>
          </a:p>
        </p:txBody>
      </p:sp>
      <p:sp>
        <p:nvSpPr>
          <p:cNvPr id="3" name="Content Placeholder 2">
            <a:extLst>
              <a:ext uri="{FF2B5EF4-FFF2-40B4-BE49-F238E27FC236}">
                <a16:creationId xmlns:a16="http://schemas.microsoft.com/office/drawing/2014/main" id="{7BA73B1F-AFEA-430E-BB57-D7216D6F03CE}"/>
              </a:ext>
            </a:extLst>
          </p:cNvPr>
          <p:cNvSpPr>
            <a:spLocks noGrp="1"/>
          </p:cNvSpPr>
          <p:nvPr>
            <p:ph idx="1"/>
          </p:nvPr>
        </p:nvSpPr>
        <p:spPr>
          <a:xfrm>
            <a:off x="0" y="1457185"/>
            <a:ext cx="12096750" cy="6101640"/>
          </a:xfrm>
        </p:spPr>
        <p:txBody>
          <a:bodyPr vert="horz" lIns="91440" tIns="45720" rIns="91440" bIns="45720" rtlCol="0" anchor="t">
            <a:noAutofit/>
          </a:bodyPr>
          <a:lstStyle/>
          <a:p>
            <a:pPr lvl="1" algn="just">
              <a:buNone/>
              <a:defRPr/>
            </a:pPr>
            <a:r>
              <a:rPr lang="en-US" sz="2000" dirty="0">
                <a:latin typeface="Times New Roman" panose="02020603050405020304" pitchFamily="18" charset="0"/>
                <a:cs typeface="Times New Roman" panose="02020603050405020304" pitchFamily="18" charset="0"/>
              </a:rPr>
              <a:t>	No prior research has compared Capsule Neural Networks with Convolutional Neural Networks for lung nodule detection (Kumar et al., 2015; Shin et al., 2016; Ma et al., 2024; Hendrix et al., 2024; </a:t>
            </a:r>
            <a:r>
              <a:rPr lang="en-US" sz="2000" dirty="0" err="1">
                <a:latin typeface="Times New Roman" panose="02020603050405020304" pitchFamily="18" charset="0"/>
                <a:cs typeface="Times New Roman" panose="02020603050405020304" pitchFamily="18" charset="0"/>
              </a:rPr>
              <a:t>Xue</a:t>
            </a:r>
            <a:r>
              <a:rPr lang="en-US" sz="2000" dirty="0">
                <a:latin typeface="Times New Roman" panose="02020603050405020304" pitchFamily="18" charset="0"/>
                <a:cs typeface="Times New Roman" panose="02020603050405020304" pitchFamily="18" charset="0"/>
              </a:rPr>
              <a:t> et al., 2025). While traditional CNNs achieve accuracies ranging from 85% to 96.9%, their pooling layers continue to discard critical spatial information essential for precise nodule characterization (Ma et al., 2024; Hendrix et al., 2024). Additionally, CNN-based systems still produce false positive rates of approximately 1 per scan, limiting their clinical applicability (Hendrix et al., 2024). Furthermore, existing deep learning models demonstrate poor generalization across different hospital imaging equipment and struggle with limited training datasets (Shin et al., 2016; Kumar et al., 2015).</a:t>
            </a:r>
            <a:endParaRPr lang="en-US" sz="2000" dirty="0">
              <a:solidFill>
                <a:srgbClr val="222222"/>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13562309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E40492-28ED-4D2B-AB01-2FF0B34B10EF}"/>
              </a:ext>
            </a:extLst>
          </p:cNvPr>
          <p:cNvSpPr>
            <a:spLocks noGrp="1"/>
          </p:cNvSpPr>
          <p:nvPr>
            <p:ph type="title"/>
          </p:nvPr>
        </p:nvSpPr>
        <p:spPr>
          <a:xfrm>
            <a:off x="136466" y="0"/>
            <a:ext cx="10515600" cy="1325563"/>
          </a:xfrm>
        </p:spPr>
        <p:txBody>
          <a:bodyPr/>
          <a:lstStyle/>
          <a:p>
            <a:r>
              <a:rPr lang="en-US" sz="3600" b="1" dirty="0">
                <a:solidFill>
                  <a:srgbClr val="002060"/>
                </a:solidFill>
                <a:latin typeface="Cambria"/>
                <a:ea typeface="Cambria"/>
                <a:cs typeface="+mn-cs"/>
              </a:rPr>
              <a:t>Methodology</a:t>
            </a:r>
            <a:br>
              <a:rPr lang="en-US" sz="2000" dirty="0"/>
            </a:br>
            <a:endParaRPr lang="en-US" sz="2000" b="1" dirty="0">
              <a:solidFill>
                <a:srgbClr val="002060"/>
              </a:solidFill>
              <a:latin typeface="Cambria" panose="02040503050406030204" pitchFamily="18" charset="0"/>
              <a:ea typeface="Cambria" panose="02040503050406030204" pitchFamily="18" charset="0"/>
              <a:cs typeface="+mn-cs"/>
            </a:endParaRPr>
          </a:p>
        </p:txBody>
      </p:sp>
      <p:pic>
        <p:nvPicPr>
          <p:cNvPr id="5" name="Picture 4">
            <a:extLst>
              <a:ext uri="{FF2B5EF4-FFF2-40B4-BE49-F238E27FC236}">
                <a16:creationId xmlns:a16="http://schemas.microsoft.com/office/drawing/2014/main" id="{8CCE6CC2-4131-1C73-A84A-92E1BEEDF62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Tree>
    <p:extLst>
      <p:ext uri="{BB962C8B-B14F-4D97-AF65-F5344CB8AC3E}">
        <p14:creationId xmlns:p14="http://schemas.microsoft.com/office/powerpoint/2010/main" val="556462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E40492-28ED-4D2B-AB01-2FF0B34B10EF}"/>
              </a:ext>
            </a:extLst>
          </p:cNvPr>
          <p:cNvSpPr>
            <a:spLocks noGrp="1"/>
          </p:cNvSpPr>
          <p:nvPr>
            <p:ph type="title"/>
          </p:nvPr>
        </p:nvSpPr>
        <p:spPr>
          <a:xfrm>
            <a:off x="136466" y="0"/>
            <a:ext cx="10515600" cy="1325563"/>
          </a:xfrm>
        </p:spPr>
        <p:txBody>
          <a:bodyPr/>
          <a:lstStyle/>
          <a:p>
            <a:r>
              <a:rPr lang="en-US" sz="3600" b="1" dirty="0">
                <a:solidFill>
                  <a:srgbClr val="002060"/>
                </a:solidFill>
                <a:latin typeface="Cambria"/>
                <a:ea typeface="Cambria"/>
                <a:cs typeface="+mn-cs"/>
              </a:rPr>
              <a:t>Methodology</a:t>
            </a:r>
            <a:br>
              <a:rPr lang="en-US" sz="2000" dirty="0"/>
            </a:br>
            <a:endParaRPr lang="en-US" sz="2000" b="1" dirty="0">
              <a:solidFill>
                <a:srgbClr val="002060"/>
              </a:solidFill>
              <a:latin typeface="Cambria" panose="02040503050406030204" pitchFamily="18" charset="0"/>
              <a:ea typeface="Cambria" panose="02040503050406030204" pitchFamily="18" charset="0"/>
              <a:cs typeface="+mn-cs"/>
            </a:endParaRPr>
          </a:p>
        </p:txBody>
      </p:sp>
      <p:pic>
        <p:nvPicPr>
          <p:cNvPr id="5" name="Picture 4">
            <a:extLst>
              <a:ext uri="{FF2B5EF4-FFF2-40B4-BE49-F238E27FC236}">
                <a16:creationId xmlns:a16="http://schemas.microsoft.com/office/drawing/2014/main" id="{8CCE6CC2-4131-1C73-A84A-92E1BEEDF62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pic>
        <p:nvPicPr>
          <p:cNvPr id="4" name="Picture 3">
            <a:extLst>
              <a:ext uri="{FF2B5EF4-FFF2-40B4-BE49-F238E27FC236}">
                <a16:creationId xmlns:a16="http://schemas.microsoft.com/office/drawing/2014/main" id="{69332E56-DB8D-47EB-A27D-22E589A6CDE6}"/>
              </a:ext>
            </a:extLst>
          </p:cNvPr>
          <p:cNvPicPr>
            <a:picLocks noChangeAspect="1"/>
          </p:cNvPicPr>
          <p:nvPr/>
        </p:nvPicPr>
        <p:blipFill>
          <a:blip r:embed="rId3"/>
          <a:stretch>
            <a:fillRect/>
          </a:stretch>
        </p:blipFill>
        <p:spPr>
          <a:xfrm>
            <a:off x="0" y="1325563"/>
            <a:ext cx="12192000" cy="5670863"/>
          </a:xfrm>
          <a:prstGeom prst="rect">
            <a:avLst/>
          </a:prstGeom>
        </p:spPr>
      </p:pic>
    </p:spTree>
    <p:extLst>
      <p:ext uri="{BB962C8B-B14F-4D97-AF65-F5344CB8AC3E}">
        <p14:creationId xmlns:p14="http://schemas.microsoft.com/office/powerpoint/2010/main" val="249637856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F6EC81-9542-3ED9-9709-4282EB15C5F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4B45102-00E6-66CC-8BD6-9F064E625367}"/>
              </a:ext>
            </a:extLst>
          </p:cNvPr>
          <p:cNvSpPr>
            <a:spLocks noGrp="1"/>
          </p:cNvSpPr>
          <p:nvPr>
            <p:ph type="title"/>
          </p:nvPr>
        </p:nvSpPr>
        <p:spPr>
          <a:xfrm>
            <a:off x="136466" y="474133"/>
            <a:ext cx="10515600" cy="1325563"/>
          </a:xfrm>
        </p:spPr>
        <p:txBody>
          <a:bodyPr/>
          <a:lstStyle/>
          <a:p>
            <a:r>
              <a:rPr lang="en-US" sz="3600" b="1" dirty="0">
                <a:solidFill>
                  <a:srgbClr val="002060"/>
                </a:solidFill>
                <a:latin typeface="Cambria"/>
                <a:ea typeface="Cambria"/>
                <a:cs typeface="+mn-cs"/>
              </a:rPr>
              <a:t>Model Evaluation</a:t>
            </a:r>
            <a:br>
              <a:rPr lang="en-US" sz="2000" dirty="0">
                <a:latin typeface="Times New Roman" panose="02020603050405020304" charset="0"/>
                <a:cs typeface="Times New Roman" panose="02020603050405020304" charset="0"/>
                <a:sym typeface="+mn-ea"/>
              </a:rPr>
            </a:br>
            <a:br>
              <a:rPr lang="en-US" sz="2000" dirty="0"/>
            </a:br>
            <a:endParaRPr lang="en-US" sz="2000" b="1" dirty="0">
              <a:solidFill>
                <a:srgbClr val="002060"/>
              </a:solidFill>
              <a:latin typeface="Cambria" panose="02040503050406030204" pitchFamily="18" charset="0"/>
              <a:ea typeface="Cambria" panose="02040503050406030204" pitchFamily="18" charset="0"/>
              <a:cs typeface="+mn-cs"/>
            </a:endParaRPr>
          </a:p>
        </p:txBody>
      </p:sp>
      <p:sp>
        <p:nvSpPr>
          <p:cNvPr id="3" name="Title 1">
            <a:extLst>
              <a:ext uri="{FF2B5EF4-FFF2-40B4-BE49-F238E27FC236}">
                <a16:creationId xmlns:a16="http://schemas.microsoft.com/office/drawing/2014/main" id="{CB3033C1-BCB2-BC2C-1CA5-580D1CAE225A}"/>
              </a:ext>
            </a:extLst>
          </p:cNvPr>
          <p:cNvSpPr txBox="1">
            <a:spLocks/>
          </p:cNvSpPr>
          <p:nvPr/>
        </p:nvSpPr>
        <p:spPr>
          <a:xfrm>
            <a:off x="249355" y="3719689"/>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endParaRPr lang="en-US" sz="2000" b="1" dirty="0">
              <a:solidFill>
                <a:srgbClr val="002060"/>
              </a:solidFill>
              <a:latin typeface="Cambria" panose="02040503050406030204" pitchFamily="18" charset="0"/>
              <a:ea typeface="Cambria" panose="02040503050406030204" pitchFamily="18" charset="0"/>
              <a:cs typeface="+mn-cs"/>
            </a:endParaRPr>
          </a:p>
        </p:txBody>
      </p:sp>
      <p:sp>
        <p:nvSpPr>
          <p:cNvPr id="6" name="Rectangle 2">
            <a:extLst>
              <a:ext uri="{FF2B5EF4-FFF2-40B4-BE49-F238E27FC236}">
                <a16:creationId xmlns:a16="http://schemas.microsoft.com/office/drawing/2014/main" id="{2243AAA9-295E-CE15-635D-BC24F3FE666F}"/>
              </a:ext>
            </a:extLst>
          </p:cNvPr>
          <p:cNvSpPr>
            <a:spLocks noChangeArrowheads="1"/>
          </p:cNvSpPr>
          <p:nvPr/>
        </p:nvSpPr>
        <p:spPr bwMode="auto">
          <a:xfrm rot="10800000" flipV="1">
            <a:off x="388142" y="1275054"/>
            <a:ext cx="11216836" cy="544251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r>
              <a:rPr lang="en-US" dirty="0">
                <a:latin typeface="Times New Roman" panose="02020603050405020304" pitchFamily="18" charset="0"/>
                <a:cs typeface="Times New Roman" panose="02020603050405020304" pitchFamily="18" charset="0"/>
              </a:rPr>
              <a:t>The developed </a:t>
            </a:r>
            <a:r>
              <a:rPr lang="en-US" dirty="0" err="1">
                <a:latin typeface="Times New Roman" panose="02020603050405020304" pitchFamily="18" charset="0"/>
                <a:cs typeface="Times New Roman" panose="02020603050405020304" pitchFamily="18" charset="0"/>
              </a:rPr>
              <a:t>CapsNet</a:t>
            </a:r>
            <a:r>
              <a:rPr lang="en-US" dirty="0">
                <a:latin typeface="Times New Roman" panose="02020603050405020304" pitchFamily="18" charset="0"/>
                <a:cs typeface="Times New Roman" panose="02020603050405020304" pitchFamily="18" charset="0"/>
              </a:rPr>
              <a:t> models will be evaluated using the LIDC-IDRI dataset containing CT scan images annotated by expert radiologists (</a:t>
            </a:r>
            <a:r>
              <a:rPr lang="en-US" dirty="0" err="1">
                <a:latin typeface="Times New Roman" panose="02020603050405020304" pitchFamily="18" charset="0"/>
                <a:cs typeface="Times New Roman" panose="02020603050405020304" pitchFamily="18" charset="0"/>
              </a:rPr>
              <a:t>Armato</a:t>
            </a:r>
            <a:r>
              <a:rPr lang="en-US" dirty="0">
                <a:latin typeface="Times New Roman" panose="02020603050405020304" pitchFamily="18" charset="0"/>
                <a:cs typeface="Times New Roman" panose="02020603050405020304" pitchFamily="18" charset="0"/>
              </a:rPr>
              <a:t> et al., 2011).</a:t>
            </a:r>
          </a:p>
          <a:p>
            <a:r>
              <a:rPr lang="en-US" b="1" dirty="0">
                <a:latin typeface="Times New Roman" panose="02020603050405020304" pitchFamily="18" charset="0"/>
                <a:cs typeface="Times New Roman" panose="02020603050405020304" pitchFamily="18" charset="0"/>
              </a:rPr>
              <a:t>Performance Metrics</a:t>
            </a:r>
          </a:p>
          <a:p>
            <a:r>
              <a:rPr lang="en-US" dirty="0">
                <a:latin typeface="Times New Roman" panose="02020603050405020304" pitchFamily="18" charset="0"/>
                <a:cs typeface="Times New Roman" panose="02020603050405020304" pitchFamily="18" charset="0"/>
              </a:rPr>
              <a:t>Performance will be measured through standard metrics:</a:t>
            </a:r>
          </a:p>
          <a:p>
            <a:pPr lvl="1">
              <a:buFont typeface="Arial" panose="020B0604020202020204" pitchFamily="34" charset="0"/>
              <a:buChar char="•"/>
            </a:pPr>
            <a:r>
              <a:rPr lang="en-US" b="1" dirty="0">
                <a:latin typeface="Times New Roman" panose="02020603050405020304" pitchFamily="18" charset="0"/>
                <a:cs typeface="Times New Roman" panose="02020603050405020304" pitchFamily="18" charset="0"/>
              </a:rPr>
              <a:t>Accuracy</a:t>
            </a:r>
            <a:r>
              <a:rPr lang="en-US" dirty="0">
                <a:latin typeface="Times New Roman" panose="02020603050405020304" pitchFamily="18" charset="0"/>
                <a:cs typeface="Times New Roman" panose="02020603050405020304" pitchFamily="18" charset="0"/>
              </a:rPr>
              <a:t> – Overall model correctness (Fawcett, 2006)</a:t>
            </a:r>
          </a:p>
          <a:p>
            <a:pPr lvl="1">
              <a:buFont typeface="Arial" panose="020B0604020202020204" pitchFamily="34" charset="0"/>
              <a:buChar char="•"/>
            </a:pPr>
            <a:r>
              <a:rPr lang="en-US" b="1" dirty="0">
                <a:latin typeface="Times New Roman" panose="02020603050405020304" pitchFamily="18" charset="0"/>
                <a:cs typeface="Times New Roman" panose="02020603050405020304" pitchFamily="18" charset="0"/>
              </a:rPr>
              <a:t>Sensitivity</a:t>
            </a:r>
            <a:r>
              <a:rPr lang="en-US" dirty="0">
                <a:latin typeface="Times New Roman" panose="02020603050405020304" pitchFamily="18" charset="0"/>
                <a:cs typeface="Times New Roman" panose="02020603050405020304" pitchFamily="18" charset="0"/>
              </a:rPr>
              <a:t> – Ability to detect actual nodules (Hendrix et al., 2024)</a:t>
            </a:r>
          </a:p>
          <a:p>
            <a:pPr lvl="1">
              <a:buFont typeface="Arial" panose="020B0604020202020204" pitchFamily="34" charset="0"/>
              <a:buChar char="•"/>
            </a:pPr>
            <a:r>
              <a:rPr lang="en-US" b="1" dirty="0">
                <a:latin typeface="Times New Roman" panose="02020603050405020304" pitchFamily="18" charset="0"/>
                <a:cs typeface="Times New Roman" panose="02020603050405020304" pitchFamily="18" charset="0"/>
              </a:rPr>
              <a:t>Specificity</a:t>
            </a:r>
            <a:r>
              <a:rPr lang="en-US" dirty="0">
                <a:latin typeface="Times New Roman" panose="02020603050405020304" pitchFamily="18" charset="0"/>
                <a:cs typeface="Times New Roman" panose="02020603050405020304" pitchFamily="18" charset="0"/>
              </a:rPr>
              <a:t> – Ability to identify non-nodule regions (Hendrix et al., 2024)</a:t>
            </a:r>
          </a:p>
          <a:p>
            <a:pPr lvl="1">
              <a:buFont typeface="Arial" panose="020B0604020202020204" pitchFamily="34" charset="0"/>
              <a:buChar char="•"/>
            </a:pPr>
            <a:r>
              <a:rPr lang="en-US" b="1" dirty="0">
                <a:latin typeface="Times New Roman" panose="02020603050405020304" pitchFamily="18" charset="0"/>
                <a:cs typeface="Times New Roman" panose="02020603050405020304" pitchFamily="18" charset="0"/>
              </a:rPr>
              <a:t>False Positive Rate (FPR)</a:t>
            </a:r>
            <a:r>
              <a:rPr lang="en-US" dirty="0">
                <a:latin typeface="Times New Roman" panose="02020603050405020304" pitchFamily="18" charset="0"/>
                <a:cs typeface="Times New Roman" panose="02020603050405020304" pitchFamily="18" charset="0"/>
              </a:rPr>
              <a:t> – Measure of incorrect detections (Ma et al., 2024)</a:t>
            </a:r>
          </a:p>
          <a:p>
            <a:r>
              <a:rPr lang="en-US" b="1" dirty="0">
                <a:latin typeface="Times New Roman" panose="02020603050405020304" pitchFamily="18" charset="0"/>
                <a:cs typeface="Times New Roman" panose="02020603050405020304" pitchFamily="18" charset="0"/>
              </a:rPr>
              <a:t>Comparative Analysis</a:t>
            </a:r>
          </a:p>
          <a:p>
            <a:r>
              <a:rPr lang="en-US" dirty="0">
                <a:latin typeface="Times New Roman" panose="02020603050405020304" pitchFamily="18" charset="0"/>
                <a:cs typeface="Times New Roman" panose="02020603050405020304" pitchFamily="18" charset="0"/>
              </a:rPr>
              <a:t>Comparative analysis will be conducted between CNN and </a:t>
            </a:r>
            <a:r>
              <a:rPr lang="en-US" dirty="0" err="1">
                <a:latin typeface="Times New Roman" panose="02020603050405020304" pitchFamily="18" charset="0"/>
                <a:cs typeface="Times New Roman" panose="02020603050405020304" pitchFamily="18" charset="0"/>
              </a:rPr>
              <a:t>CapsNet</a:t>
            </a:r>
            <a:r>
              <a:rPr lang="en-US" dirty="0">
                <a:latin typeface="Times New Roman" panose="02020603050405020304" pitchFamily="18" charset="0"/>
                <a:cs typeface="Times New Roman" panose="02020603050405020304" pitchFamily="18" charset="0"/>
              </a:rPr>
              <a:t> models using identical datasets and preprocessing parameters (Shin et al., 2016). This ensures fair evaluation and validates whether spatial hierarchy preservation in </a:t>
            </a:r>
            <a:r>
              <a:rPr lang="en-US" dirty="0" err="1">
                <a:latin typeface="Times New Roman" panose="02020603050405020304" pitchFamily="18" charset="0"/>
                <a:cs typeface="Times New Roman" panose="02020603050405020304" pitchFamily="18" charset="0"/>
              </a:rPr>
              <a:t>CapsNets</a:t>
            </a:r>
            <a:r>
              <a:rPr lang="en-US" dirty="0">
                <a:latin typeface="Times New Roman" panose="02020603050405020304" pitchFamily="18" charset="0"/>
                <a:cs typeface="Times New Roman" panose="02020603050405020304" pitchFamily="18" charset="0"/>
              </a:rPr>
              <a:t> provides genuine advantages.</a:t>
            </a:r>
          </a:p>
          <a:p>
            <a:r>
              <a:rPr lang="en-US" b="1" dirty="0">
                <a:latin typeface="Times New Roman" panose="02020603050405020304" pitchFamily="18" charset="0"/>
                <a:cs typeface="Times New Roman" panose="02020603050405020304" pitchFamily="18" charset="0"/>
              </a:rPr>
              <a:t>Statistical Validation</a:t>
            </a:r>
          </a:p>
          <a:p>
            <a:r>
              <a:rPr lang="en-US" dirty="0">
                <a:latin typeface="Times New Roman" panose="02020603050405020304" pitchFamily="18" charset="0"/>
                <a:cs typeface="Times New Roman" panose="02020603050405020304" pitchFamily="18" charset="0"/>
              </a:rPr>
              <a:t>Statistical validation will confirm improvements achieved through spatial hierarchy preservation in </a:t>
            </a:r>
            <a:r>
              <a:rPr lang="en-US" dirty="0" err="1">
                <a:latin typeface="Times New Roman" panose="02020603050405020304" pitchFamily="18" charset="0"/>
                <a:cs typeface="Times New Roman" panose="02020603050405020304" pitchFamily="18" charset="0"/>
              </a:rPr>
              <a:t>CapsNets</a:t>
            </a:r>
            <a:r>
              <a:rPr lang="en-US" dirty="0">
                <a:latin typeface="Times New Roman" panose="02020603050405020304" pitchFamily="18" charset="0"/>
                <a:cs typeface="Times New Roman" panose="02020603050405020304" pitchFamily="18" charset="0"/>
              </a:rPr>
              <a:t> using:</a:t>
            </a:r>
          </a:p>
          <a:p>
            <a:pPr lvl="1">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Cross-validation techniques (Kumar et al., 2015)</a:t>
            </a:r>
          </a:p>
          <a:p>
            <a:pPr lvl="1">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Confidence intervals and statistical significance testing (Fawcett, 2006)</a:t>
            </a:r>
          </a:p>
          <a:p>
            <a:r>
              <a:rPr lang="en-US" b="1" dirty="0">
                <a:latin typeface="Times New Roman" panose="02020603050405020304" pitchFamily="18" charset="0"/>
                <a:cs typeface="Times New Roman" panose="02020603050405020304" pitchFamily="18" charset="0"/>
              </a:rPr>
              <a:t>Visualization Tools</a:t>
            </a:r>
          </a:p>
          <a:p>
            <a:r>
              <a:rPr lang="en-US" dirty="0">
                <a:latin typeface="Times New Roman" panose="02020603050405020304" pitchFamily="18" charset="0"/>
                <a:cs typeface="Times New Roman" panose="02020603050405020304" pitchFamily="18" charset="0"/>
              </a:rPr>
              <a:t>Visualization tools such as ROC curves, confusion matrices, and performance graphs will be used for result interpretation (Fawcett, 2006).</a:t>
            </a:r>
          </a:p>
        </p:txBody>
      </p:sp>
    </p:spTree>
    <p:extLst>
      <p:ext uri="{BB962C8B-B14F-4D97-AF65-F5344CB8AC3E}">
        <p14:creationId xmlns:p14="http://schemas.microsoft.com/office/powerpoint/2010/main" val="156288688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37F082-C60F-CABD-C441-78AA5712232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6BC1B62-95BC-7743-DE86-1CA24AFA83F4}"/>
              </a:ext>
            </a:extLst>
          </p:cNvPr>
          <p:cNvSpPr>
            <a:spLocks noGrp="1"/>
          </p:cNvSpPr>
          <p:nvPr>
            <p:ph type="title"/>
          </p:nvPr>
        </p:nvSpPr>
        <p:spPr>
          <a:xfrm>
            <a:off x="136466" y="474133"/>
            <a:ext cx="10515600" cy="1325563"/>
          </a:xfrm>
        </p:spPr>
        <p:txBody>
          <a:bodyPr/>
          <a:lstStyle/>
          <a:p>
            <a:r>
              <a:rPr lang="en-US" sz="3600" b="1" dirty="0">
                <a:solidFill>
                  <a:srgbClr val="002060"/>
                </a:solidFill>
                <a:latin typeface="Cambria"/>
                <a:ea typeface="Cambria"/>
                <a:cs typeface="+mn-cs"/>
                <a:sym typeface="+mn-ea"/>
              </a:rPr>
              <a:t>Research Objective</a:t>
            </a:r>
            <a:br>
              <a:rPr lang="en-US" sz="2000" dirty="0">
                <a:latin typeface="Times New Roman" panose="02020603050405020304" charset="0"/>
                <a:cs typeface="Times New Roman" panose="02020603050405020304" charset="0"/>
                <a:sym typeface="+mn-ea"/>
              </a:rPr>
            </a:br>
            <a:br>
              <a:rPr lang="en-US" sz="2000" dirty="0"/>
            </a:br>
            <a:endParaRPr lang="en-US" sz="2000" b="1" dirty="0">
              <a:solidFill>
                <a:srgbClr val="002060"/>
              </a:solidFill>
              <a:latin typeface="Cambria" panose="02040503050406030204" pitchFamily="18" charset="0"/>
              <a:ea typeface="Cambria" panose="02040503050406030204" pitchFamily="18" charset="0"/>
              <a:cs typeface="+mn-cs"/>
            </a:endParaRPr>
          </a:p>
        </p:txBody>
      </p:sp>
      <p:sp>
        <p:nvSpPr>
          <p:cNvPr id="3" name="Title 1">
            <a:extLst>
              <a:ext uri="{FF2B5EF4-FFF2-40B4-BE49-F238E27FC236}">
                <a16:creationId xmlns:a16="http://schemas.microsoft.com/office/drawing/2014/main" id="{DFD77B06-72E0-C364-360D-D95A1DE31642}"/>
              </a:ext>
            </a:extLst>
          </p:cNvPr>
          <p:cNvSpPr txBox="1">
            <a:spLocks/>
          </p:cNvSpPr>
          <p:nvPr/>
        </p:nvSpPr>
        <p:spPr>
          <a:xfrm>
            <a:off x="249355" y="3719689"/>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endParaRPr lang="en-US" sz="2000" b="1" dirty="0">
              <a:solidFill>
                <a:srgbClr val="002060"/>
              </a:solidFill>
              <a:latin typeface="Cambria" panose="02040503050406030204" pitchFamily="18" charset="0"/>
              <a:ea typeface="Cambria" panose="02040503050406030204" pitchFamily="18" charset="0"/>
              <a:cs typeface="+mn-cs"/>
            </a:endParaRPr>
          </a:p>
        </p:txBody>
      </p:sp>
      <p:sp>
        <p:nvSpPr>
          <p:cNvPr id="4" name="Rectangle 1">
            <a:extLst>
              <a:ext uri="{FF2B5EF4-FFF2-40B4-BE49-F238E27FC236}">
                <a16:creationId xmlns:a16="http://schemas.microsoft.com/office/drawing/2014/main" id="{BA6324E0-EDF6-6FBD-B74F-260988BA5BE8}"/>
              </a:ext>
            </a:extLst>
          </p:cNvPr>
          <p:cNvSpPr>
            <a:spLocks noChangeArrowheads="1"/>
          </p:cNvSpPr>
          <p:nvPr/>
        </p:nvSpPr>
        <p:spPr bwMode="auto">
          <a:xfrm>
            <a:off x="616242" y="1333843"/>
            <a:ext cx="10616202" cy="419031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342900" marR="0" lvl="0" indent="-342900" algn="just"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sz="2000" b="0" i="0" u="none" strike="noStrike" cap="none" normalizeH="0" baseline="0" dirty="0">
                <a:ln>
                  <a:noFill/>
                </a:ln>
                <a:solidFill>
                  <a:schemeClr val="tx1"/>
                </a:solidFill>
                <a:effectLst/>
                <a:latin typeface="Arial" panose="020B0604020202020204" pitchFamily="34" charset="0"/>
              </a:rPr>
              <a:t>To analyze the limitations of CNN-based approaches in lung nodule detection, particularly spatial information loss and false positives.</a:t>
            </a:r>
          </a:p>
          <a:p>
            <a:pPr marL="342900" marR="0" lvl="0" indent="-342900" algn="just"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sz="2000" b="0" i="0" u="none" strike="noStrike" cap="none" normalizeH="0" baseline="0" dirty="0">
                <a:ln>
                  <a:noFill/>
                </a:ln>
                <a:solidFill>
                  <a:schemeClr val="tx1"/>
                </a:solidFill>
                <a:effectLst/>
                <a:latin typeface="Arial" panose="020B0604020202020204" pitchFamily="34" charset="0"/>
              </a:rPr>
              <a:t>To design and implement Capsule Neural Network (CapsNet) architectures optimized for CT scan image analysis.</a:t>
            </a:r>
          </a:p>
          <a:p>
            <a:pPr marL="342900" marR="0" lvl="0" indent="-342900" algn="just"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sz="2000" b="0" i="0" u="none" strike="noStrike" cap="none" normalizeH="0" baseline="0" dirty="0">
                <a:ln>
                  <a:noFill/>
                </a:ln>
                <a:solidFill>
                  <a:schemeClr val="tx1"/>
                </a:solidFill>
                <a:effectLst/>
                <a:latin typeface="Arial" panose="020B0604020202020204" pitchFamily="34" charset="0"/>
              </a:rPr>
              <a:t>To compare the performance of multiple CapsNet architectures with traditional CNN models.</a:t>
            </a:r>
          </a:p>
          <a:p>
            <a:pPr marL="342900" marR="0" lvl="0" indent="-342900" algn="just"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sz="2000" b="0" i="0" u="none" strike="noStrike" cap="none" normalizeH="0" baseline="0" dirty="0">
                <a:ln>
                  <a:noFill/>
                </a:ln>
                <a:solidFill>
                  <a:schemeClr val="tx1"/>
                </a:solidFill>
                <a:effectLst/>
                <a:latin typeface="Arial" panose="020B0604020202020204" pitchFamily="34" charset="0"/>
              </a:rPr>
              <a:t>To evaluate the models using accuracy, sensitivity, specificity, and false positive rate.</a:t>
            </a:r>
          </a:p>
          <a:p>
            <a:pPr marL="342900" marR="0" lvl="0" indent="-342900" algn="just"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sz="2000" b="0" i="0" u="none" strike="noStrike" cap="none" normalizeH="0" baseline="0" dirty="0">
                <a:ln>
                  <a:noFill/>
                </a:ln>
                <a:solidFill>
                  <a:schemeClr val="tx1"/>
                </a:solidFill>
                <a:effectLst/>
                <a:latin typeface="Arial" panose="020B0604020202020204" pitchFamily="34" charset="0"/>
              </a:rPr>
              <a:t>To assess computational efficiency and propose frameworks for clinical deployment of CapsNet-based systems.</a:t>
            </a:r>
          </a:p>
        </p:txBody>
      </p:sp>
    </p:spTree>
    <p:extLst>
      <p:ext uri="{BB962C8B-B14F-4D97-AF65-F5344CB8AC3E}">
        <p14:creationId xmlns:p14="http://schemas.microsoft.com/office/powerpoint/2010/main" val="171173349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8002B2-DF59-638B-59BA-AEE6AB2C383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E82AEB6-0594-8F49-2AF2-1FD689BBB1C0}"/>
              </a:ext>
            </a:extLst>
          </p:cNvPr>
          <p:cNvSpPr>
            <a:spLocks noGrp="1"/>
          </p:cNvSpPr>
          <p:nvPr>
            <p:ph type="title"/>
          </p:nvPr>
        </p:nvSpPr>
        <p:spPr>
          <a:xfrm>
            <a:off x="136466" y="474133"/>
            <a:ext cx="10515600" cy="1325563"/>
          </a:xfrm>
        </p:spPr>
        <p:txBody>
          <a:bodyPr>
            <a:normAutofit fontScale="90000"/>
          </a:bodyPr>
          <a:lstStyle/>
          <a:p>
            <a:r>
              <a:rPr lang="en-US" sz="3600" b="1" dirty="0">
                <a:solidFill>
                  <a:srgbClr val="002060"/>
                </a:solidFill>
                <a:latin typeface="Cambria"/>
                <a:ea typeface="Cambria"/>
                <a:cs typeface="+mn-cs"/>
                <a:sym typeface="+mn-ea"/>
              </a:rPr>
              <a:t>Expected Outcome</a:t>
            </a:r>
            <a:br>
              <a:rPr lang="en-US" sz="2000" dirty="0">
                <a:latin typeface="Times New Roman" panose="02020603050405020304" charset="0"/>
                <a:cs typeface="Times New Roman" panose="02020603050405020304" charset="0"/>
              </a:rPr>
            </a:br>
            <a:br>
              <a:rPr lang="en-US" sz="2000" dirty="0">
                <a:latin typeface="Times New Roman" panose="02020603050405020304" charset="0"/>
                <a:cs typeface="Times New Roman" panose="02020603050405020304" charset="0"/>
                <a:sym typeface="+mn-ea"/>
              </a:rPr>
            </a:br>
            <a:br>
              <a:rPr lang="en-US" sz="2000" dirty="0"/>
            </a:br>
            <a:endParaRPr lang="en-US" sz="2000" b="1" dirty="0">
              <a:solidFill>
                <a:srgbClr val="002060"/>
              </a:solidFill>
              <a:latin typeface="Cambria" panose="02040503050406030204" pitchFamily="18" charset="0"/>
              <a:ea typeface="Cambria" panose="02040503050406030204" pitchFamily="18" charset="0"/>
              <a:cs typeface="+mn-cs"/>
            </a:endParaRPr>
          </a:p>
        </p:txBody>
      </p:sp>
      <p:sp>
        <p:nvSpPr>
          <p:cNvPr id="3" name="Title 1">
            <a:extLst>
              <a:ext uri="{FF2B5EF4-FFF2-40B4-BE49-F238E27FC236}">
                <a16:creationId xmlns:a16="http://schemas.microsoft.com/office/drawing/2014/main" id="{F450A4CF-51E5-2B69-D531-FDA004CA0F04}"/>
              </a:ext>
            </a:extLst>
          </p:cNvPr>
          <p:cNvSpPr txBox="1">
            <a:spLocks/>
          </p:cNvSpPr>
          <p:nvPr/>
        </p:nvSpPr>
        <p:spPr>
          <a:xfrm>
            <a:off x="249355" y="3719689"/>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endParaRPr lang="en-US" sz="2000" b="1" dirty="0">
              <a:solidFill>
                <a:srgbClr val="002060"/>
              </a:solidFill>
              <a:latin typeface="Cambria" panose="02040503050406030204" pitchFamily="18" charset="0"/>
              <a:ea typeface="Cambria" panose="02040503050406030204" pitchFamily="18" charset="0"/>
              <a:cs typeface="+mn-cs"/>
            </a:endParaRPr>
          </a:p>
        </p:txBody>
      </p:sp>
      <p:sp>
        <p:nvSpPr>
          <p:cNvPr id="5" name="Rectangle 1">
            <a:extLst>
              <a:ext uri="{FF2B5EF4-FFF2-40B4-BE49-F238E27FC236}">
                <a16:creationId xmlns:a16="http://schemas.microsoft.com/office/drawing/2014/main" id="{7EECFA0E-CDED-47B4-2AD7-0D6AB896EB28}"/>
              </a:ext>
            </a:extLst>
          </p:cNvPr>
          <p:cNvSpPr>
            <a:spLocks noChangeArrowheads="1"/>
          </p:cNvSpPr>
          <p:nvPr/>
        </p:nvSpPr>
        <p:spPr bwMode="auto">
          <a:xfrm>
            <a:off x="333522" y="991340"/>
            <a:ext cx="11524956" cy="56323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342900" marR="0" lvl="0" indent="-342900" algn="l" defTabSz="914400" rtl="0" eaLnBrk="0" fontAlgn="base" latinLnBrk="0" hangingPunct="0">
              <a:spcBef>
                <a:spcPct val="0"/>
              </a:spcBef>
              <a:spcAft>
                <a:spcPct val="0"/>
              </a:spcAft>
              <a:buClrTx/>
              <a:buSzTx/>
              <a:buFont typeface="Arial" panose="020B0604020202020204" pitchFamily="34" charset="0"/>
              <a:buChar char="•"/>
              <a:tabLst/>
            </a:pPr>
            <a:r>
              <a:rPr kumimoji="0" lang="en-US" altLang="en-US" sz="2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Improved Diagnostic Accuracy:</a:t>
            </a:r>
            <a:b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b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Capsule Neural Networks are expected to outperform CNNs by preserving spatial hierarchies in CT scan data, leading to more accurate lung nodule classification.</a:t>
            </a:r>
          </a:p>
          <a:p>
            <a:pPr marL="342900" marR="0" lvl="0" indent="-342900" algn="l" defTabSz="914400" rtl="0" eaLnBrk="0" fontAlgn="base" latinLnBrk="0" hangingPunct="0">
              <a:spcBef>
                <a:spcPct val="0"/>
              </a:spcBef>
              <a:spcAft>
                <a:spcPct val="0"/>
              </a:spcAft>
              <a:buClrTx/>
              <a:buSzTx/>
              <a:buFont typeface="Arial" panose="020B0604020202020204" pitchFamily="34" charset="0"/>
              <a:buChar char="•"/>
              <a:tabLst/>
            </a:pPr>
            <a:r>
              <a:rPr kumimoji="0" lang="en-US" altLang="en-US" sz="2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Reduction in False Positives:</a:t>
            </a:r>
            <a:b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b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Dynamic routing will help the model distinguish nodules from vessel-like structures, minimizing false alarms that affect screening reliability.</a:t>
            </a:r>
          </a:p>
          <a:p>
            <a:pPr marL="342900" marR="0" lvl="0" indent="-342900" algn="l" defTabSz="914400" rtl="0" eaLnBrk="0" fontAlgn="base" latinLnBrk="0" hangingPunct="0">
              <a:spcBef>
                <a:spcPct val="0"/>
              </a:spcBef>
              <a:spcAft>
                <a:spcPct val="0"/>
              </a:spcAft>
              <a:buClrTx/>
              <a:buSzTx/>
              <a:buFont typeface="Arial" panose="020B0604020202020204" pitchFamily="34" charset="0"/>
              <a:buChar char="•"/>
              <a:tabLst/>
            </a:pPr>
            <a:r>
              <a:rPr kumimoji="0" lang="en-US" altLang="en-US" sz="2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Enhanced Sensitivity and Specificity:</a:t>
            </a:r>
            <a:b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b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Expected improvement in sensitivity for true nodules and specificity for normal tissues, strengthening early detection reliability.</a:t>
            </a:r>
          </a:p>
          <a:p>
            <a:pPr marL="342900" marR="0" lvl="0" indent="-342900" algn="l" defTabSz="914400" rtl="0" eaLnBrk="0" fontAlgn="base" latinLnBrk="0" hangingPunct="0">
              <a:spcBef>
                <a:spcPct val="0"/>
              </a:spcBef>
              <a:spcAft>
                <a:spcPct val="0"/>
              </a:spcAft>
              <a:buClrTx/>
              <a:buSzTx/>
              <a:buFont typeface="Arial" panose="020B0604020202020204" pitchFamily="34" charset="0"/>
              <a:buChar char="•"/>
              <a:tabLst/>
            </a:pPr>
            <a:r>
              <a:rPr kumimoji="0" lang="en-US" altLang="en-US" sz="2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Computational Efficiency Insights:</a:t>
            </a:r>
            <a:b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b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Performance benchmarks will provide insights into trade-offs between accuracy and computational cost, guiding real-world deployment feasibility.</a:t>
            </a:r>
          </a:p>
          <a:p>
            <a:pPr marL="342900" marR="0" lvl="0" indent="-342900" algn="l" defTabSz="914400" rtl="0" eaLnBrk="0" fontAlgn="base" latinLnBrk="0" hangingPunct="0">
              <a:spcBef>
                <a:spcPct val="0"/>
              </a:spcBef>
              <a:spcAft>
                <a:spcPct val="0"/>
              </a:spcAft>
              <a:buClrTx/>
              <a:buSzTx/>
              <a:buFont typeface="Arial" panose="020B0604020202020204" pitchFamily="34" charset="0"/>
              <a:buChar char="•"/>
              <a:tabLst/>
            </a:pPr>
            <a:r>
              <a:rPr kumimoji="0" lang="en-US" altLang="en-US" sz="2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Framework for Future Research:</a:t>
            </a:r>
            <a:b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b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Establishes a validated methodology for applying CapsNets in other medical imaging domains beyond lung cancer detection.</a:t>
            </a:r>
          </a:p>
        </p:txBody>
      </p:sp>
    </p:spTree>
    <p:extLst>
      <p:ext uri="{BB962C8B-B14F-4D97-AF65-F5344CB8AC3E}">
        <p14:creationId xmlns:p14="http://schemas.microsoft.com/office/powerpoint/2010/main" val="215330141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8057CC-CD75-4033-AEE4-C9F7A6AE83EF}"/>
              </a:ext>
            </a:extLst>
          </p:cNvPr>
          <p:cNvSpPr>
            <a:spLocks noGrp="1"/>
          </p:cNvSpPr>
          <p:nvPr>
            <p:ph type="title"/>
          </p:nvPr>
        </p:nvSpPr>
        <p:spPr>
          <a:xfrm>
            <a:off x="324543" y="-125326"/>
            <a:ext cx="10515600" cy="1189355"/>
          </a:xfrm>
        </p:spPr>
        <p:txBody>
          <a:bodyPr>
            <a:normAutofit/>
          </a:bodyPr>
          <a:lstStyle/>
          <a:p>
            <a:r>
              <a:rPr lang="en-US" sz="3600" b="1" dirty="0">
                <a:solidFill>
                  <a:srgbClr val="002060"/>
                </a:solidFill>
                <a:latin typeface="Cambria" panose="02040503050406030204" pitchFamily="18" charset="0"/>
                <a:ea typeface="Cambria" panose="02040503050406030204" pitchFamily="18" charset="0"/>
                <a:cs typeface="+mn-cs"/>
              </a:rPr>
              <a:t>References</a:t>
            </a:r>
          </a:p>
        </p:txBody>
      </p:sp>
      <p:sp>
        <p:nvSpPr>
          <p:cNvPr id="6" name="Rectangle 2">
            <a:extLst>
              <a:ext uri="{FF2B5EF4-FFF2-40B4-BE49-F238E27FC236}">
                <a16:creationId xmlns:a16="http://schemas.microsoft.com/office/drawing/2014/main" id="{C76EA7CE-E1FF-3806-FD29-4600B4D9A192}"/>
              </a:ext>
            </a:extLst>
          </p:cNvPr>
          <p:cNvSpPr>
            <a:spLocks noGrp="1" noChangeArrowheads="1"/>
          </p:cNvSpPr>
          <p:nvPr>
            <p:ph idx="1"/>
          </p:nvPr>
        </p:nvSpPr>
        <p:spPr bwMode="auto">
          <a:xfrm>
            <a:off x="474133" y="1064029"/>
            <a:ext cx="10679289" cy="452431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[1] </a:t>
            </a:r>
            <a:r>
              <a:rPr kumimoji="0" lang="fr-FR"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Xue, X., Ma, Y., Du, W., &amp; Peng, Y. (2025) </a:t>
            </a:r>
            <a:r>
              <a:rPr kumimoji="0" lang="fr-FR" altLang="en-US" sz="18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fr-FR" altLang="en-US" sz="1800" i="1"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Squeeze-and-excitation vision transformer for lung nodule classification. IEEE Access, 13, 24852-24866.</a:t>
            </a: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[2] Hendrix, W., Vliegenthart, R., Gratama, J. W., et al. (2023) — </a:t>
            </a:r>
            <a:r>
              <a:rPr kumimoji="0" lang="en-US" altLang="en-US" sz="1800" i="1"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Deep learning for the detection of benign and malignant pulmonary nodules in non-screening chest CT scans. Communications Medicine, 3(1), 388.</a:t>
            </a: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[3] Ma, L., Wu, H., &amp; Samundeeswari, P. (2024) — </a:t>
            </a:r>
            <a:r>
              <a:rPr kumimoji="0" lang="en-US" altLang="en-US" sz="1800" i="1"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Improving lung cancer detection with enhanced convolutional sequential networks. Scientific Reports, 15, Article 06653.</a:t>
            </a: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[4] Sabour, S., Frosst, N., &amp; Hinton, G. E. (2017)</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 </a:t>
            </a:r>
            <a:r>
              <a:rPr kumimoji="0" lang="en-US" altLang="en-US" sz="1800" b="0" i="1"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Dynamic routing between capsules</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(used in Problem Statement, Literature Review, Methodology).</a:t>
            </a: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[5] Scherer, D., Müller, A., &amp; Behnke, S. (2010)</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 </a:t>
            </a:r>
            <a:r>
              <a:rPr kumimoji="0" lang="en-US" altLang="en-US" sz="1800" b="0" i="1"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Evaluation of pooling operations in CNNs</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(used in Literature Review and Research Gap).</a:t>
            </a: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[6] Setio, A. A. A., et al. (2016)</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 </a:t>
            </a:r>
            <a:r>
              <a:rPr kumimoji="0" lang="en-US" altLang="en-US" sz="1800" b="0" i="1"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The LUNA16 challenge</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(used in Literature Review, Methodology).</a:t>
            </a: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[7] Shin, H. C., et al. (2016)</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 </a:t>
            </a:r>
            <a:r>
              <a:rPr kumimoji="0" lang="en-US" altLang="en-US" sz="1800" b="0" i="1"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Deep CNNs for computer-aided detection</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(used in Literature Review).</a:t>
            </a: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[8] Song, Q., Zhao, L., Luo, X., &amp; Dou, X. (2017)</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 </a:t>
            </a:r>
            <a:r>
              <a:rPr kumimoji="0" lang="en-US" altLang="en-US" sz="1800" b="0" i="1"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Using deep learning for classification of lung nodules</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(used in Literature Review and Problem Statement).</a:t>
            </a: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[9] Stewart, B. W., &amp; Wild, C. P. (2014)</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 </a:t>
            </a:r>
            <a:r>
              <a:rPr kumimoji="0" lang="en-US" altLang="en-US" sz="1800" b="0" i="1"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World cancer report 2014</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(used in Introduction and Literature Review).</a:t>
            </a:r>
          </a:p>
        </p:txBody>
      </p:sp>
    </p:spTree>
    <p:extLst>
      <p:ext uri="{BB962C8B-B14F-4D97-AF65-F5344CB8AC3E}">
        <p14:creationId xmlns:p14="http://schemas.microsoft.com/office/powerpoint/2010/main" val="180325505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62"/>
        <p:cNvGrpSpPr/>
        <p:nvPr/>
      </p:nvGrpSpPr>
      <p:grpSpPr>
        <a:xfrm>
          <a:off x="0" y="0"/>
          <a:ext cx="0" cy="0"/>
          <a:chOff x="0" y="0"/>
          <a:chExt cx="0" cy="0"/>
        </a:xfrm>
      </p:grpSpPr>
      <p:sp>
        <p:nvSpPr>
          <p:cNvPr id="163" name="Google Shape;163;p27"/>
          <p:cNvSpPr txBox="1"/>
          <p:nvPr/>
        </p:nvSpPr>
        <p:spPr>
          <a:xfrm>
            <a:off x="940596" y="2020499"/>
            <a:ext cx="10361028" cy="2133600"/>
          </a:xfrm>
          <a:prstGeom prst="rect">
            <a:avLst/>
          </a:prstGeom>
          <a:noFill/>
          <a:ln>
            <a:noFill/>
          </a:ln>
        </p:spPr>
        <p:txBody>
          <a:bodyPr spcFirstLastPara="1" wrap="square" lIns="90000" tIns="46800" rIns="90000" bIns="46800" anchor="ctr" anchorCtr="0">
            <a:noAutofit/>
          </a:bodyPr>
          <a:lstStyle/>
          <a:p>
            <a:pPr marR="0" lvl="0" algn="ctr" defTabSz="914400" rtl="0" eaLnBrk="1" fontAlgn="auto" latinLnBrk="0" hangingPunct="1">
              <a:lnSpc>
                <a:spcPct val="90000"/>
              </a:lnSpc>
              <a:spcBef>
                <a:spcPts val="1000"/>
              </a:spcBef>
              <a:spcAft>
                <a:spcPts val="0"/>
              </a:spcAft>
              <a:buClrTx/>
              <a:buSzTx/>
              <a:tabLst/>
              <a:defRPr/>
            </a:pPr>
            <a:r>
              <a:rPr lang="en-US" sz="5400" b="1" kern="1200" dirty="0">
                <a:solidFill>
                  <a:srgbClr val="222222"/>
                </a:solidFill>
                <a:latin typeface="Cambria" panose="02040503050406030204" pitchFamily="18" charset="0"/>
                <a:ea typeface="Cambria" panose="02040503050406030204" pitchFamily="18" charset="0"/>
                <a:cs typeface="+mn-cs"/>
              </a:rPr>
              <a:t>Thank you</a:t>
            </a:r>
            <a:endParaRPr kumimoji="0" lang="en-US" sz="5400" b="1" i="0" u="none" strike="noStrike" kern="1200" cap="none" spc="0" normalizeH="0" baseline="0" noProof="0" dirty="0">
              <a:ln>
                <a:noFill/>
              </a:ln>
              <a:solidFill>
                <a:srgbClr val="222222"/>
              </a:solidFill>
              <a:effectLst/>
              <a:uLnTx/>
              <a:uFillTx/>
              <a:latin typeface="Cambria" panose="02040503050406030204" pitchFamily="18" charset="0"/>
              <a:ea typeface="Cambria" panose="02040503050406030204" pitchFamily="18" charset="0"/>
              <a:cs typeface="+mn-cs"/>
            </a:endParaRPr>
          </a:p>
        </p:txBody>
      </p:sp>
      <p:sp>
        <p:nvSpPr>
          <p:cNvPr id="9" name="Slide Number Placeholder 8"/>
          <p:cNvSpPr>
            <a:spLocks noGrp="1"/>
          </p:cNvSpPr>
          <p:nvPr>
            <p:ph type="sldNum" idx="12"/>
          </p:nvPr>
        </p:nvSpPr>
        <p:spPr/>
        <p:txBody>
          <a:bodyPr/>
          <a:lstStyle/>
          <a:p>
            <a:fld id="{00000000-1234-1234-1234-123412341234}" type="slidenum">
              <a:rPr lang="en-US" smtClean="0"/>
              <a:pPr/>
              <a:t>14</a:t>
            </a:fld>
            <a:endParaRPr lang="en-US" dirty="0"/>
          </a:p>
        </p:txBody>
      </p:sp>
      <p:pic>
        <p:nvPicPr>
          <p:cNvPr id="5" name="Google Shape;171;p28">
            <a:extLst>
              <a:ext uri="{FF2B5EF4-FFF2-40B4-BE49-F238E27FC236}">
                <a16:creationId xmlns:a16="http://schemas.microsoft.com/office/drawing/2014/main" id="{423067C2-5579-4221-9293-6F30C7C7E5F0}"/>
              </a:ext>
            </a:extLst>
          </p:cNvPr>
          <p:cNvPicPr preferRelativeResize="0"/>
          <p:nvPr/>
        </p:nvPicPr>
        <p:blipFill rotWithShape="1">
          <a:blip r:embed="rId3" cstate="email">
            <a:alphaModFix/>
            <a:extLst>
              <a:ext uri="{28A0092B-C50C-407E-A947-70E740481C1C}">
                <a14:useLocalDpi xmlns:a14="http://schemas.microsoft.com/office/drawing/2010/main"/>
              </a:ext>
            </a:extLst>
          </a:blip>
          <a:srcRect l="1" t="6761" r="6238" b="8561"/>
          <a:stretch/>
        </p:blipFill>
        <p:spPr>
          <a:xfrm>
            <a:off x="1330900" y="309715"/>
            <a:ext cx="1097280" cy="1097280"/>
          </a:xfrm>
          <a:prstGeom prst="rect">
            <a:avLst/>
          </a:prstGeom>
          <a:noFill/>
          <a:ln>
            <a:noFill/>
          </a:ln>
        </p:spPr>
      </p:pic>
      <p:pic>
        <p:nvPicPr>
          <p:cNvPr id="6" name="Picture 5" descr="cs final logo with color trnasparent.png">
            <a:extLst>
              <a:ext uri="{FF2B5EF4-FFF2-40B4-BE49-F238E27FC236}">
                <a16:creationId xmlns:a16="http://schemas.microsoft.com/office/drawing/2014/main" id="{3DD77943-E35D-47C9-95CE-095D3192646A}"/>
              </a:ext>
            </a:extLst>
          </p:cNvPr>
          <p:cNvPicPr>
            <a:picLocks/>
          </p:cNvPicPr>
          <p:nvPr/>
        </p:nvPicPr>
        <p:blipFill>
          <a:blip r:embed="rId4"/>
          <a:stretch>
            <a:fillRect/>
          </a:stretch>
        </p:blipFill>
        <p:spPr>
          <a:xfrm>
            <a:off x="9745663" y="306646"/>
            <a:ext cx="1097280" cy="1097280"/>
          </a:xfrm>
          <a:prstGeom prst="rect">
            <a:avLst/>
          </a:prstGeom>
        </p:spPr>
      </p:pic>
      <p:sp>
        <p:nvSpPr>
          <p:cNvPr id="8" name="TextBox 7">
            <a:extLst>
              <a:ext uri="{FF2B5EF4-FFF2-40B4-BE49-F238E27FC236}">
                <a16:creationId xmlns:a16="http://schemas.microsoft.com/office/drawing/2014/main" id="{0BC6569F-96AD-4153-B84B-3E5B1819BF0A}"/>
              </a:ext>
            </a:extLst>
          </p:cNvPr>
          <p:cNvSpPr txBox="1"/>
          <p:nvPr/>
        </p:nvSpPr>
        <p:spPr>
          <a:xfrm>
            <a:off x="1600787" y="5525468"/>
            <a:ext cx="9040647" cy="880241"/>
          </a:xfrm>
          <a:prstGeom prst="rect">
            <a:avLst/>
          </a:prstGeom>
          <a:noFill/>
        </p:spPr>
        <p:txBody>
          <a:bodyPr wrap="square">
            <a:spAutoFit/>
          </a:bodyPr>
          <a:lstStyle/>
          <a:p>
            <a:pPr marL="59172" indent="-18762" algn="ctr">
              <a:lnSpc>
                <a:spcPct val="80000"/>
              </a:lnSpc>
              <a:spcBef>
                <a:spcPts val="636"/>
              </a:spcBef>
              <a:buSzPts val="2240"/>
            </a:pPr>
            <a:r>
              <a:rPr lang="en-US" sz="3200" b="1" dirty="0">
                <a:latin typeface="Cambria" panose="02040503050406030204" pitchFamily="18" charset="0"/>
                <a:ea typeface="Cambria" panose="02040503050406030204" pitchFamily="18" charset="0"/>
                <a:cs typeface="Cambria"/>
                <a:sym typeface="Cambria"/>
              </a:rPr>
              <a:t>University of Engineering and Technology, Lahore</a:t>
            </a:r>
            <a:endParaRPr lang="en-US" sz="3200" b="1" dirty="0">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288585477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186</TotalTime>
  <Words>1834</Words>
  <Application>Microsoft Office PowerPoint</Application>
  <PresentationFormat>Widescreen</PresentationFormat>
  <Paragraphs>151</Paragraphs>
  <Slides>14</Slides>
  <Notes>6</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14</vt:i4>
      </vt:variant>
    </vt:vector>
  </HeadingPairs>
  <TitlesOfParts>
    <vt:vector size="21" baseType="lpstr">
      <vt:lpstr>Arial</vt:lpstr>
      <vt:lpstr>Calibri</vt:lpstr>
      <vt:lpstr>Calibri Light</vt:lpstr>
      <vt:lpstr>Cambria</vt:lpstr>
      <vt:lpstr>Roca Two Bold</vt:lpstr>
      <vt:lpstr>Times New Roman</vt:lpstr>
      <vt:lpstr>Office Theme</vt:lpstr>
      <vt:lpstr>PowerPoint Presentation</vt:lpstr>
      <vt:lpstr>PowerPoint Presentation</vt:lpstr>
      <vt:lpstr>PowerPoint Presentation</vt:lpstr>
      <vt:lpstr>Literature review</vt:lpstr>
      <vt:lpstr>Literature review</vt:lpstr>
      <vt:lpstr>PowerPoint Presentation</vt:lpstr>
      <vt:lpstr>Problem Statement</vt:lpstr>
      <vt:lpstr>Methodology </vt:lpstr>
      <vt:lpstr>Methodology </vt:lpstr>
      <vt:lpstr>Model Evaluation  </vt:lpstr>
      <vt:lpstr>Research Objective  </vt:lpstr>
      <vt:lpstr>Expected Outcome   </vt:lpstr>
      <vt:lpstr>References</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Personalized Real Time Food Recommendation Using Machine Learning</dc:title>
  <dc:creator>Muhammad</dc:creator>
  <cp:lastModifiedBy>Aizaz Shabber</cp:lastModifiedBy>
  <cp:revision>253</cp:revision>
  <dcterms:created xsi:type="dcterms:W3CDTF">2022-02-27T11:17:41Z</dcterms:created>
  <dcterms:modified xsi:type="dcterms:W3CDTF">2025-12-10T08:28:47Z</dcterms:modified>
</cp:coreProperties>
</file>