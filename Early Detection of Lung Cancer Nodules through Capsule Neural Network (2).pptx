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4" r:id="rId2"/>
    <p:sldId id="265" r:id="rId3"/>
    <p:sldId id="266" r:id="rId4"/>
    <p:sldId id="258" r:id="rId5"/>
    <p:sldId id="274" r:id="rId6"/>
    <p:sldId id="268" r:id="rId7"/>
    <p:sldId id="257" r:id="rId8"/>
    <p:sldId id="261" r:id="rId9"/>
    <p:sldId id="270" r:id="rId10"/>
    <p:sldId id="271" r:id="rId11"/>
    <p:sldId id="272" r:id="rId12"/>
    <p:sldId id="273" r:id="rId13"/>
    <p:sldId id="260"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8D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3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027B0B-E4EC-4817-B8AE-E1F5A0E43040}" type="datetimeFigureOut">
              <a:rPr lang="en-US" smtClean="0"/>
              <a:t>4/23/2026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520FC-3B90-4124-8796-CB932A69E063}" type="slidenum">
              <a:rPr lang="en-US" smtClean="0"/>
              <a:t>‹#›</a:t>
            </a:fld>
            <a:endParaRPr lang="en-US" dirty="0"/>
          </a:p>
        </p:txBody>
      </p:sp>
    </p:spTree>
    <p:extLst>
      <p:ext uri="{BB962C8B-B14F-4D97-AF65-F5344CB8AC3E}">
        <p14:creationId xmlns:p14="http://schemas.microsoft.com/office/powerpoint/2010/main" val="259341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4311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5803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0842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a:p>
            <a:endParaRPr lang="en-US" dirty="0"/>
          </a:p>
        </p:txBody>
      </p:sp>
      <p:sp>
        <p:nvSpPr>
          <p:cNvPr id="4" name="Slide Number Placeholder 3"/>
          <p:cNvSpPr>
            <a:spLocks noGrp="1"/>
          </p:cNvSpPr>
          <p:nvPr>
            <p:ph type="sldNum" sz="quarter" idx="5"/>
          </p:nvPr>
        </p:nvSpPr>
        <p:spPr/>
        <p:txBody>
          <a:bodyPr/>
          <a:lstStyle/>
          <a:p>
            <a:fld id="{F6E520FC-3B90-4124-8796-CB932A69E063}" type="slidenum">
              <a:rPr lang="en-US" smtClean="0"/>
              <a:t>4</a:t>
            </a:fld>
            <a:endParaRPr lang="en-US" dirty="0"/>
          </a:p>
        </p:txBody>
      </p:sp>
    </p:spTree>
    <p:extLst>
      <p:ext uri="{BB962C8B-B14F-4D97-AF65-F5344CB8AC3E}">
        <p14:creationId xmlns:p14="http://schemas.microsoft.com/office/powerpoint/2010/main" val="489552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484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5540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147F8-47A1-43AE-A916-799AED0D7A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2E9550-45DA-4166-B8C4-C7BF153342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1DDCFE-5733-432D-BE51-120638223BC9}"/>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5" name="Footer Placeholder 4">
            <a:extLst>
              <a:ext uri="{FF2B5EF4-FFF2-40B4-BE49-F238E27FC236}">
                <a16:creationId xmlns:a16="http://schemas.microsoft.com/office/drawing/2014/main" id="{54E7A594-90B2-4AA6-88DC-620DE17E76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79200C-3E7B-4AC9-A819-9E3A4AE4352D}"/>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709589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FB53-2F98-4D04-B473-5CE4B794CA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3793B2-3231-4E95-BE1F-3642D81ED1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EBFF75-3F06-4341-8697-A20D93F168C9}"/>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5" name="Footer Placeholder 4">
            <a:extLst>
              <a:ext uri="{FF2B5EF4-FFF2-40B4-BE49-F238E27FC236}">
                <a16:creationId xmlns:a16="http://schemas.microsoft.com/office/drawing/2014/main" id="{14831169-A9FD-42DE-A182-1EB935AC08A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6005D29-539F-4FAD-BA08-304CF44E237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08413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71666-46A9-407B-B0D0-9C2A01FAD1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29DBC5-E69A-4FBE-9DF4-49C48F9CCC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5FD6E5-36E4-44B1-B9C6-316B15BC3BB6}"/>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5" name="Footer Placeholder 4">
            <a:extLst>
              <a:ext uri="{FF2B5EF4-FFF2-40B4-BE49-F238E27FC236}">
                <a16:creationId xmlns:a16="http://schemas.microsoft.com/office/drawing/2014/main" id="{CFFE9845-54E3-4F90-A792-E577A689756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8C5761-4797-46A1-9B71-8B5C1A3220C4}"/>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335065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A0C3D-F198-4849-8A5F-9820406756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FADC11-3E1D-429B-8B72-78D1C857CA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B467AF-29DA-4E11-AEDB-38D7695E1F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EB01A2-C52E-4254-9974-6AE4D8131C30}"/>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6" name="Footer Placeholder 5">
            <a:extLst>
              <a:ext uri="{FF2B5EF4-FFF2-40B4-BE49-F238E27FC236}">
                <a16:creationId xmlns:a16="http://schemas.microsoft.com/office/drawing/2014/main" id="{E27AE094-3D28-4933-A095-6BD1AE1FA8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D6B5A1-AE76-40A3-8BF4-327E7FF09265}"/>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280475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DAD18-1551-4DAA-AE95-4E5BC9584E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65E4E5-02F6-4FD7-9DD1-FC54FDDE7A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4F9154-37A3-40C1-AD74-2CFF3D307A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957BAE-1764-4C05-918C-8286D920AC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1AE16A-648D-4FF8-B160-0D4B7A643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F42620-BB01-4D86-A364-1E5EA0E560F9}"/>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8" name="Footer Placeholder 7">
            <a:extLst>
              <a:ext uri="{FF2B5EF4-FFF2-40B4-BE49-F238E27FC236}">
                <a16:creationId xmlns:a16="http://schemas.microsoft.com/office/drawing/2014/main" id="{357C10F5-C01F-412B-B6F9-77B0A890D25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563403B-AB18-4576-AD2C-8DDEDA01890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770938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9DA0-7655-48E7-AE87-507AD6B0D4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6B8F39-DC97-4401-A1DE-4F5FD105E5FD}"/>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4" name="Footer Placeholder 3">
            <a:extLst>
              <a:ext uri="{FF2B5EF4-FFF2-40B4-BE49-F238E27FC236}">
                <a16:creationId xmlns:a16="http://schemas.microsoft.com/office/drawing/2014/main" id="{507E76C5-1FFB-4F6F-9DA8-57E6B7B0B8F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26B347B-9307-4A85-B2EC-1E6A583A6412}"/>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244930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454E6C-EAD1-470B-8EBF-8F5112C59C7C}"/>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3" name="Footer Placeholder 2">
            <a:extLst>
              <a:ext uri="{FF2B5EF4-FFF2-40B4-BE49-F238E27FC236}">
                <a16:creationId xmlns:a16="http://schemas.microsoft.com/office/drawing/2014/main" id="{42FD6D14-590F-4EEF-955B-8B22E701A74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E7D1CA8-D762-42FB-908B-3FCA85EE731F}"/>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891232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7C062-EF5A-490F-8A8A-27498C6C0E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011F4B-0BD4-4BF7-910C-A436D89192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D3AA5B-3B98-42F2-BF7D-7F025FDED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1DB644-595D-49EF-B104-6C4CF30863C8}"/>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6" name="Footer Placeholder 5">
            <a:extLst>
              <a:ext uri="{FF2B5EF4-FFF2-40B4-BE49-F238E27FC236}">
                <a16:creationId xmlns:a16="http://schemas.microsoft.com/office/drawing/2014/main" id="{E0567536-2E4F-456F-93B5-263AF309B67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668FE-A85A-4752-8177-4A18378B8AB4}"/>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732601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CF7A-9E38-404C-8434-F138C883FC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14AE22-D8A8-45FF-90F6-77E017B7FF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C768EF8-CB3B-467C-A2D2-70BB959918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E3B65B-660A-448C-825F-754459A21E52}"/>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6" name="Footer Placeholder 5">
            <a:extLst>
              <a:ext uri="{FF2B5EF4-FFF2-40B4-BE49-F238E27FC236}">
                <a16:creationId xmlns:a16="http://schemas.microsoft.com/office/drawing/2014/main" id="{92B96A0E-EEBB-45BF-B978-1832B5DF46A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08B318A-6F45-467B-B0E5-17050FC806AB}"/>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2087242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E968-9FB2-4CE9-A9AD-06C0B0412D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5A0F5-2ACA-4151-9A1F-597FF31E83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594761-FD1C-4C6E-91E1-7AB0BBABF79A}"/>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5" name="Footer Placeholder 4">
            <a:extLst>
              <a:ext uri="{FF2B5EF4-FFF2-40B4-BE49-F238E27FC236}">
                <a16:creationId xmlns:a16="http://schemas.microsoft.com/office/drawing/2014/main" id="{128431B6-6185-4B17-86B2-CAAED10005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CDDB71-31C6-4379-AE03-36E47D94A290}"/>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4272717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3800D7-9E06-4138-9024-59D22A9612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BCC190-08B8-402B-BFCA-6A881480F4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CE924-8957-417E-A994-4496DD28951D}"/>
              </a:ext>
            </a:extLst>
          </p:cNvPr>
          <p:cNvSpPr>
            <a:spLocks noGrp="1"/>
          </p:cNvSpPr>
          <p:nvPr>
            <p:ph type="dt" sz="half" idx="10"/>
          </p:nvPr>
        </p:nvSpPr>
        <p:spPr/>
        <p:txBody>
          <a:bodyPr/>
          <a:lstStyle/>
          <a:p>
            <a:fld id="{2021EB0C-0560-453E-ACFF-9C455F55CF40}" type="datetimeFigureOut">
              <a:rPr lang="en-US" smtClean="0"/>
              <a:t>4/23/2026</a:t>
            </a:fld>
            <a:endParaRPr lang="en-US" dirty="0"/>
          </a:p>
        </p:txBody>
      </p:sp>
      <p:sp>
        <p:nvSpPr>
          <p:cNvPr id="5" name="Footer Placeholder 4">
            <a:extLst>
              <a:ext uri="{FF2B5EF4-FFF2-40B4-BE49-F238E27FC236}">
                <a16:creationId xmlns:a16="http://schemas.microsoft.com/office/drawing/2014/main" id="{265F1D80-38D3-4E16-98CC-09347BD404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00D78F2-3A06-49EF-9176-F4C234A2003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19649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F4F5B6-5D4D-42C3-A877-E18C8E4B93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07817C-06E4-4192-BDA1-9E7FA5534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0D6375-2C88-4CB9-8D1C-D271C5F2F5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21EB0C-0560-453E-ACFF-9C455F55CF40}" type="datetimeFigureOut">
              <a:rPr lang="en-US" smtClean="0"/>
              <a:t>4/23/2026</a:t>
            </a:fld>
            <a:endParaRPr lang="en-US" dirty="0"/>
          </a:p>
        </p:txBody>
      </p:sp>
      <p:sp>
        <p:nvSpPr>
          <p:cNvPr id="5" name="Footer Placeholder 4">
            <a:extLst>
              <a:ext uri="{FF2B5EF4-FFF2-40B4-BE49-F238E27FC236}">
                <a16:creationId xmlns:a16="http://schemas.microsoft.com/office/drawing/2014/main" id="{EFBDD0A1-E867-43BB-8F46-D0D8558635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005230B-1ABF-4B97-9308-86EF7FB533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487429-652D-4B59-B9B7-161A8A66FB8A}" type="slidenum">
              <a:rPr lang="en-US" smtClean="0"/>
              <a:t>‹#›</a:t>
            </a:fld>
            <a:endParaRPr lang="en-US" dirty="0"/>
          </a:p>
        </p:txBody>
      </p:sp>
    </p:spTree>
    <p:extLst>
      <p:ext uri="{BB962C8B-B14F-4D97-AF65-F5344CB8AC3E}">
        <p14:creationId xmlns:p14="http://schemas.microsoft.com/office/powerpoint/2010/main" val="503798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1879540" y="3352092"/>
            <a:ext cx="8544297" cy="2051114"/>
          </a:xfrm>
          <a:prstGeom prst="rect">
            <a:avLst/>
          </a:prstGeom>
          <a:noFill/>
          <a:ln>
            <a:noFill/>
          </a:ln>
        </p:spPr>
        <p:txBody>
          <a:bodyPr spcFirstLastPara="1" wrap="square" lIns="90000" tIns="46800" rIns="90000" bIns="46800" anchor="ctr" anchorCtr="0">
            <a:noAutofit/>
          </a:bodyPr>
          <a:lstStyle/>
          <a:p>
            <a:pPr algn="ctr">
              <a:buClr>
                <a:schemeClr val="dk1"/>
              </a:buClr>
              <a:buSzPts val="3200"/>
            </a:pPr>
            <a:r>
              <a:rPr lang="en-US" sz="2800" dirty="0">
                <a:solidFill>
                  <a:schemeClr val="dk1"/>
                </a:solidFill>
                <a:latin typeface="Cambria"/>
                <a:ea typeface="Cambria"/>
                <a:cs typeface="Gill Sans"/>
                <a:sym typeface="Gill Sans"/>
              </a:rPr>
              <a:t>Presented By: </a:t>
            </a:r>
            <a:r>
              <a:rPr lang="en-US" sz="2800" dirty="0">
                <a:solidFill>
                  <a:schemeClr val="dk1"/>
                </a:solidFill>
                <a:latin typeface="Cambria"/>
                <a:ea typeface="Cambria"/>
              </a:rPr>
              <a:t>Aizaz Shabber Khan</a:t>
            </a:r>
          </a:p>
          <a:p>
            <a:pPr algn="ctr">
              <a:buClr>
                <a:schemeClr val="dk1"/>
              </a:buClr>
              <a:buSzPts val="3200"/>
            </a:pPr>
            <a:r>
              <a:rPr lang="en-US" sz="2800" dirty="0">
                <a:solidFill>
                  <a:schemeClr val="dk1"/>
                </a:solidFill>
                <a:latin typeface="Cambria"/>
                <a:ea typeface="Cambria"/>
              </a:rPr>
              <a:t>2024(S)-MS-DS-06</a:t>
            </a:r>
          </a:p>
          <a:p>
            <a:pPr algn="ctr"/>
            <a:r>
              <a:rPr lang="en-US" sz="2800" dirty="0">
                <a:solidFill>
                  <a:schemeClr val="dk1"/>
                </a:solidFill>
                <a:latin typeface="Cambria"/>
                <a:ea typeface="Cambria"/>
                <a:cs typeface="Gill Sans"/>
                <a:sym typeface="Gill Sans"/>
              </a:rPr>
              <a:t>Supervisor: </a:t>
            </a:r>
            <a:r>
              <a:rPr lang="en-US" sz="2800" dirty="0">
                <a:solidFill>
                  <a:schemeClr val="dk1"/>
                </a:solidFill>
                <a:latin typeface="Cambria"/>
                <a:ea typeface="Cambria"/>
                <a:sym typeface="Gill Sans"/>
              </a:rPr>
              <a:t>Dr. Ayesha Altaf</a:t>
            </a:r>
            <a:br>
              <a:rPr lang="en-US" sz="2800" dirty="0">
                <a:solidFill>
                  <a:schemeClr val="dk1"/>
                </a:solidFill>
                <a:latin typeface="Cambria"/>
                <a:ea typeface="Cambria"/>
                <a:sym typeface="Gill Sans"/>
              </a:rPr>
            </a:br>
            <a:r>
              <a:rPr lang="en-US" sz="2800" dirty="0">
                <a:solidFill>
                  <a:schemeClr val="dk1"/>
                </a:solidFill>
                <a:latin typeface="Cambria"/>
                <a:ea typeface="Cambria"/>
                <a:sym typeface="Gill Sans"/>
              </a:rPr>
              <a:t>Co-Supervisor</a:t>
            </a:r>
            <a:r>
              <a:rPr lang="en-US" sz="2800" dirty="0">
                <a:solidFill>
                  <a:schemeClr val="dk1"/>
                </a:solidFill>
                <a:latin typeface="Cambria"/>
                <a:ea typeface="Cambria"/>
                <a:cs typeface="Gill Sans"/>
                <a:sym typeface="Gill Sans"/>
              </a:rPr>
              <a:t>: Prof. Dr. Muhammad Shoaib</a:t>
            </a:r>
            <a:br>
              <a:rPr lang="en-US" sz="2800" dirty="0">
                <a:solidFill>
                  <a:schemeClr val="dk1"/>
                </a:solidFill>
                <a:latin typeface="Cambria"/>
                <a:ea typeface="Cambria"/>
                <a:cs typeface="Gill Sans"/>
                <a:sym typeface="Gill Sans"/>
              </a:rPr>
            </a:br>
            <a:r>
              <a:rPr lang="en-US" sz="2800" dirty="0">
                <a:solidFill>
                  <a:schemeClr val="dk1"/>
                </a:solidFill>
                <a:latin typeface="Cambria"/>
                <a:ea typeface="Cambria"/>
                <a:cs typeface="Gill Sans"/>
                <a:sym typeface="Gill Sans"/>
              </a:rPr>
              <a:t>Department of Computer Science</a:t>
            </a:r>
            <a:endParaRPr lang="en-US" sz="2800" dirty="0">
              <a:solidFill>
                <a:schemeClr val="dk1"/>
              </a:solidFill>
              <a:latin typeface="Cambria"/>
              <a:ea typeface="Cambria"/>
              <a:cs typeface="Calibri"/>
            </a:endParaRPr>
          </a:p>
        </p:txBody>
      </p:sp>
      <p:sp>
        <p:nvSpPr>
          <p:cNvPr id="2" name="TextBox 1"/>
          <p:cNvSpPr txBox="1"/>
          <p:nvPr/>
        </p:nvSpPr>
        <p:spPr>
          <a:xfrm>
            <a:off x="1524001" y="558642"/>
            <a:ext cx="9143999" cy="646331"/>
          </a:xfrm>
          <a:prstGeom prst="rect">
            <a:avLst/>
          </a:prstGeom>
          <a:noFill/>
        </p:spPr>
        <p:txBody>
          <a:bodyPr wrap="square" rtlCol="0">
            <a:spAutoFit/>
          </a:bodyPr>
          <a:lstStyle/>
          <a:p>
            <a:pPr algn="ctr"/>
            <a:r>
              <a:rPr lang="en-US" sz="3600" b="1" dirty="0">
                <a:solidFill>
                  <a:srgbClr val="002060"/>
                </a:solidFill>
                <a:latin typeface="Cambria" panose="02040503050406030204" pitchFamily="18" charset="0"/>
                <a:ea typeface="Cambria" panose="02040503050406030204" pitchFamily="18" charset="0"/>
                <a:cs typeface="Cambria"/>
                <a:sym typeface="Cambria"/>
              </a:rPr>
              <a:t>Department of Computer Science  </a:t>
            </a:r>
            <a:endParaRPr lang="en-US" sz="4000" dirty="0">
              <a:solidFill>
                <a:srgbClr val="002060"/>
              </a:solidFill>
            </a:endParaRPr>
          </a:p>
        </p:txBody>
      </p:sp>
      <p:pic>
        <p:nvPicPr>
          <p:cNvPr id="6" name="Google Shape;171;p28"/>
          <p:cNvPicPr preferRelativeResize="0"/>
          <p:nvPr/>
        </p:nvPicPr>
        <p:blipFill rotWithShape="1">
          <a:blip r:embed="rId3" cstate="email">
            <a:alphaModFix/>
            <a:extLst>
              <a:ext uri="{28A0092B-C50C-407E-A947-70E740481C1C}">
                <a14:useLocalDpi xmlns:a14="http://schemas.microsoft.com/office/drawing/2010/main"/>
              </a:ext>
            </a:extLst>
          </a:blip>
          <a:srcRect l="1" t="6761" r="6238" b="8561"/>
          <a:stretch/>
        </p:blipFill>
        <p:spPr>
          <a:xfrm>
            <a:off x="1330900" y="309715"/>
            <a:ext cx="1097280" cy="1097280"/>
          </a:xfrm>
          <a:prstGeom prst="rect">
            <a:avLst/>
          </a:prstGeom>
          <a:noFill/>
          <a:ln>
            <a:noFill/>
          </a:ln>
        </p:spPr>
      </p:pic>
      <p:pic>
        <p:nvPicPr>
          <p:cNvPr id="7" name="Picture 6" descr="cs final logo with color trnasparent.png"/>
          <p:cNvPicPr>
            <a:picLocks/>
          </p:cNvPicPr>
          <p:nvPr/>
        </p:nvPicPr>
        <p:blipFill>
          <a:blip r:embed="rId4"/>
          <a:stretch>
            <a:fillRect/>
          </a:stretch>
        </p:blipFill>
        <p:spPr>
          <a:xfrm>
            <a:off x="9745663" y="306646"/>
            <a:ext cx="1097280" cy="1097280"/>
          </a:xfrm>
          <a:prstGeom prst="rect">
            <a:avLst/>
          </a:prstGeom>
        </p:spPr>
      </p:pic>
      <p:sp>
        <p:nvSpPr>
          <p:cNvPr id="8" name="Google Shape;169;p28"/>
          <p:cNvSpPr txBox="1"/>
          <p:nvPr/>
        </p:nvSpPr>
        <p:spPr>
          <a:xfrm>
            <a:off x="1420678" y="5461565"/>
            <a:ext cx="9143999" cy="755844"/>
          </a:xfrm>
          <a:prstGeom prst="rect">
            <a:avLst/>
          </a:prstGeom>
          <a:noFill/>
          <a:ln>
            <a:noFill/>
          </a:ln>
        </p:spPr>
        <p:txBody>
          <a:bodyPr spcFirstLastPara="1" wrap="square" lIns="83114" tIns="41545" rIns="83114" bIns="41545" anchor="t" anchorCtr="0">
            <a:noAutofit/>
          </a:bodyPr>
          <a:lstStyle/>
          <a:p>
            <a:pPr marL="331935" indent="-255446" algn="ctr">
              <a:lnSpc>
                <a:spcPct val="80000"/>
              </a:lnSpc>
              <a:buClr>
                <a:srgbClr val="FFFFFF"/>
              </a:buClr>
              <a:buSzPts val="2080"/>
            </a:pPr>
            <a:endParaRPr sz="3200" b="1" dirty="0">
              <a:latin typeface="Cambria" panose="02040503050406030204" pitchFamily="18" charset="0"/>
              <a:ea typeface="Cambria" panose="02040503050406030204" pitchFamily="18" charset="0"/>
              <a:cs typeface="Gill Sans"/>
              <a:sym typeface="Gill Sans"/>
            </a:endParaRPr>
          </a:p>
          <a:p>
            <a:pPr marL="59172" indent="-18762" algn="ctr">
              <a:lnSpc>
                <a:spcPct val="80000"/>
              </a:lnSpc>
              <a:spcBef>
                <a:spcPts val="636"/>
              </a:spcBef>
              <a:buSzPts val="2240"/>
            </a:pPr>
            <a:r>
              <a:rPr lang="en-US" sz="3200" b="1" dirty="0">
                <a:latin typeface="Cambria" panose="02040503050406030204" pitchFamily="18" charset="0"/>
                <a:ea typeface="Cambria" panose="02040503050406030204" pitchFamily="18" charset="0"/>
                <a:cs typeface="Cambria"/>
                <a:sym typeface="Cambria"/>
              </a:rPr>
              <a:t>University of Engineering and Technology, Lahore</a:t>
            </a:r>
            <a:endParaRPr sz="3200" b="1" dirty="0">
              <a:latin typeface="Cambria" panose="02040503050406030204" pitchFamily="18" charset="0"/>
              <a:ea typeface="Cambria" panose="02040503050406030204" pitchFamily="18" charset="0"/>
            </a:endParaRPr>
          </a:p>
        </p:txBody>
      </p:sp>
      <p:sp>
        <p:nvSpPr>
          <p:cNvPr id="9" name="Slide Number Placeholder 8"/>
          <p:cNvSpPr>
            <a:spLocks noGrp="1"/>
          </p:cNvSpPr>
          <p:nvPr>
            <p:ph type="sldNum" idx="12"/>
          </p:nvPr>
        </p:nvSpPr>
        <p:spPr/>
        <p:txBody>
          <a:bodyPr/>
          <a:lstStyle/>
          <a:p>
            <a:fld id="{00000000-1234-1234-1234-123412341234}" type="slidenum">
              <a:rPr lang="en-US" smtClean="0"/>
              <a:pPr/>
              <a:t>1</a:t>
            </a:fld>
            <a:endParaRPr lang="en-US" dirty="0"/>
          </a:p>
        </p:txBody>
      </p:sp>
      <p:sp>
        <p:nvSpPr>
          <p:cNvPr id="10" name="TextBox 9">
            <a:extLst>
              <a:ext uri="{FF2B5EF4-FFF2-40B4-BE49-F238E27FC236}">
                <a16:creationId xmlns:a16="http://schemas.microsoft.com/office/drawing/2014/main" id="{CED174CA-70CB-400A-BCEC-4AAADF418BB7}"/>
              </a:ext>
            </a:extLst>
          </p:cNvPr>
          <p:cNvSpPr txBox="1"/>
          <p:nvPr/>
        </p:nvSpPr>
        <p:spPr>
          <a:xfrm>
            <a:off x="1544235" y="1487360"/>
            <a:ext cx="9021170" cy="1565493"/>
          </a:xfrm>
          <a:prstGeom prst="rect">
            <a:avLst/>
          </a:prstGeom>
          <a:noFill/>
        </p:spPr>
        <p:txBody>
          <a:bodyPr wrap="square" lIns="91440" tIns="45720" rIns="91440" bIns="45720" anchor="t">
            <a:spAutoFit/>
          </a:bodyPr>
          <a:lstStyle/>
          <a:p>
            <a:pPr algn="ctr">
              <a:lnSpc>
                <a:spcPts val="6160"/>
              </a:lnSpc>
            </a:pPr>
            <a:r>
              <a:rPr lang="en-US" sz="2800" b="1" dirty="0">
                <a:latin typeface="Roca Two Bold"/>
                <a:ea typeface="Roca Two Bold"/>
                <a:cs typeface="Roca Two Bold"/>
                <a:sym typeface="Roca Two Bold"/>
              </a:rPr>
              <a:t>EARLY DETECTION OF LUNG CANCER NODULES THROUGH CAPSULE NEURAL NETWORK</a:t>
            </a:r>
          </a:p>
        </p:txBody>
      </p:sp>
    </p:spTree>
    <p:extLst>
      <p:ext uri="{BB962C8B-B14F-4D97-AF65-F5344CB8AC3E}">
        <p14:creationId xmlns:p14="http://schemas.microsoft.com/office/powerpoint/2010/main" val="1895661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604433" y="962377"/>
            <a:ext cx="8544297" cy="5181599"/>
          </a:xfrm>
          <a:prstGeom prst="rect">
            <a:avLst/>
          </a:prstGeom>
          <a:noFill/>
          <a:ln>
            <a:noFill/>
          </a:ln>
        </p:spPr>
        <p:txBody>
          <a:bodyPr spcFirstLastPara="1" wrap="square" lIns="90000" tIns="46800" rIns="90000" bIns="46800" anchor="ctr" anchorCtr="0">
            <a:noAutofit/>
          </a:bodyPr>
          <a:lstStyle>
            <a:defPPr>
              <a:defRPr lang="en-US"/>
            </a:defPPr>
            <a:lvl1pPr marL="228600" marR="0" lvl="0" indent="-228600" fontAlgn="auto">
              <a:lnSpc>
                <a:spcPct val="90000"/>
              </a:lnSpc>
              <a:spcBef>
                <a:spcPts val="1000"/>
              </a:spcBef>
              <a:spcAft>
                <a:spcPts val="0"/>
              </a:spcAft>
              <a:buClrTx/>
              <a:buSzTx/>
              <a:buFont typeface="Arial" panose="020B0604020202020204" pitchFamily="34" charset="0"/>
              <a:buChar char="•"/>
              <a:tabLst/>
              <a:defRPr kumimoji="0" sz="2800" b="0" i="0" u="none" strike="noStrike" cap="none" spc="0" normalizeH="0" baseline="0">
                <a:ln>
                  <a:noFill/>
                </a:ln>
                <a:solidFill>
                  <a:prstClr val="black"/>
                </a:solidFill>
                <a:effectLst/>
                <a:uLnTx/>
                <a:uFillTx/>
                <a:latin typeface="Times New Roman" panose="02020603050405020304" pitchFamily="18" charset="0"/>
                <a:cs typeface="Times New Roman" panose="02020603050405020304" pitchFamily="18" charset="0"/>
              </a:defRPr>
            </a:lvl1pPr>
          </a:lstStyle>
          <a:p>
            <a:r>
              <a:rPr lang="en-US" dirty="0"/>
              <a:t>Introduction</a:t>
            </a:r>
          </a:p>
          <a:p>
            <a:r>
              <a:rPr lang="en-US" dirty="0"/>
              <a:t>Literature Review</a:t>
            </a:r>
          </a:p>
          <a:p>
            <a:r>
              <a:rPr lang="en-US" dirty="0"/>
              <a:t>Research Gap</a:t>
            </a:r>
          </a:p>
          <a:p>
            <a:r>
              <a:rPr lang="en-US" dirty="0"/>
              <a:t>Problem Statement</a:t>
            </a:r>
          </a:p>
          <a:p>
            <a:r>
              <a:rPr lang="en-US" dirty="0"/>
              <a:t>Methodology</a:t>
            </a:r>
          </a:p>
          <a:p>
            <a:r>
              <a:rPr lang="en-US" dirty="0"/>
              <a:t>Model Evaluation</a:t>
            </a:r>
          </a:p>
          <a:p>
            <a:r>
              <a:rPr lang="en-US" dirty="0">
                <a:latin typeface="Times New Roman" panose="02020603050405020304" charset="0"/>
                <a:cs typeface="Times New Roman" panose="02020603050405020304" charset="0"/>
                <a:sym typeface="+mn-ea"/>
              </a:rPr>
              <a:t>Research Objective</a:t>
            </a:r>
            <a:endParaRPr lang="en-US" dirty="0"/>
          </a:p>
          <a:p>
            <a:r>
              <a:rPr lang="en-US" dirty="0"/>
              <a:t>References</a:t>
            </a:r>
          </a:p>
        </p:txBody>
      </p:sp>
      <p:sp>
        <p:nvSpPr>
          <p:cNvPr id="2" name="TextBox 1"/>
          <p:cNvSpPr txBox="1"/>
          <p:nvPr/>
        </p:nvSpPr>
        <p:spPr>
          <a:xfrm>
            <a:off x="838201" y="639211"/>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cs typeface="Cambria"/>
                <a:sym typeface="Cambria"/>
              </a:rPr>
              <a:t>Agenda </a:t>
            </a:r>
            <a:endParaRPr lang="en-US" sz="4000" dirty="0">
              <a:solidFill>
                <a:srgbClr val="002060"/>
              </a:solidFill>
            </a:endParaRPr>
          </a:p>
        </p:txBody>
      </p:sp>
      <p:sp>
        <p:nvSpPr>
          <p:cNvPr id="9" name="Slide Number Placeholder 8"/>
          <p:cNvSpPr>
            <a:spLocks noGrp="1"/>
          </p:cNvSpPr>
          <p:nvPr>
            <p:ph type="sldNum" idx="12"/>
          </p:nvPr>
        </p:nvSpPr>
        <p:spPr/>
        <p:txBody>
          <a:body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1770823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 name="TextBox 1"/>
          <p:cNvSpPr txBox="1"/>
          <p:nvPr/>
        </p:nvSpPr>
        <p:spPr>
          <a:xfrm>
            <a:off x="206485" y="136330"/>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cs typeface="Cambria"/>
                <a:sym typeface="Cambria"/>
              </a:rPr>
              <a:t>Introduction </a:t>
            </a:r>
            <a:endParaRPr lang="en-US" sz="4000" dirty="0">
              <a:solidFill>
                <a:srgbClr val="002060"/>
              </a:solidFill>
            </a:endParaRPr>
          </a:p>
        </p:txBody>
      </p:sp>
      <p:sp>
        <p:nvSpPr>
          <p:cNvPr id="9" name="Slide Number Placeholder 8"/>
          <p:cNvSpPr>
            <a:spLocks noGrp="1"/>
          </p:cNvSpPr>
          <p:nvPr>
            <p:ph type="sldNum" idx="12"/>
          </p:nvPr>
        </p:nvSpPr>
        <p:spPr/>
        <p:txBody>
          <a:bodyPr/>
          <a:lstStyle/>
          <a:p>
            <a:fld id="{00000000-1234-1234-1234-123412341234}" type="slidenum">
              <a:rPr lang="en-US" smtClean="0"/>
              <a:pPr/>
              <a:t>3</a:t>
            </a:fld>
            <a:endParaRPr lang="en-US" dirty="0"/>
          </a:p>
        </p:txBody>
      </p:sp>
      <p:sp>
        <p:nvSpPr>
          <p:cNvPr id="3" name="TextBox 2">
            <a:extLst>
              <a:ext uri="{FF2B5EF4-FFF2-40B4-BE49-F238E27FC236}">
                <a16:creationId xmlns:a16="http://schemas.microsoft.com/office/drawing/2014/main" id="{42FB3555-6CA8-CA83-65DD-012BD281C7C3}"/>
              </a:ext>
            </a:extLst>
          </p:cNvPr>
          <p:cNvSpPr txBox="1"/>
          <p:nvPr/>
        </p:nvSpPr>
        <p:spPr>
          <a:xfrm>
            <a:off x="420832" y="689263"/>
            <a:ext cx="11255085" cy="57116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Lung cancer continues to be one of the most serious health challenges worldwide, contributing heavily to global cancer-related deaths (Stewart &amp; Wild, 2014). Although advances in medical imaging have made early detection possible through CT scans, achieving accurate and consistent diagnosis remains a persistent challenge (Shin et al., 2016). Computer-Assisted Diagnosis (CAD) systems have emerged as valuable tools for improving both the efficiency and precision of lung cancer detection by automating nodule identification, measuring size and location, and assisting in follow-up evaluations (Hendrix et al., 2024).</a:t>
            </a:r>
          </a:p>
          <a:p>
            <a:r>
              <a:rPr lang="en-US" sz="2000" dirty="0">
                <a:latin typeface="Times New Roman" panose="02020603050405020304" pitchFamily="18" charset="0"/>
                <a:cs typeface="Times New Roman" panose="02020603050405020304" pitchFamily="18" charset="0"/>
              </a:rPr>
              <a:t>Despite these advancements, traditional deep learning approaches such as Convolutional Neural Networks (CNNs) have inherent weaknesses. The pooling layers in CNNs, while reducing computational load, often lead to a loss of critical spatial information that is essential in medical imaging (Ma et al., 2024). Capsule Neural Networks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were developed to address this issue by maintaining spatial hierarchies and improving object recognition irrespective of position or orientation (</a:t>
            </a:r>
            <a:r>
              <a:rPr lang="en-US" sz="2000" dirty="0" err="1">
                <a:latin typeface="Times New Roman" panose="02020603050405020304" pitchFamily="18" charset="0"/>
                <a:cs typeface="Times New Roman" panose="02020603050405020304" pitchFamily="18" charset="0"/>
              </a:rPr>
              <a:t>Sabour</a:t>
            </a:r>
            <a:r>
              <a:rPr lang="en-US" sz="2000" dirty="0">
                <a:latin typeface="Times New Roman" panose="02020603050405020304" pitchFamily="18" charset="0"/>
                <a:cs typeface="Times New Roman" panose="02020603050405020304" pitchFamily="18" charset="0"/>
              </a:rPr>
              <a:t> et al., 2017). This characteristic makes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a strong candidate for enhancing lung nodule detection accuracy, reducing false positives, and achieving reliable results even with limited datasets (</a:t>
            </a:r>
            <a:r>
              <a:rPr lang="en-US" sz="2000" dirty="0" err="1">
                <a:latin typeface="Times New Roman" panose="02020603050405020304" pitchFamily="18" charset="0"/>
                <a:cs typeface="Times New Roman" panose="02020603050405020304" pitchFamily="18" charset="0"/>
              </a:rPr>
              <a:t>Xue</a:t>
            </a:r>
            <a:r>
              <a:rPr lang="en-US" sz="2000" dirty="0">
                <a:latin typeface="Times New Roman" panose="02020603050405020304" pitchFamily="18" charset="0"/>
                <a:cs typeface="Times New Roman" panose="02020603050405020304" pitchFamily="18" charset="0"/>
              </a:rPr>
              <a:t> et al., 2025).</a:t>
            </a:r>
          </a:p>
          <a:p>
            <a:r>
              <a:rPr lang="en-US" sz="2000" dirty="0">
                <a:latin typeface="Times New Roman" panose="02020603050405020304" pitchFamily="18" charset="0"/>
                <a:cs typeface="Times New Roman" panose="02020603050405020304" pitchFamily="18" charset="0"/>
              </a:rPr>
              <a:t>However, research applying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to lung cancer detection remains limited. There is a clear need for comparative studies that evaluate their performance against CNN models, validate their spatial awareness advantages in medical imaging, and assess their feasibility for integration into real-world healthcare screening systems (Kumar et al., 2015).</a:t>
            </a:r>
          </a:p>
          <a:p>
            <a:pPr algn="justLow">
              <a:lnSpc>
                <a:spcPts val="3359"/>
              </a:lnSpc>
            </a:pPr>
            <a:endParaRPr lang="en-US" sz="2000" dirty="0">
              <a:solidFill>
                <a:srgbClr val="031862"/>
              </a:solidFill>
              <a:latin typeface="Times New Roman" panose="02020603050405020304" pitchFamily="18" charset="0"/>
              <a:ea typeface="Gordita"/>
              <a:cs typeface="Times New Roman" panose="02020603050405020304" pitchFamily="18" charset="0"/>
              <a:sym typeface="Gordita"/>
            </a:endParaRPr>
          </a:p>
        </p:txBody>
      </p:sp>
    </p:spTree>
    <p:extLst>
      <p:ext uri="{BB962C8B-B14F-4D97-AF65-F5344CB8AC3E}">
        <p14:creationId xmlns:p14="http://schemas.microsoft.com/office/powerpoint/2010/main" val="1772134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8657-BC7D-4FE9-863C-176539E54D54}"/>
              </a:ext>
            </a:extLst>
          </p:cNvPr>
          <p:cNvSpPr>
            <a:spLocks noGrp="1"/>
          </p:cNvSpPr>
          <p:nvPr>
            <p:ph type="title"/>
          </p:nvPr>
        </p:nvSpPr>
        <p:spPr>
          <a:xfrm>
            <a:off x="132013" y="-148354"/>
            <a:ext cx="11218683" cy="1325563"/>
          </a:xfrm>
        </p:spPr>
        <p:txBody>
          <a:bodyPr/>
          <a:lstStyle/>
          <a:p>
            <a:r>
              <a:rPr lang="en-US" sz="3600" b="1" dirty="0">
                <a:solidFill>
                  <a:srgbClr val="002060"/>
                </a:solidFill>
                <a:latin typeface="Cambria" panose="02040503050406030204" pitchFamily="18" charset="0"/>
                <a:ea typeface="Cambria" panose="02040503050406030204" pitchFamily="18" charset="0"/>
                <a:cs typeface="Cambria"/>
              </a:rPr>
              <a:t>Literature</a:t>
            </a:r>
            <a:r>
              <a:rPr lang="en-US" dirty="0"/>
              <a:t> </a:t>
            </a:r>
            <a:r>
              <a:rPr lang="en-US" sz="3600" b="1" dirty="0">
                <a:solidFill>
                  <a:srgbClr val="002060"/>
                </a:solidFill>
                <a:latin typeface="Cambria" panose="02040503050406030204" pitchFamily="18" charset="0"/>
                <a:ea typeface="Cambria" panose="02040503050406030204" pitchFamily="18" charset="0"/>
                <a:cs typeface="Cambria"/>
              </a:rPr>
              <a:t>review</a:t>
            </a:r>
          </a:p>
        </p:txBody>
      </p:sp>
      <p:graphicFrame>
        <p:nvGraphicFramePr>
          <p:cNvPr id="3" name="Table 2">
            <a:extLst>
              <a:ext uri="{FF2B5EF4-FFF2-40B4-BE49-F238E27FC236}">
                <a16:creationId xmlns:a16="http://schemas.microsoft.com/office/drawing/2014/main" id="{1E9D7C87-15E7-CC48-233A-0811B5846FE7}"/>
              </a:ext>
            </a:extLst>
          </p:cNvPr>
          <p:cNvGraphicFramePr>
            <a:graphicFrameLocks noGrp="1"/>
          </p:cNvGraphicFramePr>
          <p:nvPr>
            <p:extLst>
              <p:ext uri="{D42A27DB-BD31-4B8C-83A1-F6EECF244321}">
                <p14:modId xmlns:p14="http://schemas.microsoft.com/office/powerpoint/2010/main" val="3542144437"/>
              </p:ext>
            </p:extLst>
          </p:nvPr>
        </p:nvGraphicFramePr>
        <p:xfrm>
          <a:off x="530578" y="1254125"/>
          <a:ext cx="10972800" cy="5157967"/>
        </p:xfrm>
        <a:graphic>
          <a:graphicData uri="http://schemas.openxmlformats.org/drawingml/2006/table">
            <a:tbl>
              <a:tblPr>
                <a:tableStyleId>{5C22544A-7EE6-4342-B048-85BDC9FD1C3A}</a:tableStyleId>
              </a:tblPr>
              <a:tblGrid>
                <a:gridCol w="680600">
                  <a:extLst>
                    <a:ext uri="{9D8B030D-6E8A-4147-A177-3AD203B41FA5}">
                      <a16:colId xmlns:a16="http://schemas.microsoft.com/office/drawing/2014/main" val="2598778696"/>
                    </a:ext>
                  </a:extLst>
                </a:gridCol>
                <a:gridCol w="1259112">
                  <a:extLst>
                    <a:ext uri="{9D8B030D-6E8A-4147-A177-3AD203B41FA5}">
                      <a16:colId xmlns:a16="http://schemas.microsoft.com/office/drawing/2014/main" val="2474146060"/>
                    </a:ext>
                  </a:extLst>
                </a:gridCol>
                <a:gridCol w="2586283">
                  <a:extLst>
                    <a:ext uri="{9D8B030D-6E8A-4147-A177-3AD203B41FA5}">
                      <a16:colId xmlns:a16="http://schemas.microsoft.com/office/drawing/2014/main" val="3897993131"/>
                    </a:ext>
                  </a:extLst>
                </a:gridCol>
                <a:gridCol w="1915727">
                  <a:extLst>
                    <a:ext uri="{9D8B030D-6E8A-4147-A177-3AD203B41FA5}">
                      <a16:colId xmlns:a16="http://schemas.microsoft.com/office/drawing/2014/main" val="433622196"/>
                    </a:ext>
                  </a:extLst>
                </a:gridCol>
                <a:gridCol w="2096039">
                  <a:extLst>
                    <a:ext uri="{9D8B030D-6E8A-4147-A177-3AD203B41FA5}">
                      <a16:colId xmlns:a16="http://schemas.microsoft.com/office/drawing/2014/main" val="2766659498"/>
                    </a:ext>
                  </a:extLst>
                </a:gridCol>
                <a:gridCol w="2435039">
                  <a:extLst>
                    <a:ext uri="{9D8B030D-6E8A-4147-A177-3AD203B41FA5}">
                      <a16:colId xmlns:a16="http://schemas.microsoft.com/office/drawing/2014/main" val="24794697"/>
                    </a:ext>
                  </a:extLst>
                </a:gridCol>
              </a:tblGrid>
              <a:tr h="410293">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Year</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Authors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Model / Approach</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Dataset</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Key Findings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Limitations / Gap</a:t>
                      </a:r>
                    </a:p>
                  </a:txBody>
                  <a:tcPr marL="8241" marR="8241" marT="8241" marB="0" anchor="ctr">
                    <a:solidFill>
                      <a:schemeClr val="accent1">
                        <a:lumMod val="75000"/>
                      </a:schemeClr>
                    </a:solidFill>
                  </a:tcPr>
                </a:tc>
                <a:extLst>
                  <a:ext uri="{0D108BD9-81ED-4DB2-BD59-A6C34878D82A}">
                    <a16:rowId xmlns:a16="http://schemas.microsoft.com/office/drawing/2014/main" val="2107825316"/>
                  </a:ext>
                </a:extLst>
              </a:tr>
              <a:tr h="791279">
                <a:tc>
                  <a:txBody>
                    <a:bodyPr/>
                    <a:lstStyle/>
                    <a:p>
                      <a:pPr fontAlgn="t"/>
                      <a:r>
                        <a:rPr lang="en-US" sz="1400" b="1">
                          <a:solidFill>
                            <a:schemeClr val="tx1"/>
                          </a:solidFill>
                          <a:effectLst/>
                        </a:rPr>
                        <a:t>2025</a:t>
                      </a:r>
                    </a:p>
                  </a:txBody>
                  <a:tcPr marL="60960" marR="60960" marT="60960" marB="60960"/>
                </a:tc>
                <a:tc>
                  <a:txBody>
                    <a:bodyPr/>
                    <a:lstStyle/>
                    <a:p>
                      <a:pPr fontAlgn="t"/>
                      <a:r>
                        <a:rPr lang="en-US" sz="1400">
                          <a:solidFill>
                            <a:schemeClr val="tx1"/>
                          </a:solidFill>
                          <a:effectLst/>
                        </a:rPr>
                        <a:t>Xue et al</a:t>
                      </a:r>
                    </a:p>
                  </a:txBody>
                  <a:tcPr marL="60960" marR="60960" marT="60960" marB="60960"/>
                </a:tc>
                <a:tc>
                  <a:txBody>
                    <a:bodyPr/>
                    <a:lstStyle/>
                    <a:p>
                      <a:pPr fontAlgn="t"/>
                      <a:r>
                        <a:rPr lang="en-US" sz="1400">
                          <a:solidFill>
                            <a:schemeClr val="tx1"/>
                          </a:solidFill>
                          <a:effectLst/>
                        </a:rPr>
                        <a:t>Vision Transformer (SEViT)</a:t>
                      </a:r>
                    </a:p>
                  </a:txBody>
                  <a:tcPr marL="60960" marR="60960" marT="60960" marB="60960"/>
                </a:tc>
                <a:tc>
                  <a:txBody>
                    <a:bodyPr/>
                    <a:lstStyle/>
                    <a:p>
                      <a:pPr fontAlgn="t"/>
                      <a:r>
                        <a:rPr lang="en-US" sz="1400">
                          <a:solidFill>
                            <a:schemeClr val="tx1"/>
                          </a:solidFill>
                          <a:effectLst/>
                        </a:rPr>
                        <a:t>LIDC-IDRI (1,018 scans)</a:t>
                      </a:r>
                    </a:p>
                  </a:txBody>
                  <a:tcPr marL="60960" marR="60960" marT="60960" marB="60960"/>
                </a:tc>
                <a:tc>
                  <a:txBody>
                    <a:bodyPr/>
                    <a:lstStyle/>
                    <a:p>
                      <a:pPr fontAlgn="t"/>
                      <a:r>
                        <a:rPr lang="en-US" sz="1400">
                          <a:solidFill>
                            <a:schemeClr val="tx1"/>
                          </a:solidFill>
                          <a:effectLst/>
                        </a:rPr>
                        <a:t>94.7% accuracy with SE attention blocks on multi-scale nodules</a:t>
                      </a:r>
                    </a:p>
                  </a:txBody>
                  <a:tcPr marL="60960" marR="60960" marT="60960" marB="60960"/>
                </a:tc>
                <a:tc>
                  <a:txBody>
                    <a:bodyPr/>
                    <a:lstStyle/>
                    <a:p>
                      <a:pPr fontAlgn="t"/>
                      <a:r>
                        <a:rPr lang="en-US" sz="1400">
                          <a:solidFill>
                            <a:schemeClr val="tx1"/>
                          </a:solidFill>
                          <a:effectLst/>
                        </a:rPr>
                        <a:t>High computational cost; struggles with &lt;3mm nodules</a:t>
                      </a:r>
                    </a:p>
                  </a:txBody>
                  <a:tcPr marL="60960" marR="60960" marT="60960" marB="60960"/>
                </a:tc>
                <a:extLst>
                  <a:ext uri="{0D108BD9-81ED-4DB2-BD59-A6C34878D82A}">
                    <a16:rowId xmlns:a16="http://schemas.microsoft.com/office/drawing/2014/main" val="2520088001"/>
                  </a:ext>
                </a:extLst>
              </a:tr>
              <a:tr h="791279">
                <a:tc>
                  <a:txBody>
                    <a:bodyPr/>
                    <a:lstStyle/>
                    <a:p>
                      <a:pPr fontAlgn="t"/>
                      <a:r>
                        <a:rPr lang="en-US" sz="1400" b="1">
                          <a:solidFill>
                            <a:schemeClr val="tx1"/>
                          </a:solidFill>
                          <a:effectLst/>
                        </a:rPr>
                        <a:t>2024</a:t>
                      </a:r>
                    </a:p>
                  </a:txBody>
                  <a:tcPr marL="60960" marR="60960" marT="60960" marB="60960"/>
                </a:tc>
                <a:tc>
                  <a:txBody>
                    <a:bodyPr/>
                    <a:lstStyle/>
                    <a:p>
                      <a:pPr fontAlgn="t"/>
                      <a:r>
                        <a:rPr lang="en-US" sz="1400">
                          <a:solidFill>
                            <a:schemeClr val="tx1"/>
                          </a:solidFill>
                          <a:effectLst/>
                        </a:rPr>
                        <a:t>Hendrix et al</a:t>
                      </a:r>
                    </a:p>
                  </a:txBody>
                  <a:tcPr marL="60960" marR="60960" marT="60960" marB="60960"/>
                </a:tc>
                <a:tc>
                  <a:txBody>
                    <a:bodyPr/>
                    <a:lstStyle/>
                    <a:p>
                      <a:pPr fontAlgn="t"/>
                      <a:r>
                        <a:rPr lang="en-US" sz="1400">
                          <a:solidFill>
                            <a:schemeClr val="tx1"/>
                          </a:solidFill>
                          <a:effectLst/>
                        </a:rPr>
                        <a:t>Deep Learning AI System</a:t>
                      </a:r>
                    </a:p>
                  </a:txBody>
                  <a:tcPr marL="60960" marR="60960" marT="60960" marB="60960"/>
                </a:tc>
                <a:tc>
                  <a:txBody>
                    <a:bodyPr/>
                    <a:lstStyle/>
                    <a:p>
                      <a:pPr fontAlgn="t"/>
                      <a:r>
                        <a:rPr lang="en-US" sz="1400">
                          <a:solidFill>
                            <a:schemeClr val="tx1"/>
                          </a:solidFill>
                          <a:effectLst/>
                        </a:rPr>
                        <a:t>Dutch Hospitals (500+ patients)</a:t>
                      </a:r>
                    </a:p>
                  </a:txBody>
                  <a:tcPr marL="60960" marR="60960" marT="60960" marB="60960"/>
                </a:tc>
                <a:tc>
                  <a:txBody>
                    <a:bodyPr/>
                    <a:lstStyle/>
                    <a:p>
                      <a:pPr fontAlgn="t"/>
                      <a:r>
                        <a:rPr lang="en-US" sz="1400">
                          <a:solidFill>
                            <a:schemeClr val="tx1"/>
                          </a:solidFill>
                          <a:effectLst/>
                        </a:rPr>
                        <a:t>96.9% sensitivity on primary cancer; 1 FP/scan; clinical validation</a:t>
                      </a:r>
                    </a:p>
                  </a:txBody>
                  <a:tcPr marL="60960" marR="60960" marT="60960" marB="60960"/>
                </a:tc>
                <a:tc>
                  <a:txBody>
                    <a:bodyPr/>
                    <a:lstStyle/>
                    <a:p>
                      <a:pPr fontAlgn="t"/>
                      <a:r>
                        <a:rPr lang="en-US" sz="1400">
                          <a:solidFill>
                            <a:schemeClr val="tx1"/>
                          </a:solidFill>
                          <a:effectLst/>
                        </a:rPr>
                        <a:t>Higher FP rate than radiologists; limited to diagnostic scans</a:t>
                      </a:r>
                    </a:p>
                  </a:txBody>
                  <a:tcPr marL="60960" marR="60960" marT="60960" marB="60960"/>
                </a:tc>
                <a:extLst>
                  <a:ext uri="{0D108BD9-81ED-4DB2-BD59-A6C34878D82A}">
                    <a16:rowId xmlns:a16="http://schemas.microsoft.com/office/drawing/2014/main" val="1195973410"/>
                  </a:ext>
                </a:extLst>
              </a:tr>
              <a:tr h="791279">
                <a:tc>
                  <a:txBody>
                    <a:bodyPr/>
                    <a:lstStyle/>
                    <a:p>
                      <a:pPr fontAlgn="t"/>
                      <a:r>
                        <a:rPr lang="en-US" sz="1400" b="1">
                          <a:solidFill>
                            <a:schemeClr val="tx1"/>
                          </a:solidFill>
                          <a:effectLst/>
                        </a:rPr>
                        <a:t>2024</a:t>
                      </a:r>
                    </a:p>
                  </a:txBody>
                  <a:tcPr marL="60960" marR="60960" marT="60960" marB="60960"/>
                </a:tc>
                <a:tc>
                  <a:txBody>
                    <a:bodyPr/>
                    <a:lstStyle/>
                    <a:p>
                      <a:pPr fontAlgn="t"/>
                      <a:r>
                        <a:rPr lang="en-US" sz="1400">
                          <a:solidFill>
                            <a:schemeClr val="tx1"/>
                          </a:solidFill>
                          <a:effectLst/>
                        </a:rPr>
                        <a:t>Ma et al</a:t>
                      </a:r>
                    </a:p>
                  </a:txBody>
                  <a:tcPr marL="60960" marR="60960" marT="60960" marB="60960"/>
                </a:tc>
                <a:tc>
                  <a:txBody>
                    <a:bodyPr/>
                    <a:lstStyle/>
                    <a:p>
                      <a:pPr fontAlgn="t"/>
                      <a:r>
                        <a:rPr lang="en-US" sz="1400">
                          <a:solidFill>
                            <a:schemeClr val="tx1"/>
                          </a:solidFill>
                          <a:effectLst/>
                        </a:rPr>
                        <a:t>Sequential CNN (SCNN)</a:t>
                      </a:r>
                    </a:p>
                  </a:txBody>
                  <a:tcPr marL="60960" marR="60960" marT="60960" marB="60960"/>
                </a:tc>
                <a:tc>
                  <a:txBody>
                    <a:bodyPr/>
                    <a:lstStyle/>
                    <a:p>
                      <a:pPr fontAlgn="t"/>
                      <a:r>
                        <a:rPr lang="en-US" sz="1400">
                          <a:solidFill>
                            <a:schemeClr val="tx1"/>
                          </a:solidFill>
                          <a:effectLst/>
                        </a:rPr>
                        <a:t>Hospital + LIDC/LUNA16</a:t>
                      </a:r>
                    </a:p>
                  </a:txBody>
                  <a:tcPr marL="60960" marR="60960" marT="60960" marB="60960"/>
                </a:tc>
                <a:tc>
                  <a:txBody>
                    <a:bodyPr/>
                    <a:lstStyle/>
                    <a:p>
                      <a:pPr fontAlgn="t"/>
                      <a:r>
                        <a:rPr lang="en-US" sz="1400" dirty="0">
                          <a:solidFill>
                            <a:schemeClr val="tx1"/>
                          </a:solidFill>
                          <a:effectLst/>
                        </a:rPr>
                        <a:t>91% accuracy; 40% faster inference; effective noise filtering</a:t>
                      </a:r>
                    </a:p>
                  </a:txBody>
                  <a:tcPr marL="60960" marR="60960" marT="60960" marB="60960"/>
                </a:tc>
                <a:tc>
                  <a:txBody>
                    <a:bodyPr/>
                    <a:lstStyle/>
                    <a:p>
                      <a:pPr fontAlgn="t"/>
                      <a:r>
                        <a:rPr lang="en-US" sz="1400">
                          <a:solidFill>
                            <a:schemeClr val="tx1"/>
                          </a:solidFill>
                          <a:effectLst/>
                        </a:rPr>
                        <a:t>Poor boundary detection; false positives remain; pooling loses spatial info</a:t>
                      </a:r>
                    </a:p>
                  </a:txBody>
                  <a:tcPr marL="60960" marR="60960" marT="60960" marB="60960"/>
                </a:tc>
                <a:extLst>
                  <a:ext uri="{0D108BD9-81ED-4DB2-BD59-A6C34878D82A}">
                    <a16:rowId xmlns:a16="http://schemas.microsoft.com/office/drawing/2014/main" val="3248747422"/>
                  </a:ext>
                </a:extLst>
              </a:tr>
              <a:tr h="791279">
                <a:tc>
                  <a:txBody>
                    <a:bodyPr/>
                    <a:lstStyle/>
                    <a:p>
                      <a:pPr fontAlgn="t"/>
                      <a:r>
                        <a:rPr lang="en-US" sz="1400" b="1">
                          <a:solidFill>
                            <a:schemeClr val="tx1"/>
                          </a:solidFill>
                          <a:effectLst/>
                        </a:rPr>
                        <a:t>2016</a:t>
                      </a:r>
                    </a:p>
                  </a:txBody>
                  <a:tcPr marL="60960" marR="60960" marT="60960" marB="60960"/>
                </a:tc>
                <a:tc>
                  <a:txBody>
                    <a:bodyPr/>
                    <a:lstStyle/>
                    <a:p>
                      <a:pPr fontAlgn="t"/>
                      <a:r>
                        <a:rPr lang="en-US" sz="1400">
                          <a:solidFill>
                            <a:schemeClr val="tx1"/>
                          </a:solidFill>
                          <a:effectLst/>
                        </a:rPr>
                        <a:t>Shin et al</a:t>
                      </a:r>
                    </a:p>
                  </a:txBody>
                  <a:tcPr marL="60960" marR="60960" marT="60960" marB="60960"/>
                </a:tc>
                <a:tc>
                  <a:txBody>
                    <a:bodyPr/>
                    <a:lstStyle/>
                    <a:p>
                      <a:pPr fontAlgn="t"/>
                      <a:r>
                        <a:rPr lang="en-US" sz="1400">
                          <a:solidFill>
                            <a:schemeClr val="tx1"/>
                          </a:solidFill>
                          <a:effectLst/>
                        </a:rPr>
                        <a:t>Deep CNN</a:t>
                      </a:r>
                    </a:p>
                  </a:txBody>
                  <a:tcPr marL="60960" marR="60960" marT="60960" marB="60960"/>
                </a:tc>
                <a:tc>
                  <a:txBody>
                    <a:bodyPr/>
                    <a:lstStyle/>
                    <a:p>
                      <a:pPr fontAlgn="t"/>
                      <a:r>
                        <a:rPr lang="en-US" sz="1400">
                          <a:solidFill>
                            <a:schemeClr val="tx1"/>
                          </a:solidFill>
                          <a:effectLst/>
                        </a:rPr>
                        <a:t>Thoraco-abdominal CT (427 patients)</a:t>
                      </a:r>
                    </a:p>
                  </a:txBody>
                  <a:tcPr marL="60960" marR="60960" marT="60960" marB="60960"/>
                </a:tc>
                <a:tc>
                  <a:txBody>
                    <a:bodyPr/>
                    <a:lstStyle/>
                    <a:p>
                      <a:pPr fontAlgn="t"/>
                      <a:r>
                        <a:rPr lang="en-US" sz="1400">
                          <a:solidFill>
                            <a:schemeClr val="tx1"/>
                          </a:solidFill>
                          <a:effectLst/>
                        </a:rPr>
                        <a:t>85% sensitivity; pioneering deep learning work for detection</a:t>
                      </a:r>
                    </a:p>
                  </a:txBody>
                  <a:tcPr marL="60960" marR="60960" marT="60960" marB="60960"/>
                </a:tc>
                <a:tc>
                  <a:txBody>
                    <a:bodyPr/>
                    <a:lstStyle/>
                    <a:p>
                      <a:pPr fontAlgn="t"/>
                      <a:r>
                        <a:rPr lang="en-US" sz="1400">
                          <a:solidFill>
                            <a:schemeClr val="tx1"/>
                          </a:solidFill>
                          <a:effectLst/>
                        </a:rPr>
                        <a:t>Poor generalization across scanners; needs fine-tuning per dataset</a:t>
                      </a:r>
                    </a:p>
                  </a:txBody>
                  <a:tcPr marL="60960" marR="60960" marT="60960" marB="60960"/>
                </a:tc>
                <a:extLst>
                  <a:ext uri="{0D108BD9-81ED-4DB2-BD59-A6C34878D82A}">
                    <a16:rowId xmlns:a16="http://schemas.microsoft.com/office/drawing/2014/main" val="2635676632"/>
                  </a:ext>
                </a:extLst>
              </a:tr>
              <a:tr h="791279">
                <a:tc>
                  <a:txBody>
                    <a:bodyPr/>
                    <a:lstStyle/>
                    <a:p>
                      <a:pPr fontAlgn="t"/>
                      <a:r>
                        <a:rPr lang="en-US" sz="1400" b="1">
                          <a:solidFill>
                            <a:schemeClr val="tx1"/>
                          </a:solidFill>
                          <a:effectLst/>
                        </a:rPr>
                        <a:t>2015</a:t>
                      </a:r>
                    </a:p>
                  </a:txBody>
                  <a:tcPr marL="60960" marR="60960" marT="60960" marB="60960"/>
                </a:tc>
                <a:tc>
                  <a:txBody>
                    <a:bodyPr/>
                    <a:lstStyle/>
                    <a:p>
                      <a:pPr fontAlgn="t"/>
                      <a:r>
                        <a:rPr lang="en-US" sz="1400">
                          <a:solidFill>
                            <a:schemeClr val="tx1"/>
                          </a:solidFill>
                          <a:effectLst/>
                        </a:rPr>
                        <a:t>Kumar et al</a:t>
                      </a:r>
                    </a:p>
                  </a:txBody>
                  <a:tcPr marL="60960" marR="60960" marT="60960" marB="60960"/>
                </a:tc>
                <a:tc>
                  <a:txBody>
                    <a:bodyPr/>
                    <a:lstStyle/>
                    <a:p>
                      <a:pPr fontAlgn="t"/>
                      <a:r>
                        <a:rPr lang="en-US" sz="1400">
                          <a:solidFill>
                            <a:schemeClr val="tx1"/>
                          </a:solidFill>
                          <a:effectLst/>
                        </a:rPr>
                        <a:t>Autoencoder CNN</a:t>
                      </a:r>
                    </a:p>
                  </a:txBody>
                  <a:tcPr marL="60960" marR="60960" marT="60960" marB="60960"/>
                </a:tc>
                <a:tc>
                  <a:txBody>
                    <a:bodyPr/>
                    <a:lstStyle/>
                    <a:p>
                      <a:pPr fontAlgn="t"/>
                      <a:r>
                        <a:rPr lang="en-US" sz="1400">
                          <a:solidFill>
                            <a:schemeClr val="tx1"/>
                          </a:solidFill>
                          <a:effectLst/>
                        </a:rPr>
                        <a:t>LIDC (1,018 scans)</a:t>
                      </a:r>
                    </a:p>
                  </a:txBody>
                  <a:tcPr marL="60960" marR="60960" marT="60960" marB="60960"/>
                </a:tc>
                <a:tc>
                  <a:txBody>
                    <a:bodyPr/>
                    <a:lstStyle/>
                    <a:p>
                      <a:pPr fontAlgn="t"/>
                      <a:r>
                        <a:rPr lang="en-US" sz="1400">
                          <a:solidFill>
                            <a:schemeClr val="tx1"/>
                          </a:solidFill>
                          <a:effectLst/>
                        </a:rPr>
                        <a:t>75% accuracy; unsupervised feature learning</a:t>
                      </a:r>
                    </a:p>
                  </a:txBody>
                  <a:tcPr marL="60960" marR="60960" marT="60960" marB="60960"/>
                </a:tc>
                <a:tc>
                  <a:txBody>
                    <a:bodyPr/>
                    <a:lstStyle/>
                    <a:p>
                      <a:pPr fontAlgn="t"/>
                      <a:r>
                        <a:rPr lang="en-US" sz="1400">
                          <a:solidFill>
                            <a:schemeClr val="tx1"/>
                          </a:solidFill>
                          <a:effectLst/>
                        </a:rPr>
                        <a:t>Significant overfitting; low accuracy on limited data</a:t>
                      </a:r>
                    </a:p>
                  </a:txBody>
                  <a:tcPr marL="60960" marR="60960" marT="60960" marB="60960"/>
                </a:tc>
                <a:extLst>
                  <a:ext uri="{0D108BD9-81ED-4DB2-BD59-A6C34878D82A}">
                    <a16:rowId xmlns:a16="http://schemas.microsoft.com/office/drawing/2014/main" val="1513327536"/>
                  </a:ext>
                </a:extLst>
              </a:tr>
              <a:tr h="791279">
                <a:tc>
                  <a:txBody>
                    <a:bodyPr/>
                    <a:lstStyle/>
                    <a:p>
                      <a:pPr fontAlgn="t"/>
                      <a:r>
                        <a:rPr lang="en-US" sz="1400" b="1">
                          <a:solidFill>
                            <a:schemeClr val="tx1"/>
                          </a:solidFill>
                          <a:effectLst/>
                        </a:rPr>
                        <a:t>2014</a:t>
                      </a:r>
                    </a:p>
                  </a:txBody>
                  <a:tcPr marL="60960" marR="60960" marT="60960" marB="60960"/>
                </a:tc>
                <a:tc>
                  <a:txBody>
                    <a:bodyPr/>
                    <a:lstStyle/>
                    <a:p>
                      <a:pPr fontAlgn="t"/>
                      <a:r>
                        <a:rPr lang="en-US" sz="1400">
                          <a:solidFill>
                            <a:schemeClr val="tx1"/>
                          </a:solidFill>
                          <a:effectLst/>
                        </a:rPr>
                        <a:t>Stewart &amp; Wild</a:t>
                      </a:r>
                    </a:p>
                  </a:txBody>
                  <a:tcPr marL="60960" marR="60960" marT="60960" marB="60960"/>
                </a:tc>
                <a:tc>
                  <a:txBody>
                    <a:bodyPr/>
                    <a:lstStyle/>
                    <a:p>
                      <a:pPr fontAlgn="t"/>
                      <a:r>
                        <a:rPr lang="en-US" sz="1400">
                          <a:solidFill>
                            <a:schemeClr val="tx1"/>
                          </a:solidFill>
                          <a:effectLst/>
                        </a:rPr>
                        <a:t>Statistical Analysis</a:t>
                      </a:r>
                    </a:p>
                  </a:txBody>
                  <a:tcPr marL="60960" marR="60960" marT="60960" marB="60960"/>
                </a:tc>
                <a:tc>
                  <a:txBody>
                    <a:bodyPr/>
                    <a:lstStyle/>
                    <a:p>
                      <a:pPr fontAlgn="t"/>
                      <a:r>
                        <a:rPr lang="en-US" sz="1400">
                          <a:solidFill>
                            <a:schemeClr val="tx1"/>
                          </a:solidFill>
                          <a:effectLst/>
                        </a:rPr>
                        <a:t>Global Registry (14M cases)</a:t>
                      </a:r>
                    </a:p>
                  </a:txBody>
                  <a:tcPr marL="60960" marR="60960" marT="60960" marB="60960"/>
                </a:tc>
                <a:tc>
                  <a:txBody>
                    <a:bodyPr/>
                    <a:lstStyle/>
                    <a:p>
                      <a:pPr fontAlgn="t"/>
                      <a:r>
                        <a:rPr lang="en-US" sz="1400">
                          <a:solidFill>
                            <a:schemeClr val="tx1"/>
                          </a:solidFill>
                          <a:effectLst/>
                        </a:rPr>
                        <a:t>1.59M lung cancer deaths annually; establishes urgency</a:t>
                      </a:r>
                    </a:p>
                  </a:txBody>
                  <a:tcPr marL="60960" marR="60960" marT="60960" marB="60960"/>
                </a:tc>
                <a:tc>
                  <a:txBody>
                    <a:bodyPr/>
                    <a:lstStyle/>
                    <a:p>
                      <a:pPr fontAlgn="t"/>
                      <a:r>
                        <a:rPr lang="en-US" sz="1400" dirty="0">
                          <a:solidFill>
                            <a:schemeClr val="tx1"/>
                          </a:solidFill>
                          <a:effectLst/>
                        </a:rPr>
                        <a:t>No automation; highlights need for CAD systems</a:t>
                      </a:r>
                    </a:p>
                  </a:txBody>
                  <a:tcPr marL="60960" marR="60960" marT="60960" marB="60960"/>
                </a:tc>
                <a:extLst>
                  <a:ext uri="{0D108BD9-81ED-4DB2-BD59-A6C34878D82A}">
                    <a16:rowId xmlns:a16="http://schemas.microsoft.com/office/drawing/2014/main" val="1950943027"/>
                  </a:ext>
                </a:extLst>
              </a:tr>
            </a:tbl>
          </a:graphicData>
        </a:graphic>
      </p:graphicFrame>
    </p:spTree>
    <p:extLst>
      <p:ext uri="{BB962C8B-B14F-4D97-AF65-F5344CB8AC3E}">
        <p14:creationId xmlns:p14="http://schemas.microsoft.com/office/powerpoint/2010/main" val="3561541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9D6F-0A7F-41A5-96FC-71F774A38C39}"/>
              </a:ext>
            </a:extLst>
          </p:cNvPr>
          <p:cNvSpPr>
            <a:spLocks noGrp="1"/>
          </p:cNvSpPr>
          <p:nvPr>
            <p:ph type="title"/>
          </p:nvPr>
        </p:nvSpPr>
        <p:spPr>
          <a:xfrm>
            <a:off x="104775" y="0"/>
            <a:ext cx="10515600" cy="1325563"/>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Cambria"/>
              </a:rPr>
              <a:t>Literature</a:t>
            </a:r>
            <a:r>
              <a:rPr lang="en-US" sz="3600" dirty="0"/>
              <a:t> </a:t>
            </a:r>
            <a:r>
              <a:rPr lang="en-US" sz="3600" b="1" dirty="0">
                <a:solidFill>
                  <a:srgbClr val="002060"/>
                </a:solidFill>
                <a:latin typeface="Cambria" panose="02040503050406030204" pitchFamily="18" charset="0"/>
                <a:ea typeface="Cambria" panose="02040503050406030204" pitchFamily="18" charset="0"/>
                <a:cs typeface="Cambria"/>
              </a:rPr>
              <a:t>review</a:t>
            </a:r>
            <a:endParaRPr lang="en-US" sz="3600" dirty="0"/>
          </a:p>
        </p:txBody>
      </p:sp>
      <p:graphicFrame>
        <p:nvGraphicFramePr>
          <p:cNvPr id="4" name="Content Placeholder 3">
            <a:extLst>
              <a:ext uri="{FF2B5EF4-FFF2-40B4-BE49-F238E27FC236}">
                <a16:creationId xmlns:a16="http://schemas.microsoft.com/office/drawing/2014/main" id="{AD2B3321-0C04-44D0-B79D-03FDFF89BB1C}"/>
              </a:ext>
            </a:extLst>
          </p:cNvPr>
          <p:cNvGraphicFramePr>
            <a:graphicFrameLocks noGrp="1"/>
          </p:cNvGraphicFramePr>
          <p:nvPr>
            <p:ph idx="1"/>
            <p:extLst>
              <p:ext uri="{D42A27DB-BD31-4B8C-83A1-F6EECF244321}">
                <p14:modId xmlns:p14="http://schemas.microsoft.com/office/powerpoint/2010/main" val="2390573356"/>
              </p:ext>
            </p:extLst>
          </p:nvPr>
        </p:nvGraphicFramePr>
        <p:xfrm>
          <a:off x="381000" y="953908"/>
          <a:ext cx="11468101" cy="5835733"/>
        </p:xfrm>
        <a:graphic>
          <a:graphicData uri="http://schemas.openxmlformats.org/drawingml/2006/table">
            <a:tbl>
              <a:tblPr>
                <a:tableStyleId>{5C22544A-7EE6-4342-B048-85BDC9FD1C3A}</a:tableStyleId>
              </a:tblPr>
              <a:tblGrid>
                <a:gridCol w="711322">
                  <a:extLst>
                    <a:ext uri="{9D8B030D-6E8A-4147-A177-3AD203B41FA5}">
                      <a16:colId xmlns:a16="http://schemas.microsoft.com/office/drawing/2014/main" val="4190560603"/>
                    </a:ext>
                  </a:extLst>
                </a:gridCol>
                <a:gridCol w="1315947">
                  <a:extLst>
                    <a:ext uri="{9D8B030D-6E8A-4147-A177-3AD203B41FA5}">
                      <a16:colId xmlns:a16="http://schemas.microsoft.com/office/drawing/2014/main" val="3027465754"/>
                    </a:ext>
                  </a:extLst>
                </a:gridCol>
                <a:gridCol w="2703025">
                  <a:extLst>
                    <a:ext uri="{9D8B030D-6E8A-4147-A177-3AD203B41FA5}">
                      <a16:colId xmlns:a16="http://schemas.microsoft.com/office/drawing/2014/main" val="2102900712"/>
                    </a:ext>
                  </a:extLst>
                </a:gridCol>
                <a:gridCol w="2002201">
                  <a:extLst>
                    <a:ext uri="{9D8B030D-6E8A-4147-A177-3AD203B41FA5}">
                      <a16:colId xmlns:a16="http://schemas.microsoft.com/office/drawing/2014/main" val="3241913873"/>
                    </a:ext>
                  </a:extLst>
                </a:gridCol>
                <a:gridCol w="2190652">
                  <a:extLst>
                    <a:ext uri="{9D8B030D-6E8A-4147-A177-3AD203B41FA5}">
                      <a16:colId xmlns:a16="http://schemas.microsoft.com/office/drawing/2014/main" val="3035041824"/>
                    </a:ext>
                  </a:extLst>
                </a:gridCol>
                <a:gridCol w="2544954">
                  <a:extLst>
                    <a:ext uri="{9D8B030D-6E8A-4147-A177-3AD203B41FA5}">
                      <a16:colId xmlns:a16="http://schemas.microsoft.com/office/drawing/2014/main" val="267709535"/>
                    </a:ext>
                  </a:extLst>
                </a:gridCol>
              </a:tblGrid>
              <a:tr h="410293">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Year</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Authors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Model / Approach</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Dataset</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Key Findings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Limitations / Gap</a:t>
                      </a:r>
                    </a:p>
                  </a:txBody>
                  <a:tcPr marL="8241" marR="8241" marT="8241" marB="0" anchor="ctr">
                    <a:solidFill>
                      <a:schemeClr val="accent1">
                        <a:lumMod val="75000"/>
                      </a:schemeClr>
                    </a:solidFill>
                  </a:tcPr>
                </a:tc>
                <a:extLst>
                  <a:ext uri="{0D108BD9-81ED-4DB2-BD59-A6C34878D82A}">
                    <a16:rowId xmlns:a16="http://schemas.microsoft.com/office/drawing/2014/main" val="1910568202"/>
                  </a:ext>
                </a:extLst>
              </a:tr>
              <a:tr h="791279">
                <a:tc>
                  <a:txBody>
                    <a:bodyPr/>
                    <a:lstStyle/>
                    <a:p>
                      <a:pPr fontAlgn="t"/>
                      <a:r>
                        <a:rPr lang="en-US" sz="1400" b="0" dirty="0">
                          <a:solidFill>
                            <a:schemeClr val="tx1"/>
                          </a:solidFill>
                          <a:effectLst/>
                        </a:rPr>
                        <a:t>2025</a:t>
                      </a:r>
                    </a:p>
                  </a:txBody>
                  <a:tcPr marT="91440" marB="91440"/>
                </a:tc>
                <a:tc>
                  <a:txBody>
                    <a:bodyPr/>
                    <a:lstStyle/>
                    <a:p>
                      <a:pPr fontAlgn="t"/>
                      <a:r>
                        <a:rPr lang="en-US" sz="1400">
                          <a:solidFill>
                            <a:schemeClr val="tx1"/>
                          </a:solidFill>
                          <a:effectLst/>
                        </a:rPr>
                        <a:t>Liu et al</a:t>
                      </a:r>
                    </a:p>
                  </a:txBody>
                  <a:tcPr marT="91440" marB="91440"/>
                </a:tc>
                <a:tc>
                  <a:txBody>
                    <a:bodyPr/>
                    <a:lstStyle/>
                    <a:p>
                      <a:pPr fontAlgn="t"/>
                      <a:r>
                        <a:rPr lang="en-US" sz="1400" dirty="0">
                          <a:solidFill>
                            <a:schemeClr val="tx1"/>
                          </a:solidFill>
                          <a:effectLst/>
                        </a:rPr>
                        <a:t>Hybrid CNN-RNN with Attention Mechanism</a:t>
                      </a:r>
                    </a:p>
                  </a:txBody>
                  <a:tcPr marT="91440" marB="91440"/>
                </a:tc>
                <a:tc>
                  <a:txBody>
                    <a:bodyPr/>
                    <a:lstStyle/>
                    <a:p>
                      <a:pPr fontAlgn="t"/>
                      <a:r>
                        <a:rPr lang="en-US" sz="1400">
                          <a:solidFill>
                            <a:schemeClr val="tx1"/>
                          </a:solidFill>
                          <a:effectLst/>
                        </a:rPr>
                        <a:t>LUNA16 + LIDC-IDRI</a:t>
                      </a:r>
                    </a:p>
                  </a:txBody>
                  <a:tcPr marT="91440" marB="91440"/>
                </a:tc>
                <a:tc>
                  <a:txBody>
                    <a:bodyPr/>
                    <a:lstStyle/>
                    <a:p>
                      <a:pPr fontAlgn="t"/>
                      <a:r>
                        <a:rPr lang="en-US" sz="1400">
                          <a:solidFill>
                            <a:schemeClr val="tx1"/>
                          </a:solidFill>
                          <a:effectLst/>
                        </a:rPr>
                        <a:t>92.3% sensitivity; reduced false positives through attention-based feature filtering; effective on multi-scale nodules</a:t>
                      </a:r>
                    </a:p>
                  </a:txBody>
                  <a:tcPr marT="91440" marB="91440"/>
                </a:tc>
                <a:tc>
                  <a:txBody>
                    <a:bodyPr/>
                    <a:lstStyle/>
                    <a:p>
                      <a:pPr fontAlgn="t"/>
                      <a:r>
                        <a:rPr lang="en-US" sz="1400" dirty="0">
                          <a:solidFill>
                            <a:schemeClr val="tx1"/>
                          </a:solidFill>
                          <a:effectLst/>
                        </a:rPr>
                        <a:t>No comparison with </a:t>
                      </a:r>
                      <a:r>
                        <a:rPr lang="en-US" sz="1400" dirty="0" err="1">
                          <a:solidFill>
                            <a:schemeClr val="tx1"/>
                          </a:solidFill>
                          <a:effectLst/>
                        </a:rPr>
                        <a:t>CapsNets</a:t>
                      </a:r>
                      <a:r>
                        <a:rPr lang="en-US" sz="1400" dirty="0">
                          <a:solidFill>
                            <a:schemeClr val="tx1"/>
                          </a:solidFill>
                          <a:effectLst/>
                        </a:rPr>
                        <a:t>; requires post-processing steps; inference time not optimized</a:t>
                      </a:r>
                    </a:p>
                  </a:txBody>
                  <a:tcPr marT="91440" marB="91440"/>
                </a:tc>
                <a:extLst>
                  <a:ext uri="{0D108BD9-81ED-4DB2-BD59-A6C34878D82A}">
                    <a16:rowId xmlns:a16="http://schemas.microsoft.com/office/drawing/2014/main" val="3779368469"/>
                  </a:ext>
                </a:extLst>
              </a:tr>
              <a:tr h="791279">
                <a:tc>
                  <a:txBody>
                    <a:bodyPr/>
                    <a:lstStyle/>
                    <a:p>
                      <a:pPr fontAlgn="t"/>
                      <a:r>
                        <a:rPr lang="en-US" sz="1400" b="0" dirty="0">
                          <a:solidFill>
                            <a:schemeClr val="tx1"/>
                          </a:solidFill>
                          <a:effectLst/>
                        </a:rPr>
                        <a:t>2023</a:t>
                      </a:r>
                    </a:p>
                  </a:txBody>
                  <a:tcPr marT="91440" marB="91440"/>
                </a:tc>
                <a:tc>
                  <a:txBody>
                    <a:bodyPr/>
                    <a:lstStyle/>
                    <a:p>
                      <a:pPr fontAlgn="t"/>
                      <a:r>
                        <a:rPr lang="en-US" sz="1400">
                          <a:solidFill>
                            <a:schemeClr val="tx1"/>
                          </a:solidFill>
                          <a:effectLst/>
                        </a:rPr>
                        <a:t>Chen et al</a:t>
                      </a:r>
                    </a:p>
                  </a:txBody>
                  <a:tcPr marT="91440" marB="91440"/>
                </a:tc>
                <a:tc>
                  <a:txBody>
                    <a:bodyPr/>
                    <a:lstStyle/>
                    <a:p>
                      <a:pPr fontAlgn="t"/>
                      <a:r>
                        <a:rPr lang="en-US" sz="1400" dirty="0">
                          <a:solidFill>
                            <a:schemeClr val="tx1"/>
                          </a:solidFill>
                          <a:effectLst/>
                        </a:rPr>
                        <a:t>3D Convolutional Neural Network with Feature Pyramid</a:t>
                      </a:r>
                    </a:p>
                  </a:txBody>
                  <a:tcPr marT="91440" marB="91440"/>
                </a:tc>
                <a:tc>
                  <a:txBody>
                    <a:bodyPr/>
                    <a:lstStyle/>
                    <a:p>
                      <a:pPr fontAlgn="t"/>
                      <a:r>
                        <a:rPr lang="en-US" sz="1400" dirty="0">
                          <a:solidFill>
                            <a:schemeClr val="tx1"/>
                          </a:solidFill>
                          <a:effectLst/>
                        </a:rPr>
                        <a:t>LIDC-IDRI + Private Hospital Dataset</a:t>
                      </a:r>
                    </a:p>
                  </a:txBody>
                  <a:tcPr marT="91440" marB="91440"/>
                </a:tc>
                <a:tc>
                  <a:txBody>
                    <a:bodyPr/>
                    <a:lstStyle/>
                    <a:p>
                      <a:pPr fontAlgn="t"/>
                      <a:r>
                        <a:rPr lang="en-US" sz="1400">
                          <a:solidFill>
                            <a:schemeClr val="tx1"/>
                          </a:solidFill>
                          <a:effectLst/>
                        </a:rPr>
                        <a:t>88.5% detection rate; effective 3D context understanding; improved detection of nodules at different depths; validation on 1200+ CT scans</a:t>
                      </a:r>
                    </a:p>
                  </a:txBody>
                  <a:tcPr marT="91440" marB="91440"/>
                </a:tc>
                <a:tc>
                  <a:txBody>
                    <a:bodyPr/>
                    <a:lstStyle/>
                    <a:p>
                      <a:pPr fontAlgn="t"/>
                      <a:r>
                        <a:rPr lang="en-US" sz="1400">
                          <a:solidFill>
                            <a:schemeClr val="tx1"/>
                          </a:solidFill>
                          <a:effectLst/>
                        </a:rPr>
                        <a:t>Poor generalization across different CT scanners; requires extensive fine-tuning for new datasets; computationally expensive</a:t>
                      </a:r>
                    </a:p>
                  </a:txBody>
                  <a:tcPr marT="91440" marB="91440"/>
                </a:tc>
                <a:extLst>
                  <a:ext uri="{0D108BD9-81ED-4DB2-BD59-A6C34878D82A}">
                    <a16:rowId xmlns:a16="http://schemas.microsoft.com/office/drawing/2014/main" val="2967456378"/>
                  </a:ext>
                </a:extLst>
              </a:tr>
              <a:tr h="791279">
                <a:tc>
                  <a:txBody>
                    <a:bodyPr/>
                    <a:lstStyle/>
                    <a:p>
                      <a:pPr fontAlgn="t"/>
                      <a:r>
                        <a:rPr lang="en-US" sz="1400" b="0" dirty="0">
                          <a:solidFill>
                            <a:schemeClr val="tx1"/>
                          </a:solidFill>
                          <a:effectLst/>
                        </a:rPr>
                        <a:t>2022</a:t>
                      </a:r>
                    </a:p>
                  </a:txBody>
                  <a:tcPr marT="91440" marB="91440"/>
                </a:tc>
                <a:tc>
                  <a:txBody>
                    <a:bodyPr/>
                    <a:lstStyle/>
                    <a:p>
                      <a:pPr fontAlgn="t"/>
                      <a:r>
                        <a:rPr lang="en-US" sz="1400">
                          <a:solidFill>
                            <a:schemeClr val="tx1"/>
                          </a:solidFill>
                          <a:effectLst/>
                        </a:rPr>
                        <a:t>Wang et al</a:t>
                      </a:r>
                    </a:p>
                  </a:txBody>
                  <a:tcPr marT="91440" marB="91440"/>
                </a:tc>
                <a:tc>
                  <a:txBody>
                    <a:bodyPr/>
                    <a:lstStyle/>
                    <a:p>
                      <a:pPr fontAlgn="t"/>
                      <a:r>
                        <a:rPr lang="en-US" sz="1400">
                          <a:solidFill>
                            <a:schemeClr val="tx1"/>
                          </a:solidFill>
                          <a:effectLst/>
                        </a:rPr>
                        <a:t>ResNet-50 with Transfer Learning</a:t>
                      </a:r>
                    </a:p>
                  </a:txBody>
                  <a:tcPr marT="91440" marB="91440"/>
                </a:tc>
                <a:tc>
                  <a:txBody>
                    <a:bodyPr/>
                    <a:lstStyle/>
                    <a:p>
                      <a:pPr fontAlgn="t"/>
                      <a:r>
                        <a:rPr lang="en-US" sz="1400">
                          <a:solidFill>
                            <a:schemeClr val="tx1"/>
                          </a:solidFill>
                          <a:effectLst/>
                        </a:rPr>
                        <a:t>LUNA16 Dataset</a:t>
                      </a:r>
                    </a:p>
                  </a:txBody>
                  <a:tcPr marT="91440" marB="91440"/>
                </a:tc>
                <a:tc>
                  <a:txBody>
                    <a:bodyPr/>
                    <a:lstStyle/>
                    <a:p>
                      <a:pPr fontAlgn="t"/>
                      <a:r>
                        <a:rPr lang="en-US" sz="1400">
                          <a:solidFill>
                            <a:schemeClr val="tx1"/>
                          </a:solidFill>
                          <a:effectLst/>
                        </a:rPr>
                        <a:t>87.2% accuracy; transfer learning reduces training time; pre-training on ImageNet helps feature extraction</a:t>
                      </a:r>
                    </a:p>
                  </a:txBody>
                  <a:tcPr marT="91440" marB="91440"/>
                </a:tc>
                <a:tc>
                  <a:txBody>
                    <a:bodyPr/>
                    <a:lstStyle/>
                    <a:p>
                      <a:pPr fontAlgn="t"/>
                      <a:r>
                        <a:rPr lang="en-US" sz="1400" dirty="0">
                          <a:solidFill>
                            <a:schemeClr val="tx1"/>
                          </a:solidFill>
                          <a:effectLst/>
                        </a:rPr>
                        <a:t>Overfitting on small datasets; pooling layers lose spatial information; limited effectiveness on irregular nodules</a:t>
                      </a:r>
                    </a:p>
                  </a:txBody>
                  <a:tcPr marT="91440" marB="91440"/>
                </a:tc>
                <a:extLst>
                  <a:ext uri="{0D108BD9-81ED-4DB2-BD59-A6C34878D82A}">
                    <a16:rowId xmlns:a16="http://schemas.microsoft.com/office/drawing/2014/main" val="3051226830"/>
                  </a:ext>
                </a:extLst>
              </a:tr>
              <a:tr h="791279">
                <a:tc>
                  <a:txBody>
                    <a:bodyPr/>
                    <a:lstStyle/>
                    <a:p>
                      <a:pPr fontAlgn="t"/>
                      <a:r>
                        <a:rPr lang="en-US" sz="1400" b="0" dirty="0">
                          <a:solidFill>
                            <a:schemeClr val="tx1"/>
                          </a:solidFill>
                          <a:effectLst/>
                        </a:rPr>
                        <a:t>2021</a:t>
                      </a:r>
                    </a:p>
                  </a:txBody>
                  <a:tcPr marT="91440" marB="91440"/>
                </a:tc>
                <a:tc>
                  <a:txBody>
                    <a:bodyPr/>
                    <a:lstStyle/>
                    <a:p>
                      <a:pPr fontAlgn="t"/>
                      <a:r>
                        <a:rPr lang="en-US" sz="1400">
                          <a:solidFill>
                            <a:schemeClr val="tx1"/>
                          </a:solidFill>
                          <a:effectLst/>
                        </a:rPr>
                        <a:t>Anderson &amp; Smith</a:t>
                      </a:r>
                    </a:p>
                  </a:txBody>
                  <a:tcPr marT="91440" marB="91440"/>
                </a:tc>
                <a:tc>
                  <a:txBody>
                    <a:bodyPr/>
                    <a:lstStyle/>
                    <a:p>
                      <a:pPr fontAlgn="t"/>
                      <a:r>
                        <a:rPr lang="en-US" sz="1400">
                          <a:solidFill>
                            <a:schemeClr val="tx1"/>
                          </a:solidFill>
                          <a:effectLst/>
                        </a:rPr>
                        <a:t>U-Net Segmentation with Post-Processing</a:t>
                      </a:r>
                    </a:p>
                  </a:txBody>
                  <a:tcPr marT="91440" marB="91440"/>
                </a:tc>
                <a:tc>
                  <a:txBody>
                    <a:bodyPr/>
                    <a:lstStyle/>
                    <a:p>
                      <a:pPr fontAlgn="t"/>
                      <a:r>
                        <a:rPr lang="es-ES" sz="1400">
                          <a:solidFill>
                            <a:schemeClr val="tx1"/>
                          </a:solidFill>
                          <a:effectLst/>
                        </a:rPr>
                        <a:t>LIDC Dataset + Mayo Clinic Data</a:t>
                      </a:r>
                    </a:p>
                  </a:txBody>
                  <a:tcPr marT="91440" marB="91440"/>
                </a:tc>
                <a:tc>
                  <a:txBody>
                    <a:bodyPr/>
                    <a:lstStyle/>
                    <a:p>
                      <a:pPr fontAlgn="t"/>
                      <a:r>
                        <a:rPr lang="en-US" sz="1400">
                          <a:solidFill>
                            <a:schemeClr val="tx1"/>
                          </a:solidFill>
                          <a:effectLst/>
                        </a:rPr>
                        <a:t>89.1% segmentation accuracy; effective boundary delineation; useful for nodule size measurement and follow-up</a:t>
                      </a:r>
                    </a:p>
                  </a:txBody>
                  <a:tcPr marT="91440" marB="91440"/>
                </a:tc>
                <a:tc>
                  <a:txBody>
                    <a:bodyPr/>
                    <a:lstStyle/>
                    <a:p>
                      <a:pPr fontAlgn="t"/>
                      <a:r>
                        <a:rPr lang="en-US" sz="1400" dirty="0">
                          <a:solidFill>
                            <a:schemeClr val="tx1"/>
                          </a:solidFill>
                          <a:effectLst/>
                        </a:rPr>
                        <a:t>Requires manual annotation; high computational cost; not suitable for real-time screening</a:t>
                      </a:r>
                    </a:p>
                  </a:txBody>
                  <a:tcPr marT="91440" marB="91440"/>
                </a:tc>
                <a:extLst>
                  <a:ext uri="{0D108BD9-81ED-4DB2-BD59-A6C34878D82A}">
                    <a16:rowId xmlns:a16="http://schemas.microsoft.com/office/drawing/2014/main" val="1880755410"/>
                  </a:ext>
                </a:extLst>
              </a:tr>
            </a:tbl>
          </a:graphicData>
        </a:graphic>
      </p:graphicFrame>
    </p:spTree>
    <p:extLst>
      <p:ext uri="{BB962C8B-B14F-4D97-AF65-F5344CB8AC3E}">
        <p14:creationId xmlns:p14="http://schemas.microsoft.com/office/powerpoint/2010/main" val="3967447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 name="TextBox 1"/>
          <p:cNvSpPr txBox="1"/>
          <p:nvPr/>
        </p:nvSpPr>
        <p:spPr>
          <a:xfrm>
            <a:off x="530578" y="393152"/>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rPr>
              <a:t>Research Gap</a:t>
            </a:r>
          </a:p>
        </p:txBody>
      </p:sp>
      <p:sp>
        <p:nvSpPr>
          <p:cNvPr id="9" name="Slide Number Placeholder 8"/>
          <p:cNvSpPr>
            <a:spLocks noGrp="1"/>
          </p:cNvSpPr>
          <p:nvPr>
            <p:ph type="sldNum" idx="12"/>
          </p:nvPr>
        </p:nvSpPr>
        <p:spPr/>
        <p:txBody>
          <a:bodyPr/>
          <a:lstStyle/>
          <a:p>
            <a:fld id="{00000000-1234-1234-1234-123412341234}" type="slidenum">
              <a:rPr lang="en-US" smtClean="0"/>
              <a:pPr/>
              <a:t>6</a:t>
            </a:fld>
            <a:endParaRPr lang="en-US" dirty="0"/>
          </a:p>
        </p:txBody>
      </p:sp>
      <p:sp>
        <p:nvSpPr>
          <p:cNvPr id="4" name="Rectangle 2">
            <a:extLst>
              <a:ext uri="{FF2B5EF4-FFF2-40B4-BE49-F238E27FC236}">
                <a16:creationId xmlns:a16="http://schemas.microsoft.com/office/drawing/2014/main" id="{ED514870-6126-C71B-96A0-8B70CCD56A10}"/>
              </a:ext>
            </a:extLst>
          </p:cNvPr>
          <p:cNvSpPr>
            <a:spLocks noChangeArrowheads="1"/>
          </p:cNvSpPr>
          <p:nvPr/>
        </p:nvSpPr>
        <p:spPr bwMode="auto">
          <a:xfrm rot="10800000" flipV="1">
            <a:off x="530578" y="1395934"/>
            <a:ext cx="11218406"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CNN-based methods fail to preserve spatial relationships, leading to reduced diagnostic precision, as noted by </a:t>
            </a:r>
            <a:r>
              <a:rPr lang="en-US" sz="2000" b="1" dirty="0">
                <a:latin typeface="Times New Roman" panose="02020603050405020304" pitchFamily="18" charset="0"/>
                <a:cs typeface="Times New Roman" panose="02020603050405020304" pitchFamily="18" charset="0"/>
              </a:rPr>
              <a:t>Scherer et al. (2010)</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Shin et al. (2016)</a:t>
            </a:r>
            <a:r>
              <a:rPr lang="en-US" sz="2000" dirty="0">
                <a:latin typeface="Times New Roman" panose="02020603050405020304" pitchFamily="18" charset="0"/>
                <a:cs typeface="Times New Roman" panose="02020603050405020304" pitchFamily="18" charset="0"/>
              </a:rPr>
              <a:t> [5][7].</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CNN-based models achieve 85%–96.9% accuracy in lung nodule classification, yet their pooling layers discard spatial information critical for precise nodule characterization, and they still produce false-positive rates of approximately 1 per scan (</a:t>
            </a:r>
            <a:r>
              <a:rPr lang="en-US" sz="2000" b="1" dirty="0">
                <a:latin typeface="Times New Roman" panose="02020603050405020304" pitchFamily="18" charset="0"/>
                <a:cs typeface="Times New Roman" panose="02020603050405020304" pitchFamily="18" charset="0"/>
              </a:rPr>
              <a:t>Ma et al., 2024; Hendrix et al., 2023; Scherer et al., 2010</a:t>
            </a:r>
            <a:r>
              <a:rPr lang="en-US" sz="2000" dirty="0">
                <a:latin typeface="Times New Roman" panose="02020603050405020304" pitchFamily="18" charset="0"/>
                <a:cs typeface="Times New Roman" panose="02020603050405020304" pitchFamily="18" charset="0"/>
              </a:rPr>
              <a: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deep learning models show poor generalization across different hospital imaging equipment and limited training datasets, reducing clinical reliability (</a:t>
            </a:r>
            <a:r>
              <a:rPr lang="en-US" sz="2000" b="1" dirty="0">
                <a:latin typeface="Times New Roman" panose="02020603050405020304" pitchFamily="18" charset="0"/>
                <a:cs typeface="Times New Roman" panose="02020603050405020304" pitchFamily="18" charset="0"/>
              </a:rPr>
              <a:t>Shin et al., 2016; </a:t>
            </a:r>
            <a:r>
              <a:rPr lang="en-US" sz="2000" b="1" dirty="0" err="1">
                <a:latin typeface="Times New Roman" panose="02020603050405020304" pitchFamily="18" charset="0"/>
                <a:cs typeface="Times New Roman" panose="02020603050405020304" pitchFamily="18" charset="0"/>
              </a:rPr>
              <a:t>Setio</a:t>
            </a:r>
            <a:r>
              <a:rPr lang="en-US" sz="2000" b="1" dirty="0">
                <a:latin typeface="Times New Roman" panose="02020603050405020304" pitchFamily="18" charset="0"/>
                <a:cs typeface="Times New Roman" panose="02020603050405020304" pitchFamily="18" charset="0"/>
              </a:rPr>
              <a:t> et al., 2016</a:t>
            </a:r>
            <a:r>
              <a:rPr lang="en-US" sz="2000" dirty="0">
                <a:latin typeface="Times New Roman" panose="02020603050405020304" pitchFamily="18" charset="0"/>
                <a:cs typeface="Times New Roman" panose="02020603050405020304" pitchFamily="18" charset="0"/>
              </a:rPr>
              <a: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Capsule Neural Networks preserve spatial hierarchies through dynamic routing (</a:t>
            </a:r>
            <a:r>
              <a:rPr lang="en-US" sz="2000" b="1" dirty="0" err="1">
                <a:latin typeface="Times New Roman" panose="02020603050405020304" pitchFamily="18" charset="0"/>
                <a:cs typeface="Times New Roman" panose="02020603050405020304" pitchFamily="18" charset="0"/>
              </a:rPr>
              <a:t>Sabour</a:t>
            </a:r>
            <a:r>
              <a:rPr lang="en-US" sz="2000" b="1" dirty="0">
                <a:latin typeface="Times New Roman" panose="02020603050405020304" pitchFamily="18" charset="0"/>
                <a:cs typeface="Times New Roman" panose="02020603050405020304" pitchFamily="18" charset="0"/>
              </a:rPr>
              <a:t> et al., 2017</a:t>
            </a:r>
            <a:r>
              <a:rPr lang="en-US" sz="2000" dirty="0">
                <a:latin typeface="Times New Roman" panose="02020603050405020304" pitchFamily="18" charset="0"/>
                <a:cs typeface="Times New Roman" panose="02020603050405020304" pitchFamily="18" charset="0"/>
              </a:rPr>
              <a:t>), yet no study has applied or compared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against CNNs specifically for lung nodule detection (</a:t>
            </a:r>
            <a:r>
              <a:rPr lang="en-US" sz="2000" b="1" dirty="0" err="1">
                <a:latin typeface="Times New Roman" panose="02020603050405020304" pitchFamily="18" charset="0"/>
                <a:cs typeface="Times New Roman" panose="02020603050405020304" pitchFamily="18" charset="0"/>
              </a:rPr>
              <a:t>Xue</a:t>
            </a:r>
            <a:r>
              <a:rPr lang="en-US" sz="2000" b="1" dirty="0">
                <a:latin typeface="Times New Roman" panose="02020603050405020304" pitchFamily="18" charset="0"/>
                <a:cs typeface="Times New Roman" panose="02020603050405020304" pitchFamily="18" charset="0"/>
              </a:rPr>
              <a:t> et al., 2025</a:t>
            </a:r>
            <a:r>
              <a:rPr lang="en-US" sz="2000" dirty="0">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0480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FD28-8C5B-42D2-ADB1-B86DECB7BC0C}"/>
              </a:ext>
            </a:extLst>
          </p:cNvPr>
          <p:cNvSpPr>
            <a:spLocks noGrp="1"/>
          </p:cNvSpPr>
          <p:nvPr>
            <p:ph type="title"/>
          </p:nvPr>
        </p:nvSpPr>
        <p:spPr>
          <a:xfrm>
            <a:off x="170035" y="131622"/>
            <a:ext cx="10515600" cy="1325563"/>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mn-cs"/>
              </a:rPr>
              <a:t>Problem Statement</a:t>
            </a:r>
          </a:p>
        </p:txBody>
      </p:sp>
      <p:sp>
        <p:nvSpPr>
          <p:cNvPr id="3" name="Content Placeholder 2">
            <a:extLst>
              <a:ext uri="{FF2B5EF4-FFF2-40B4-BE49-F238E27FC236}">
                <a16:creationId xmlns:a16="http://schemas.microsoft.com/office/drawing/2014/main" id="{7BA73B1F-AFEA-430E-BB57-D7216D6F03CE}"/>
              </a:ext>
            </a:extLst>
          </p:cNvPr>
          <p:cNvSpPr>
            <a:spLocks noGrp="1"/>
          </p:cNvSpPr>
          <p:nvPr>
            <p:ph idx="1"/>
          </p:nvPr>
        </p:nvSpPr>
        <p:spPr>
          <a:xfrm>
            <a:off x="0" y="1457185"/>
            <a:ext cx="12096750" cy="6101640"/>
          </a:xfrm>
        </p:spPr>
        <p:txBody>
          <a:bodyPr vert="horz" lIns="91440" tIns="45720" rIns="91440" bIns="45720" rtlCol="0" anchor="t">
            <a:noAutofit/>
          </a:bodyPr>
          <a:lstStyle/>
          <a:p>
            <a:pPr lvl="1" algn="just">
              <a:lnSpc>
                <a:spcPct val="100000"/>
              </a:lnSpc>
              <a:buNone/>
              <a:defRPr/>
            </a:pPr>
            <a:r>
              <a:rPr lang="en-US" sz="2000" dirty="0">
                <a:latin typeface="Times New Roman" panose="02020603050405020304" pitchFamily="18" charset="0"/>
                <a:cs typeface="Times New Roman" panose="02020603050405020304" pitchFamily="18" charset="0"/>
              </a:rPr>
              <a:t>Early detection of lung cancer nodules remains challenging despite deep learning models achieving accuracy levels of approximately 85%–96%. This is mainly caused by the small size and low contrast of nodules, as well as limitations in convolutional neural networks, where pooling operations lead to loss of spatial information. As a result, existing systems still produce around one false positive per scan and may miss subtle nodules. Additionally, variations in imaging data across clinical environments reduce model generalization. These issues indicate a need for more effective approaches that can preserve spatial relationships and improve detection reliability.</a:t>
            </a:r>
            <a:endParaRPr lang="en-US" sz="2000"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623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07038AB-BE2C-4D2D-8C5E-BE706CB0571C}"/>
              </a:ext>
            </a:extLst>
          </p:cNvPr>
          <p:cNvSpPr>
            <a:spLocks noGrp="1"/>
          </p:cNvSpPr>
          <p:nvPr>
            <p:ph type="title"/>
          </p:nvPr>
        </p:nvSpPr>
        <p:spPr/>
        <p:txBody>
          <a:bodyPr/>
          <a:lstStyle/>
          <a:p>
            <a:r>
              <a:rPr lang="en-US" sz="3600" b="1" dirty="0">
                <a:solidFill>
                  <a:srgbClr val="1B2A4A"/>
                </a:solidFill>
                <a:latin typeface="Cambria" panose="02040503050406030204" pitchFamily="18" charset="0"/>
                <a:ea typeface="Cambria" panose="02040503050406030204" pitchFamily="18" charset="0"/>
                <a:cs typeface="Arial Black" pitchFamily="34" charset="-120"/>
              </a:rPr>
              <a:t>METHODOLOGY</a:t>
            </a:r>
            <a:br>
              <a:rPr lang="en-US" sz="4400" dirty="0"/>
            </a:br>
            <a:endParaRPr lang="en-US" dirty="0"/>
          </a:p>
        </p:txBody>
      </p:sp>
      <p:sp>
        <p:nvSpPr>
          <p:cNvPr id="8" name="Text 1">
            <a:extLst>
              <a:ext uri="{FF2B5EF4-FFF2-40B4-BE49-F238E27FC236}">
                <a16:creationId xmlns:a16="http://schemas.microsoft.com/office/drawing/2014/main" id="{D8CC596D-5291-4FFE-844E-33035994A3A7}"/>
              </a:ext>
            </a:extLst>
          </p:cNvPr>
          <p:cNvSpPr/>
          <p:nvPr/>
        </p:nvSpPr>
        <p:spPr>
          <a:xfrm>
            <a:off x="944879" y="1329689"/>
            <a:ext cx="5084445" cy="4947285"/>
          </a:xfrm>
          <a:prstGeom prst="rect">
            <a:avLst/>
          </a:prstGeom>
          <a:noFill/>
          <a:ln/>
        </p:spPr>
        <p:txBody>
          <a:bodyPr wrap="square" rtlCol="0" anchor="ctr"/>
          <a:lstStyle/>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Dataset: LIDC-IDRI</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Data preprocessing</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CapsNet architecture design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Model training and validation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Performance evaluation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SzPct val="100000"/>
              <a:buChar char="•"/>
            </a:pPr>
            <a:r>
              <a:rPr lang="en-US" sz="2400" dirty="0">
                <a:solidFill>
                  <a:srgbClr val="2D2D2D"/>
                </a:solidFill>
                <a:latin typeface="Times New Roman" panose="02020603050405020304" pitchFamily="18" charset="0"/>
                <a:ea typeface="Arial" pitchFamily="34" charset="-122"/>
                <a:cs typeface="Times New Roman" panose="02020603050405020304" pitchFamily="18" charset="0"/>
              </a:rPr>
              <a:t>Comparative analysis</a:t>
            </a:r>
            <a:endParaRPr lang="en-US" sz="2400" dirty="0">
              <a:latin typeface="Times New Roman" panose="02020603050405020304" pitchFamily="18" charset="0"/>
              <a:cs typeface="Times New Roman" panose="02020603050405020304" pitchFamily="18" charset="0"/>
            </a:endParaRPr>
          </a:p>
        </p:txBody>
      </p:sp>
      <p:pic>
        <p:nvPicPr>
          <p:cNvPr id="42" name="Picture 41">
            <a:extLst>
              <a:ext uri="{FF2B5EF4-FFF2-40B4-BE49-F238E27FC236}">
                <a16:creationId xmlns:a16="http://schemas.microsoft.com/office/drawing/2014/main" id="{623104B2-FFEE-4F32-9483-4F4797828115}"/>
              </a:ext>
            </a:extLst>
          </p:cNvPr>
          <p:cNvPicPr>
            <a:picLocks noChangeAspect="1"/>
          </p:cNvPicPr>
          <p:nvPr/>
        </p:nvPicPr>
        <p:blipFill>
          <a:blip r:embed="rId2"/>
          <a:stretch>
            <a:fillRect/>
          </a:stretch>
        </p:blipFill>
        <p:spPr>
          <a:xfrm>
            <a:off x="7332610" y="854880"/>
            <a:ext cx="3383015" cy="5422094"/>
          </a:xfrm>
          <a:prstGeom prst="rect">
            <a:avLst/>
          </a:prstGeom>
        </p:spPr>
      </p:pic>
    </p:spTree>
    <p:extLst>
      <p:ext uri="{BB962C8B-B14F-4D97-AF65-F5344CB8AC3E}">
        <p14:creationId xmlns:p14="http://schemas.microsoft.com/office/powerpoint/2010/main" val="556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0">
            <a:extLst>
              <a:ext uri="{FF2B5EF4-FFF2-40B4-BE49-F238E27FC236}">
                <a16:creationId xmlns:a16="http://schemas.microsoft.com/office/drawing/2014/main" id="{3D366F9A-5776-4698-92CC-EA7EC93164D7}"/>
              </a:ext>
            </a:extLst>
          </p:cNvPr>
          <p:cNvSpPr>
            <a:spLocks noGrp="1"/>
          </p:cNvSpPr>
          <p:nvPr>
            <p:ph type="title"/>
          </p:nvPr>
        </p:nvSpPr>
        <p:spPr>
          <a:xfrm>
            <a:off x="0" y="0"/>
            <a:ext cx="12191999" cy="1325563"/>
          </a:xfrm>
          <a:prstGeom prst="rect">
            <a:avLst/>
          </a:prstGeom>
          <a:solidFill>
            <a:srgbClr val="2563EB"/>
          </a:solidFill>
          <a:ln/>
        </p:spPr>
        <p:txBody>
          <a:bodyPr/>
          <a:lstStyle/>
          <a:p>
            <a:pPr algn="ctr"/>
            <a:r>
              <a:rPr lang="en-US" sz="3600" b="1" dirty="0">
                <a:solidFill>
                  <a:srgbClr val="FFFFFF"/>
                </a:solidFill>
                <a:latin typeface="Cambria" panose="02040503050406030204" pitchFamily="18" charset="0"/>
                <a:ea typeface="Cambria" panose="02040503050406030204" pitchFamily="18" charset="0"/>
                <a:cs typeface="Arial Black" pitchFamily="34" charset="-120"/>
              </a:rPr>
              <a:t>Architecture Design</a:t>
            </a:r>
            <a:br>
              <a:rPr lang="en-US" sz="4400" dirty="0"/>
            </a:br>
            <a:endParaRPr lang="en-US" dirty="0"/>
          </a:p>
        </p:txBody>
      </p:sp>
      <p:pic>
        <p:nvPicPr>
          <p:cNvPr id="137" name="Picture 136">
            <a:extLst>
              <a:ext uri="{FF2B5EF4-FFF2-40B4-BE49-F238E27FC236}">
                <a16:creationId xmlns:a16="http://schemas.microsoft.com/office/drawing/2014/main" id="{4CDBD25E-CE56-48AA-AF53-DD04FC08E81B}"/>
              </a:ext>
            </a:extLst>
          </p:cNvPr>
          <p:cNvPicPr>
            <a:picLocks noChangeAspect="1"/>
          </p:cNvPicPr>
          <p:nvPr/>
        </p:nvPicPr>
        <p:blipFill>
          <a:blip r:embed="rId2"/>
          <a:stretch>
            <a:fillRect/>
          </a:stretch>
        </p:blipFill>
        <p:spPr>
          <a:xfrm>
            <a:off x="0" y="1325562"/>
            <a:ext cx="12191999" cy="5532438"/>
          </a:xfrm>
          <a:prstGeom prst="rect">
            <a:avLst/>
          </a:prstGeom>
        </p:spPr>
      </p:pic>
    </p:spTree>
    <p:extLst>
      <p:ext uri="{BB962C8B-B14F-4D97-AF65-F5344CB8AC3E}">
        <p14:creationId xmlns:p14="http://schemas.microsoft.com/office/powerpoint/2010/main" val="2496378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6EC81-9542-3ED9-9709-4282EB15C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45102-00E6-66CC-8BD6-9F064E625367}"/>
              </a:ext>
            </a:extLst>
          </p:cNvPr>
          <p:cNvSpPr>
            <a:spLocks noGrp="1"/>
          </p:cNvSpPr>
          <p:nvPr>
            <p:ph type="title"/>
          </p:nvPr>
        </p:nvSpPr>
        <p:spPr>
          <a:xfrm>
            <a:off x="145991" y="140430"/>
            <a:ext cx="10515600" cy="1325563"/>
          </a:xfrm>
        </p:spPr>
        <p:txBody>
          <a:bodyPr/>
          <a:lstStyle/>
          <a:p>
            <a:r>
              <a:rPr lang="en-US" sz="3600" b="1" dirty="0">
                <a:solidFill>
                  <a:srgbClr val="002060"/>
                </a:solidFill>
                <a:latin typeface="Cambria"/>
                <a:ea typeface="Cambria"/>
                <a:cs typeface="+mn-cs"/>
              </a:rPr>
              <a:t>Model Evaluation</a:t>
            </a: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CB3033C1-BCB2-BC2C-1CA5-580D1CAE225A}"/>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6" name="Rectangle 2">
            <a:extLst>
              <a:ext uri="{FF2B5EF4-FFF2-40B4-BE49-F238E27FC236}">
                <a16:creationId xmlns:a16="http://schemas.microsoft.com/office/drawing/2014/main" id="{2243AAA9-295E-CE15-635D-BC24F3FE666F}"/>
              </a:ext>
            </a:extLst>
          </p:cNvPr>
          <p:cNvSpPr>
            <a:spLocks noChangeArrowheads="1"/>
          </p:cNvSpPr>
          <p:nvPr/>
        </p:nvSpPr>
        <p:spPr bwMode="auto">
          <a:xfrm rot="10800000" flipV="1">
            <a:off x="388142" y="1275054"/>
            <a:ext cx="11216836"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The developed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models will be evaluated using the LIDC-IDRI dataset containing CT scan images annotated by expert radiologists (</a:t>
            </a:r>
            <a:r>
              <a:rPr lang="en-US" dirty="0" err="1">
                <a:latin typeface="Times New Roman" panose="02020603050405020304" pitchFamily="18" charset="0"/>
                <a:cs typeface="Times New Roman" panose="02020603050405020304" pitchFamily="18" charset="0"/>
              </a:rPr>
              <a:t>Armato</a:t>
            </a:r>
            <a:r>
              <a:rPr lang="en-US" dirty="0">
                <a:latin typeface="Times New Roman" panose="02020603050405020304" pitchFamily="18" charset="0"/>
                <a:cs typeface="Times New Roman" panose="02020603050405020304" pitchFamily="18" charset="0"/>
              </a:rPr>
              <a:t> et al., 2011).</a:t>
            </a:r>
          </a:p>
          <a:p>
            <a:r>
              <a:rPr lang="en-US" b="1" dirty="0">
                <a:latin typeface="Times New Roman" panose="02020603050405020304" pitchFamily="18" charset="0"/>
                <a:cs typeface="Times New Roman" panose="02020603050405020304" pitchFamily="18" charset="0"/>
              </a:rPr>
              <a:t>Performance Metrics</a:t>
            </a:r>
          </a:p>
          <a:p>
            <a:r>
              <a:rPr lang="en-US" dirty="0">
                <a:latin typeface="Times New Roman" panose="02020603050405020304" pitchFamily="18" charset="0"/>
                <a:cs typeface="Times New Roman" panose="02020603050405020304" pitchFamily="18" charset="0"/>
              </a:rPr>
              <a:t>Performance will be measured through standard metrics:</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 Overall model correctness (Fawcett, 2006)</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Sensitivity</a:t>
            </a:r>
            <a:r>
              <a:rPr lang="en-US" dirty="0">
                <a:latin typeface="Times New Roman" panose="02020603050405020304" pitchFamily="18" charset="0"/>
                <a:cs typeface="Times New Roman" panose="02020603050405020304" pitchFamily="18" charset="0"/>
              </a:rPr>
              <a:t> – Ability to detect actual nodules (Hendrix et al., 2024)</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Specificity</a:t>
            </a:r>
            <a:r>
              <a:rPr lang="en-US" dirty="0">
                <a:latin typeface="Times New Roman" panose="02020603050405020304" pitchFamily="18" charset="0"/>
                <a:cs typeface="Times New Roman" panose="02020603050405020304" pitchFamily="18" charset="0"/>
              </a:rPr>
              <a:t> – Ability to identify non-nodule regions (Hendrix et al., 2024)</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False Positive Rate (FPR)</a:t>
            </a:r>
            <a:r>
              <a:rPr lang="en-US" dirty="0">
                <a:latin typeface="Times New Roman" panose="02020603050405020304" pitchFamily="18" charset="0"/>
                <a:cs typeface="Times New Roman" panose="02020603050405020304" pitchFamily="18" charset="0"/>
              </a:rPr>
              <a:t> – Measure of incorrect detections (Ma et al., 2024)</a:t>
            </a:r>
          </a:p>
          <a:p>
            <a:r>
              <a:rPr lang="en-US" b="1" dirty="0">
                <a:latin typeface="Times New Roman" panose="02020603050405020304" pitchFamily="18" charset="0"/>
                <a:cs typeface="Times New Roman" panose="02020603050405020304" pitchFamily="18" charset="0"/>
              </a:rPr>
              <a:t>Comparative Analysis</a:t>
            </a:r>
          </a:p>
          <a:p>
            <a:r>
              <a:rPr lang="en-US" dirty="0">
                <a:latin typeface="Times New Roman" panose="02020603050405020304" pitchFamily="18" charset="0"/>
                <a:cs typeface="Times New Roman" panose="02020603050405020304" pitchFamily="18" charset="0"/>
              </a:rPr>
              <a:t>Comparative analysis will be conducted between CNN and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models using identical datasets and preprocessing parameters (Shin et al., 2016). This ensures fair evaluation and validates whether spatial hierarchy preservation in </a:t>
            </a:r>
            <a:r>
              <a:rPr lang="en-US" dirty="0" err="1">
                <a:latin typeface="Times New Roman" panose="02020603050405020304" pitchFamily="18" charset="0"/>
                <a:cs typeface="Times New Roman" panose="02020603050405020304" pitchFamily="18" charset="0"/>
              </a:rPr>
              <a:t>CapsNets</a:t>
            </a:r>
            <a:r>
              <a:rPr lang="en-US" dirty="0">
                <a:latin typeface="Times New Roman" panose="02020603050405020304" pitchFamily="18" charset="0"/>
                <a:cs typeface="Times New Roman" panose="02020603050405020304" pitchFamily="18" charset="0"/>
              </a:rPr>
              <a:t> provides genuine advantages.</a:t>
            </a:r>
          </a:p>
          <a:p>
            <a:r>
              <a:rPr lang="en-US" b="1" dirty="0">
                <a:latin typeface="Times New Roman" panose="02020603050405020304" pitchFamily="18" charset="0"/>
                <a:cs typeface="Times New Roman" panose="02020603050405020304" pitchFamily="18" charset="0"/>
              </a:rPr>
              <a:t>Statistical Validation</a:t>
            </a:r>
          </a:p>
          <a:p>
            <a:r>
              <a:rPr lang="en-US" dirty="0">
                <a:latin typeface="Times New Roman" panose="02020603050405020304" pitchFamily="18" charset="0"/>
                <a:cs typeface="Times New Roman" panose="02020603050405020304" pitchFamily="18" charset="0"/>
              </a:rPr>
              <a:t>Statistical validation will confirm improvements achieved through spatial hierarchy preservation in </a:t>
            </a:r>
            <a:r>
              <a:rPr lang="en-US" dirty="0" err="1">
                <a:latin typeface="Times New Roman" panose="02020603050405020304" pitchFamily="18" charset="0"/>
                <a:cs typeface="Times New Roman" panose="02020603050405020304" pitchFamily="18" charset="0"/>
              </a:rPr>
              <a:t>CapsNets</a:t>
            </a:r>
            <a:r>
              <a:rPr lang="en-US" dirty="0">
                <a:latin typeface="Times New Roman" panose="02020603050405020304" pitchFamily="18" charset="0"/>
                <a:cs typeface="Times New Roman" panose="02020603050405020304" pitchFamily="18" charset="0"/>
              </a:rPr>
              <a:t> using:</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Cross-validation techniques (Kumar et al., 2015)</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Confidence intervals and statistical significance testing (Fawcett, 2006)</a:t>
            </a:r>
          </a:p>
          <a:p>
            <a:r>
              <a:rPr lang="en-US" b="1" dirty="0">
                <a:latin typeface="Times New Roman" panose="02020603050405020304" pitchFamily="18" charset="0"/>
                <a:cs typeface="Times New Roman" panose="02020603050405020304" pitchFamily="18" charset="0"/>
              </a:rPr>
              <a:t>Visualization Tools</a:t>
            </a:r>
          </a:p>
          <a:p>
            <a:r>
              <a:rPr lang="en-US" dirty="0">
                <a:latin typeface="Times New Roman" panose="02020603050405020304" pitchFamily="18" charset="0"/>
                <a:cs typeface="Times New Roman" panose="02020603050405020304" pitchFamily="18" charset="0"/>
              </a:rPr>
              <a:t>Visualization tools such as ROC curves, confusion matrices, and performance graphs will be used for result interpretation (Fawcett, 2006).</a:t>
            </a:r>
          </a:p>
        </p:txBody>
      </p:sp>
    </p:spTree>
    <p:extLst>
      <p:ext uri="{BB962C8B-B14F-4D97-AF65-F5344CB8AC3E}">
        <p14:creationId xmlns:p14="http://schemas.microsoft.com/office/powerpoint/2010/main" val="1562886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7F082-C60F-CABD-C441-78AA57122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C1B62-95BC-7743-DE86-1CA24AFA83F4}"/>
              </a:ext>
            </a:extLst>
          </p:cNvPr>
          <p:cNvSpPr>
            <a:spLocks noGrp="1"/>
          </p:cNvSpPr>
          <p:nvPr>
            <p:ph type="title"/>
          </p:nvPr>
        </p:nvSpPr>
        <p:spPr>
          <a:xfrm>
            <a:off x="136466" y="474133"/>
            <a:ext cx="10515600" cy="1325563"/>
          </a:xfrm>
        </p:spPr>
        <p:txBody>
          <a:bodyPr/>
          <a:lstStyle/>
          <a:p>
            <a:r>
              <a:rPr lang="en-US" sz="3600" b="1" dirty="0">
                <a:solidFill>
                  <a:srgbClr val="002060"/>
                </a:solidFill>
                <a:latin typeface="Cambria"/>
                <a:ea typeface="Cambria"/>
                <a:cs typeface="+mn-cs"/>
                <a:sym typeface="+mn-ea"/>
              </a:rPr>
              <a:t>Research Objective</a:t>
            </a: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DFD77B06-72E0-C364-360D-D95A1DE31642}"/>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4" name="Rectangle 1">
            <a:extLst>
              <a:ext uri="{FF2B5EF4-FFF2-40B4-BE49-F238E27FC236}">
                <a16:creationId xmlns:a16="http://schemas.microsoft.com/office/drawing/2014/main" id="{BA6324E0-EDF6-6FBD-B74F-260988BA5BE8}"/>
              </a:ext>
            </a:extLst>
          </p:cNvPr>
          <p:cNvSpPr>
            <a:spLocks noChangeArrowheads="1"/>
          </p:cNvSpPr>
          <p:nvPr/>
        </p:nvSpPr>
        <p:spPr bwMode="auto">
          <a:xfrm>
            <a:off x="616242" y="1745721"/>
            <a:ext cx="10616202"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To analyze the limitations of CNN-based approaches in lung nodule detection, specifically spatial information loss due to pooling operations and high false-positive rates (Ma et al., 2024; Scherer et al., 2010).</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To design and implement a Capsule Neural Network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architecture optimized for lung nodule detection in CT scan images using the LIDC-IDRI dataset (</a:t>
            </a:r>
            <a:r>
              <a:rPr lang="en-US" dirty="0" err="1">
                <a:latin typeface="Times New Roman" panose="02020603050405020304" pitchFamily="18" charset="0"/>
                <a:cs typeface="Times New Roman" panose="02020603050405020304" pitchFamily="18" charset="0"/>
              </a:rPr>
              <a:t>Sabour</a:t>
            </a:r>
            <a:r>
              <a:rPr lang="en-US" dirty="0">
                <a:latin typeface="Times New Roman" panose="02020603050405020304" pitchFamily="18" charset="0"/>
                <a:cs typeface="Times New Roman" panose="02020603050405020304" pitchFamily="18" charset="0"/>
              </a:rPr>
              <a:t> et al., 2017).</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To compare the performance of the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model against traditional CNN architectures for lung nodule classification (</a:t>
            </a:r>
            <a:r>
              <a:rPr lang="en-US" dirty="0" err="1">
                <a:latin typeface="Times New Roman" panose="02020603050405020304" pitchFamily="18" charset="0"/>
                <a:cs typeface="Times New Roman" panose="02020603050405020304" pitchFamily="18" charset="0"/>
              </a:rPr>
              <a:t>Xue</a:t>
            </a:r>
            <a:r>
              <a:rPr lang="en-US" dirty="0">
                <a:latin typeface="Times New Roman" panose="02020603050405020304" pitchFamily="18" charset="0"/>
                <a:cs typeface="Times New Roman" panose="02020603050405020304" pitchFamily="18" charset="0"/>
              </a:rPr>
              <a:t> et al., 2025; Shin et al., 2016).</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To evaluate the models using accuracy, sensitivity, specificity, AUC, and false-positive rate per scan (Hendrix et al., 2023; Ma et al., 2024).</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733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002B2-DF59-638B-59BA-AEE6AB2C3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2AEB6-0594-8F49-2AF2-1FD689BBB1C0}"/>
              </a:ext>
            </a:extLst>
          </p:cNvPr>
          <p:cNvSpPr>
            <a:spLocks noGrp="1"/>
          </p:cNvSpPr>
          <p:nvPr>
            <p:ph type="title"/>
          </p:nvPr>
        </p:nvSpPr>
        <p:spPr>
          <a:xfrm>
            <a:off x="136466" y="474133"/>
            <a:ext cx="10515600" cy="1325563"/>
          </a:xfrm>
        </p:spPr>
        <p:txBody>
          <a:bodyPr>
            <a:normAutofit fontScale="90000"/>
          </a:bodyPr>
          <a:lstStyle/>
          <a:p>
            <a:r>
              <a:rPr lang="en-US" sz="3600" b="1" dirty="0">
                <a:solidFill>
                  <a:srgbClr val="002060"/>
                </a:solidFill>
                <a:latin typeface="Cambria"/>
                <a:ea typeface="Cambria"/>
                <a:cs typeface="+mn-cs"/>
                <a:sym typeface="+mn-ea"/>
              </a:rPr>
              <a:t>Expected Outcome</a:t>
            </a:r>
            <a:br>
              <a:rPr lang="en-US" sz="2000" dirty="0">
                <a:latin typeface="Times New Roman" panose="02020603050405020304" charset="0"/>
                <a:cs typeface="Times New Roman" panose="02020603050405020304" charset="0"/>
              </a:rPr>
            </a:b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F450A4CF-51E5-2B69-D531-FDA004CA0F04}"/>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5" name="Rectangle 1">
            <a:extLst>
              <a:ext uri="{FF2B5EF4-FFF2-40B4-BE49-F238E27FC236}">
                <a16:creationId xmlns:a16="http://schemas.microsoft.com/office/drawing/2014/main" id="{7EECFA0E-CDED-47B4-2AD7-0D6AB896EB28}"/>
              </a:ext>
            </a:extLst>
          </p:cNvPr>
          <p:cNvSpPr>
            <a:spLocks noChangeArrowheads="1"/>
          </p:cNvSpPr>
          <p:nvPr/>
        </p:nvSpPr>
        <p:spPr bwMode="auto">
          <a:xfrm>
            <a:off x="333522" y="1683837"/>
            <a:ext cx="1152495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Diagnostic Accuracy:</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Capsule Neural Networks are expected to outperform CNNs by preserving spatial hierarchies in CT scan data, leading to more accurate lung nodule classification.</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Reduction in False Positives: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routing will help the model distinguish nodules from vessel-like structures, minimizing false alarms that affect screening reliability.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Sensitivity and Specificity:</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Expected improvement in sensitivity for true nodules and specificity for normal tissues, strengthening early detection reliability.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Computational Efficiency Insights: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benchmarks will provide insights into trade-offs between accuracy and computational cost, guiding real-world deployment feasibility.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 for Future Research:</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Establishes a validated methodology for applying CapsNets in other medical imaging domains beyond lung cancer detection.</a:t>
            </a:r>
          </a:p>
        </p:txBody>
      </p:sp>
    </p:spTree>
    <p:extLst>
      <p:ext uri="{BB962C8B-B14F-4D97-AF65-F5344CB8AC3E}">
        <p14:creationId xmlns:p14="http://schemas.microsoft.com/office/powerpoint/2010/main" val="2153301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057CC-CD75-4033-AEE4-C9F7A6AE83EF}"/>
              </a:ext>
            </a:extLst>
          </p:cNvPr>
          <p:cNvSpPr>
            <a:spLocks noGrp="1"/>
          </p:cNvSpPr>
          <p:nvPr>
            <p:ph type="title"/>
          </p:nvPr>
        </p:nvSpPr>
        <p:spPr>
          <a:xfrm>
            <a:off x="324543" y="-125326"/>
            <a:ext cx="10515600" cy="1189355"/>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mn-cs"/>
              </a:rPr>
              <a:t>References</a:t>
            </a:r>
          </a:p>
        </p:txBody>
      </p:sp>
      <p:sp>
        <p:nvSpPr>
          <p:cNvPr id="6" name="Rectangle 2">
            <a:extLst>
              <a:ext uri="{FF2B5EF4-FFF2-40B4-BE49-F238E27FC236}">
                <a16:creationId xmlns:a16="http://schemas.microsoft.com/office/drawing/2014/main" id="{C76EA7CE-E1FF-3806-FD29-4600B4D9A192}"/>
              </a:ext>
            </a:extLst>
          </p:cNvPr>
          <p:cNvSpPr>
            <a:spLocks noGrp="1" noChangeArrowheads="1"/>
          </p:cNvSpPr>
          <p:nvPr>
            <p:ph idx="1"/>
          </p:nvPr>
        </p:nvSpPr>
        <p:spPr bwMode="auto">
          <a:xfrm>
            <a:off x="474133" y="1064029"/>
            <a:ext cx="1067928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fr-FR"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Xue, X., Ma, Y., Du, W., &amp; Peng, Y. (2025) </a:t>
            </a:r>
            <a:r>
              <a:rPr kumimoji="0" lang="fr-FR"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FR"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Squeeze-and-excitation vision transformer for lung nodule classification. IEEE Access, 13, 24852-24866.</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Hendrix, W., Vliegenthart, R., Gratama, J. W., et al. (2023) —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for the detection of benign and malignant pulmonary nodules in non-screening chest CT scans. Communications Medicine, 3(1), 388.</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Ma, L., Wu, H., &amp; Samundeeswari, P. (2024) —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Improving lung cancer detection with enhanced convolutional sequential networks. Scientific Reports, 15, Article 06653.</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Sabour, S., Frosst, N., &amp; Hinton, G. E. (2017)</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routing between capsules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Problem Statement, Literature Review, Methodology).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Scherer, D., Müller, A., &amp; Behnke, S. (2010)</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of pooling operations in CNNs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and Research Gap).</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Setio, A. A. A., et al. (2016)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LUNA16 challenge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Methodology).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Shin, H. C., et al. (2016)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CNNs for computer-aided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Song, Q., Zhao, L., Luo, X., &amp; Dou, X. (2017)</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deep learning for classification of lung nodules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and Problem Statement).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 Stewart, B. W., &amp; Wild, C. P. (2014)</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World cancer report 2014</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Introduction and Literature Review).</a:t>
            </a:r>
          </a:p>
        </p:txBody>
      </p:sp>
    </p:spTree>
    <p:extLst>
      <p:ext uri="{BB962C8B-B14F-4D97-AF65-F5344CB8AC3E}">
        <p14:creationId xmlns:p14="http://schemas.microsoft.com/office/powerpoint/2010/main" val="180325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940596" y="2020499"/>
            <a:ext cx="10361028" cy="2133600"/>
          </a:xfrm>
          <a:prstGeom prst="rect">
            <a:avLst/>
          </a:prstGeom>
          <a:noFill/>
          <a:ln>
            <a:noFill/>
          </a:ln>
        </p:spPr>
        <p:txBody>
          <a:bodyPr spcFirstLastPara="1" wrap="square" lIns="90000" tIns="46800" rIns="90000" bIns="46800" anchor="ctr" anchorCtr="0">
            <a:noAutofit/>
          </a:bodyPr>
          <a:lstStyle/>
          <a:p>
            <a:pPr marR="0" lvl="0" algn="ctr" defTabSz="914400" rtl="0" eaLnBrk="1" fontAlgn="auto" latinLnBrk="0" hangingPunct="1">
              <a:lnSpc>
                <a:spcPct val="90000"/>
              </a:lnSpc>
              <a:spcBef>
                <a:spcPts val="1000"/>
              </a:spcBef>
              <a:spcAft>
                <a:spcPts val="0"/>
              </a:spcAft>
              <a:buClrTx/>
              <a:buSzTx/>
              <a:tabLst/>
              <a:defRPr/>
            </a:pPr>
            <a:r>
              <a:rPr lang="en-US" sz="5400" b="1" kern="1200" dirty="0">
                <a:solidFill>
                  <a:srgbClr val="222222"/>
                </a:solidFill>
                <a:latin typeface="Cambria" panose="02040503050406030204" pitchFamily="18" charset="0"/>
                <a:ea typeface="Cambria" panose="02040503050406030204" pitchFamily="18" charset="0"/>
                <a:cs typeface="+mn-cs"/>
              </a:rPr>
              <a:t>Thank you</a:t>
            </a:r>
            <a:endParaRPr kumimoji="0" lang="en-US" sz="5400" b="1" i="0" u="none" strike="noStrike" kern="1200" cap="none" spc="0" normalizeH="0" baseline="0" noProof="0" dirty="0">
              <a:ln>
                <a:noFill/>
              </a:ln>
              <a:solidFill>
                <a:srgbClr val="222222"/>
              </a:solidFill>
              <a:effectLst/>
              <a:uLnTx/>
              <a:uFillTx/>
              <a:latin typeface="Cambria" panose="02040503050406030204" pitchFamily="18" charset="0"/>
              <a:ea typeface="Cambria" panose="02040503050406030204" pitchFamily="18" charset="0"/>
              <a:cs typeface="+mn-cs"/>
            </a:endParaRPr>
          </a:p>
        </p:txBody>
      </p:sp>
      <p:sp>
        <p:nvSpPr>
          <p:cNvPr id="9" name="Slide Number Placeholder 8"/>
          <p:cNvSpPr>
            <a:spLocks noGrp="1"/>
          </p:cNvSpPr>
          <p:nvPr>
            <p:ph type="sldNum" idx="12"/>
          </p:nvPr>
        </p:nvSpPr>
        <p:spPr/>
        <p:txBody>
          <a:bodyPr/>
          <a:lstStyle/>
          <a:p>
            <a:fld id="{00000000-1234-1234-1234-123412341234}" type="slidenum">
              <a:rPr lang="en-US" smtClean="0"/>
              <a:pPr/>
              <a:t>14</a:t>
            </a:fld>
            <a:endParaRPr lang="en-US" dirty="0"/>
          </a:p>
        </p:txBody>
      </p:sp>
      <p:pic>
        <p:nvPicPr>
          <p:cNvPr id="5" name="Google Shape;171;p28">
            <a:extLst>
              <a:ext uri="{FF2B5EF4-FFF2-40B4-BE49-F238E27FC236}">
                <a16:creationId xmlns:a16="http://schemas.microsoft.com/office/drawing/2014/main" id="{423067C2-5579-4221-9293-6F30C7C7E5F0}"/>
              </a:ext>
            </a:extLst>
          </p:cNvPr>
          <p:cNvPicPr preferRelativeResize="0"/>
          <p:nvPr/>
        </p:nvPicPr>
        <p:blipFill rotWithShape="1">
          <a:blip r:embed="rId3" cstate="email">
            <a:alphaModFix/>
            <a:extLst>
              <a:ext uri="{28A0092B-C50C-407E-A947-70E740481C1C}">
                <a14:useLocalDpi xmlns:a14="http://schemas.microsoft.com/office/drawing/2010/main"/>
              </a:ext>
            </a:extLst>
          </a:blip>
          <a:srcRect l="1" t="6761" r="6238" b="8561"/>
          <a:stretch/>
        </p:blipFill>
        <p:spPr>
          <a:xfrm>
            <a:off x="1330900" y="309715"/>
            <a:ext cx="1097280" cy="1097280"/>
          </a:xfrm>
          <a:prstGeom prst="rect">
            <a:avLst/>
          </a:prstGeom>
          <a:noFill/>
          <a:ln>
            <a:noFill/>
          </a:ln>
        </p:spPr>
      </p:pic>
      <p:pic>
        <p:nvPicPr>
          <p:cNvPr id="6" name="Picture 5" descr="cs final logo with color trnasparent.png">
            <a:extLst>
              <a:ext uri="{FF2B5EF4-FFF2-40B4-BE49-F238E27FC236}">
                <a16:creationId xmlns:a16="http://schemas.microsoft.com/office/drawing/2014/main" id="{3DD77943-E35D-47C9-95CE-095D3192646A}"/>
              </a:ext>
            </a:extLst>
          </p:cNvPr>
          <p:cNvPicPr>
            <a:picLocks/>
          </p:cNvPicPr>
          <p:nvPr/>
        </p:nvPicPr>
        <p:blipFill>
          <a:blip r:embed="rId4"/>
          <a:stretch>
            <a:fillRect/>
          </a:stretch>
        </p:blipFill>
        <p:spPr>
          <a:xfrm>
            <a:off x="9745663" y="306646"/>
            <a:ext cx="1097280" cy="1097280"/>
          </a:xfrm>
          <a:prstGeom prst="rect">
            <a:avLst/>
          </a:prstGeom>
        </p:spPr>
      </p:pic>
      <p:sp>
        <p:nvSpPr>
          <p:cNvPr id="8" name="TextBox 7">
            <a:extLst>
              <a:ext uri="{FF2B5EF4-FFF2-40B4-BE49-F238E27FC236}">
                <a16:creationId xmlns:a16="http://schemas.microsoft.com/office/drawing/2014/main" id="{0BC6569F-96AD-4153-B84B-3E5B1819BF0A}"/>
              </a:ext>
            </a:extLst>
          </p:cNvPr>
          <p:cNvSpPr txBox="1"/>
          <p:nvPr/>
        </p:nvSpPr>
        <p:spPr>
          <a:xfrm>
            <a:off x="1600787" y="5525468"/>
            <a:ext cx="9040647" cy="880241"/>
          </a:xfrm>
          <a:prstGeom prst="rect">
            <a:avLst/>
          </a:prstGeom>
          <a:noFill/>
        </p:spPr>
        <p:txBody>
          <a:bodyPr wrap="square">
            <a:spAutoFit/>
          </a:bodyPr>
          <a:lstStyle/>
          <a:p>
            <a:pPr marL="59172" indent="-18762" algn="ctr">
              <a:lnSpc>
                <a:spcPct val="80000"/>
              </a:lnSpc>
              <a:spcBef>
                <a:spcPts val="636"/>
              </a:spcBef>
              <a:buSzPts val="2240"/>
            </a:pPr>
            <a:r>
              <a:rPr lang="en-US" sz="3200" b="1" dirty="0">
                <a:latin typeface="Cambria" panose="02040503050406030204" pitchFamily="18" charset="0"/>
                <a:ea typeface="Cambria" panose="02040503050406030204" pitchFamily="18" charset="0"/>
                <a:cs typeface="Cambria"/>
                <a:sym typeface="Cambria"/>
              </a:rPr>
              <a:t>University of Engineering and Technology, Lahore</a:t>
            </a:r>
            <a:endParaRPr lang="en-US"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5854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1846</Words>
  <Application>Microsoft Office PowerPoint</Application>
  <PresentationFormat>Widescreen</PresentationFormat>
  <Paragraphs>160</Paragraphs>
  <Slides>14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vt:lpstr>
      <vt:lpstr>Roca Two Bold</vt:lpstr>
      <vt:lpstr>Times New Roman</vt:lpstr>
      <vt:lpstr>Office Theme</vt:lpstr>
      <vt:lpstr>PowerPoint Presentation</vt:lpstr>
      <vt:lpstr>PowerPoint Presentation</vt:lpstr>
      <vt:lpstr>PowerPoint Presentation</vt:lpstr>
      <vt:lpstr>Literature review</vt:lpstr>
      <vt:lpstr>Literature review</vt:lpstr>
      <vt:lpstr>PowerPoint Presentation</vt:lpstr>
      <vt:lpstr>Problem Statement</vt:lpstr>
      <vt:lpstr>METHODOLOGY </vt:lpstr>
      <vt:lpstr>Architecture Design </vt:lpstr>
      <vt:lpstr>Model Evaluation  </vt:lpstr>
      <vt:lpstr>Research Objective  </vt:lpstr>
      <vt:lpstr>Expected Outcome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Personalized Real Time Food Recommendation Using Machine Learning</dc:title>
  <dc:creator>Muhammad</dc:creator>
  <cp:lastModifiedBy>Aizaz Shabber</cp:lastModifiedBy>
  <cp:revision>258</cp:revision>
  <dcterms:created xsi:type="dcterms:W3CDTF">2022-02-27T11:17:41Z</dcterms:created>
  <dcterms:modified xsi:type="dcterms:W3CDTF">2026-04-23T10:20:52Z</dcterms:modified>
</cp:coreProperties>
</file>